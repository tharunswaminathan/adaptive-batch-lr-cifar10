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71" r:id="rId8"/>
    <p:sldId id="272" r:id="rId9"/>
    <p:sldId id="273" r:id="rId10"/>
    <p:sldId id="262" r:id="rId11"/>
    <p:sldId id="263" r:id="rId12"/>
    <p:sldId id="264" r:id="rId13"/>
    <p:sldId id="265" r:id="rId14"/>
    <p:sldId id="266" r:id="rId15"/>
    <p:sldId id="267" r:id="rId16"/>
    <p:sldId id="268" r:id="rId17"/>
    <p:sldId id="269" r:id="rId18"/>
    <p:sldId id="275" r:id="rId19"/>
    <p:sldId id="270"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70" autoAdjust="0"/>
    <p:restoredTop sz="90719" autoAdjust="0"/>
  </p:normalViewPr>
  <p:slideViewPr>
    <p:cSldViewPr snapToGrid="0" snapToObjects="1">
      <p:cViewPr varScale="1">
        <p:scale>
          <a:sx n="75" d="100"/>
          <a:sy n="75" d="100"/>
        </p:scale>
        <p:origin x="121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55743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project question: instead of fixing batch size and learning rate for the whole run, can we let training behavior decide when they should change?</a:t>
            </a:r>
          </a:p>
          <a:p>
            <a:r>
              <a:rPr lang="en-US" dirty="0"/>
              <a:t>This midterm presentation compares the same E1–E4 experiment design on CIFAR-10 and CIFAR-100 using the current DeeperCNNWide model. The results shown here are validation-selected midterm results, not a statistical claim of universal superiority.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motivate the tradeoff. Small batches give more frequent, noisier updates; large batches reduce the number of optimizer steps and can improve hardware utilization, but they may lose useful stochasticity.</a:t>
            </a:r>
          </a:p>
          <a:p>
            <a:r>
              <a:rPr lang="en-US" dirty="0"/>
              <a:t>Learning rate interacts with that choice, so our research question is whether validation behavior and gradient stability can drive both quantities dynamically.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large-batch debate chronologically. Keskar connected large batches with sharper minima, while Hoffer showed that fewer optimizer updates can explain much of the apparent generalization gap.</a:t>
            </a:r>
          </a:p>
          <a:p>
            <a:r>
              <a:rPr lang="en-US" dirty="0"/>
              <a:t>Goyal showed that large batches can work with careful LR scaling and warmup, and Masters &amp; Luschi emphasized the stability of smaller batches. Shallue then showed that useful batch size depends strongly on the workload and training budget.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connects the literature directly to our design. Smith motivates treating batch size and learning rate as coupled variables; AdaBatch motivates progressive batch growth; McCandlish motivates using training dynamics rather than one fixed batch size.</a:t>
            </a:r>
          </a:p>
          <a:p>
            <a:r>
              <a:rPr lang="en-US" dirty="0"/>
              <a:t>Be precise with terminology: our signal is gradient-norm coefficient of variation, or gradient-norm stability. It is not McCandlish et al.'s formal gradient noise scale.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factorial design: E1 is fixed batch and fixed LR, E2 isolates adaptive batch, E3 isolates adaptive LR, and E4 combines both.</a:t>
            </a:r>
          </a:p>
          <a:p>
            <a:r>
              <a:rPr lang="en-US" dirty="0"/>
              <a:t>The important contribution is the feedback logic. Batch growth uses both validation plateau and gradient stability, LR decay uses validation feedback, and in E4 the next learning rate is computed using the batch selected for the next epoch.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the data amounts because they matter for interpreting the two tasks. CIFAR-10 uses 20,000 training and 5,000 validation images, which is 2,000 training and 500 validation images per class. CIFAR-100 uses 45,000 training and 5,000 validation images, or 450 training and 50 validation images per class.</a:t>
            </a:r>
          </a:p>
          <a:p>
            <a:r>
              <a:rPr lang="en-US" dirty="0"/>
              <a:t>Both use the same augmentation recipe, optimizer family, seed, GroupNorm-based backbone, and validation-loss checkpoint selection. The official test split is held out from controller feedback and checkpoint selection.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current backbone as 12 convolution layers: four 3×3 conv blocks in each of three stages, with channels 64, 128, and 256. GroupNorm is deliberately used so normalization statistics do not depend on minibatch size.</a:t>
            </a:r>
          </a:p>
          <a:p>
            <a:r>
              <a:rPr lang="en-US" dirty="0"/>
              <a:t>Also point out the architecture progression: the earlier archived runs in data.zip used a 6-convolution-layer CNN, while the current midterm suite uses the 12-layer DeeperCNNWide. Only the final classifier head changes between CIFAR-10 and CIFAR-100.</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Walk through the batch controller from left to right. We record the global L2 gradient norm for every optimizer update, summarize the epoch with coefficient of variation, then smooth that signal over three epochs.</a:t>
            </a:r>
          </a:p>
          <a:p>
            <a:r>
              <a:rPr lang="en-US" dirty="0"/>
              <a:t>The batch only grows when two conditions agree: validation has plateaued and the rolling stability score is at or below 0.25. The current ladder is 32 to 64 to 128 to 256, with a two-epoch cooldown after a change.</a:t>
            </a:r>
          </a:p>
        </p:txBody>
      </p:sp>
    </p:spTree>
    <p:extLst>
      <p:ext uri="{BB962C8B-B14F-4D97-AF65-F5344CB8AC3E}">
        <p14:creationId xmlns:p14="http://schemas.microsoft.com/office/powerpoint/2010/main" val="26552827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LR controller has two components. First, a batch-aware base LR: 0.01 times the batch ratio to the power 0.2. Second, a persistent validation-driven decay multiplier that is halved when the feedback patience condition triggers.</a:t>
            </a:r>
          </a:p>
          <a:p>
            <a:r>
              <a:rPr lang="en-US" dirty="0"/>
              <a:t>The key E4 coupling is the order of operations: validation feedback updates the state, the next batch is selected, and then the next LR is computed from that next batch. This preserves previous decay events while still allowing batch growth to raise the base LR.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connect the equations to observed behavior. The controller rules are the same on both datasets, but the triggers fire at different times because the validation and gradient-stability trajectories differ.</a:t>
            </a:r>
          </a:p>
          <a:p>
            <a:r>
              <a:rPr lang="en-US" dirty="0"/>
              <a:t>For E4, CIFAR-10 first grows after epoch 37, while CIFAR-100 first grows after epoch 27. This is the main reason the batch and LR histories diverge even under the same controller logic.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validation-selected checkpoints using the same E1–E4 definitions. On CIFAR-10, E3 has the best selected validation accuracy at 86.34 percent. On CIFAR-100, E4 is narrowly highest at 65.02 percent.</a:t>
            </a:r>
          </a:p>
          <a:p>
            <a:r>
              <a:rPr lang="en-US" dirty="0"/>
              <a:t>Do not overstate the CIFAR-100 ordering: E2, E3, and E4 are extremely close, and the current results use a single seed.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isolates optimization efficiency. Adaptive-batch runs reduce optimizer updates substantially: about 43 percent on CIFAR-10 and about 65 percent on CIFAR-100 compared with E1.</a:t>
            </a:r>
          </a:p>
          <a:p>
            <a:r>
              <a:rPr lang="en-US" dirty="0"/>
              <a:t>Update count is useful because it is less hardware-specific than wall-clock time. Wall-clock time is still reported separately, since larger batches and implementation overhead can affect actual speed differently.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common color mapping to compare controller trajectories directly: batch 32 is dark blue, 64 teal, 128 green, and 256 purple on both datasets.</a:t>
            </a:r>
          </a:p>
          <a:p>
            <a:r>
              <a:rPr lang="en-US" dirty="0"/>
              <a:t>CIFAR-100 reaches stable or plateau conditions earlier and spends a larger fraction of training at batch 256. Its longer budget also allows stronger LR decay, ending near the LR floor.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combines accuracy and optimizer updates using labeled bar charts. On CIFAR-10, E3 is the accuracy leader, while E2 gives the stronger accuracy-efficiency tradeoff because it keeps 85.02 percent accuracy with about 42.7 percent fewer updates.</a:t>
            </a:r>
          </a:p>
          <a:p>
            <a:r>
              <a:rPr lang="en-US" dirty="0"/>
              <a:t>On CIFAR-100, E4 is narrowly the accuracy leader while E2 and E4 both use roughly 60 thousand updates instead of about 169 thousand for E1 and E3.</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Relate the dataset results back to prior work. CIFAR-10 favors adaptive LR alone for selected accuracy, while CIFAR-100 slightly favors the combined controller; this supports a workload-dependent rather than universal rule.</a:t>
            </a:r>
          </a:p>
          <a:p>
            <a:r>
              <a:t>The bottom row gives exploratory architecture context from data.zip: the earlier 6-convolution-layer CNN reached 73.98 percent on CIFAR-10 and 42.20 percent on CIFAR-100, whereas the current 12-layer DeeperCNNWide reaches 86.34 and 65.02 percent respectively. Because those archived runs used different schedules and budgets, present this only as contextual evidence, not as a controlled architecture ablation.</a:t>
            </a:r>
          </a:p>
          <a:p>
            <a:r>
              <a:t>The architecture comparison now has its own preceding slide. Refer back to it only as exploratory context; do not describe the 6-layer versus 12-layer difference as a controlled ablation.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limitations clearly. The current suites use a single seed, and the epoch budgets differ between CIFAR-10 and CIFAR-100, so the datasets should not be pooled into one statistical comparison.</a:t>
            </a:r>
          </a:p>
          <a:p>
            <a:r>
              <a:rPr lang="en-US" dirty="0"/>
              <a:t>The next step is repeated seeds, matched-budget sensitivity experiments, and a frozen final protocol before final test reporting.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with the cross-dataset result rather than declaring one universal winner. On CIFAR-10, adaptive LR gives the strongest selected accuracy and adaptive batch gives clear update savings. On CIFAR-100, E4 is narrowly best while retaining most of the adaptive-batch efficiency gain.</a:t>
            </a:r>
          </a:p>
          <a:p>
            <a:r>
              <a:t>The main conclusion is that adaptive training is useful, but the best controller configuration depends on the workload and training budget.</a:t>
            </a:r>
          </a:p>
          <a:p>
            <a:r>
              <a:t>After the conclusion, transition to the deployed demo slide and invite the audience to open the GitHub Pages link or scan the QR code.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deployed midterm demo. The public GitHub Pages URL is shown on the slide and is also encoded in the QR code. During the talk, either click the URL from PowerPoint or let the audience scan the QR code.</a:t>
            </a:r>
          </a:p>
          <a:p>
            <a:r>
              <a:rPr lang="en-US" dirty="0"/>
              <a:t>Keep the live portion short and use it to demonstrate that the project is deployed and reproducible. If internet access is unreliable, continue with the presentation slides rather than spending time troubleshooting the live site.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as the reference or backup slide. The cited papers motivate the batch-size/generalization debate, batch-LR coupling, progressive batch growth, and workload-aware adaptation.</a:t>
            </a:r>
          </a:p>
          <a:p>
            <a:r>
              <a:t>If asked about the gradient-noise literature, reiterate that our implementation uses gradient-norm CV rather than the formal gradient noise scale.</a:t>
            </a:r>
          </a:p>
          <a:p>
            <a:r>
              <a:t>The deployed demo appears on the preceding slide; this final slide is for literature questions and citations.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0F8B8D"/>
          </a:solidFill>
          <a:ln w="12700">
            <a:solidFill>
              <a:srgbClr val="0F8B8D"/>
            </a:solidFill>
            <a:prstDash val="solid"/>
          </a:ln>
        </p:spPr>
        <p:txBody>
          <a:bodyPr/>
          <a:lstStyle/>
          <a:p>
            <a:endParaRPr lang="en-US"/>
          </a:p>
        </p:txBody>
      </p:sp>
      <p:sp>
        <p:nvSpPr>
          <p:cNvPr id="3" name="Text 1"/>
          <p:cNvSpPr/>
          <p:nvPr/>
        </p:nvSpPr>
        <p:spPr>
          <a:xfrm>
            <a:off x="502920" y="6519672"/>
            <a:ext cx="8046720" cy="164592"/>
          </a:xfrm>
          <a:prstGeom prst="rect">
            <a:avLst/>
          </a:prstGeom>
          <a:noFill/>
          <a:ln/>
        </p:spPr>
        <p:txBody>
          <a:bodyPr wrap="square" lIns="0" tIns="0" rIns="0" bIns="0" rtlCol="0" anchor="ctr"/>
          <a:lstStyle/>
          <a:p>
            <a:pPr marL="0" indent="0">
              <a:buNone/>
            </a:pPr>
            <a:r>
              <a:rPr lang="en-US" sz="750" dirty="0">
                <a:solidFill>
                  <a:srgbClr val="7B8496"/>
                </a:solidFill>
                <a:latin typeface="Aptos" pitchFamily="34" charset="0"/>
                <a:ea typeface="Aptos" pitchFamily="34" charset="-122"/>
                <a:cs typeface="Aptos" pitchFamily="34" charset="-120"/>
              </a:rPr>
              <a:t>Adaptive Batch Size + Learning Rate • Midterm</a:t>
            </a:r>
            <a:endParaRPr lang="en-US" sz="750" dirty="0"/>
          </a:p>
        </p:txBody>
      </p:sp>
      <p:sp>
        <p:nvSpPr>
          <p:cNvPr id="25" name="Slide Number Placeholder 0"/>
          <p:cNvSpPr>
            <a:spLocks noGrp="1"/>
          </p:cNvSpPr>
          <p:nvPr>
            <p:ph type="sldNum" sz="quarter" idx="4294967295"/>
          </p:nvPr>
        </p:nvSpPr>
        <p:spPr>
          <a:xfrm>
            <a:off x="11384280" y="6473952"/>
            <a:ext cx="32004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7B8496"/>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73952"/>
            <a:ext cx="32004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7B8496"/>
                </a:solidFill>
                <a:latin typeface="Aptos"/>
                <a:ea typeface="Aptos"/>
                <a:cs typeface="Apto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tharunswaminathan.github.io/adaptive-batch-lr-cifar10/"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033"/>
        </a:solidFill>
        <a:effectLst/>
      </p:bgPr>
    </p:bg>
    <p:spTree>
      <p:nvGrpSpPr>
        <p:cNvPr id="1" name=""/>
        <p:cNvGrpSpPr/>
        <p:nvPr/>
      </p:nvGrpSpPr>
      <p:grpSpPr>
        <a:xfrm>
          <a:off x="0" y="0"/>
          <a:ext cx="0" cy="0"/>
          <a:chOff x="0" y="0"/>
          <a:chExt cx="0" cy="0"/>
        </a:xfrm>
      </p:grpSpPr>
      <p:sp>
        <p:nvSpPr>
          <p:cNvPr id="2" name="Shape 0"/>
          <p:cNvSpPr/>
          <p:nvPr/>
        </p:nvSpPr>
        <p:spPr>
          <a:xfrm>
            <a:off x="305" y="0"/>
            <a:ext cx="12191695" cy="6858000"/>
          </a:xfrm>
          <a:prstGeom prst="rect">
            <a:avLst/>
          </a:prstGeom>
          <a:solidFill>
            <a:srgbClr val="172033"/>
          </a:solidFill>
          <a:ln w="12700">
            <a:solidFill>
              <a:srgbClr val="172033"/>
            </a:solidFill>
            <a:prstDash val="solid"/>
          </a:ln>
        </p:spPr>
        <p:txBody>
          <a:bodyPr/>
          <a:lstStyle/>
          <a:p>
            <a:endParaRPr/>
          </a:p>
        </p:txBody>
      </p:sp>
      <p:sp>
        <p:nvSpPr>
          <p:cNvPr id="3" name="Shape 1"/>
          <p:cNvSpPr/>
          <p:nvPr/>
        </p:nvSpPr>
        <p:spPr>
          <a:xfrm>
            <a:off x="658368" y="694944"/>
            <a:ext cx="109728" cy="5138928"/>
          </a:xfrm>
          <a:prstGeom prst="rect">
            <a:avLst/>
          </a:prstGeom>
          <a:solidFill>
            <a:srgbClr val="2AA7A1"/>
          </a:solidFill>
          <a:ln w="12700">
            <a:solidFill>
              <a:srgbClr val="2AA7A1"/>
            </a:solidFill>
            <a:prstDash val="solid"/>
          </a:ln>
        </p:spPr>
        <p:txBody>
          <a:bodyPr/>
          <a:lstStyle/>
          <a:p>
            <a:endParaRPr/>
          </a:p>
        </p:txBody>
      </p:sp>
      <p:sp>
        <p:nvSpPr>
          <p:cNvPr id="4" name="Text 2"/>
          <p:cNvSpPr/>
          <p:nvPr/>
        </p:nvSpPr>
        <p:spPr>
          <a:xfrm>
            <a:off x="1078992" y="960120"/>
            <a:ext cx="9875520" cy="1874520"/>
          </a:xfrm>
          <a:prstGeom prst="rect">
            <a:avLst/>
          </a:prstGeom>
          <a:noFill/>
          <a:ln/>
        </p:spPr>
        <p:txBody>
          <a:bodyPr wrap="square" lIns="0" tIns="0" rIns="0" bIns="0" rtlCol="0" anchor="ctr"/>
          <a:lstStyle/>
          <a:p>
            <a:pPr marL="0" indent="0">
              <a:buNone/>
            </a:pPr>
            <a:r>
              <a:rPr lang="en-US" sz="3100" b="1" dirty="0">
                <a:solidFill>
                  <a:srgbClr val="FFFFFF"/>
                </a:solidFill>
                <a:latin typeface="Aptos Display" pitchFamily="34" charset="0"/>
                <a:ea typeface="Aptos Display" pitchFamily="34" charset="-122"/>
                <a:cs typeface="Aptos Display" pitchFamily="34" charset="-120"/>
              </a:rPr>
              <a:t>Adaptive Batch Size and</a:t>
            </a:r>
            <a:endParaRPr lang="en-US" sz="3100" dirty="0"/>
          </a:p>
          <a:p>
            <a:pPr marL="0" indent="0">
              <a:buNone/>
            </a:pPr>
            <a:r>
              <a:rPr lang="en-US" sz="3100" b="1" dirty="0">
                <a:solidFill>
                  <a:srgbClr val="FFFFFF"/>
                </a:solidFill>
                <a:latin typeface="Aptos Display" pitchFamily="34" charset="0"/>
                <a:ea typeface="Aptos Display" pitchFamily="34" charset="-122"/>
                <a:cs typeface="Aptos Display" pitchFamily="34" charset="-120"/>
              </a:rPr>
              <a:t>Learning Rate Scheduling</a:t>
            </a:r>
            <a:endParaRPr lang="en-US" sz="3100" dirty="0"/>
          </a:p>
          <a:p>
            <a:pPr marL="0" indent="0">
              <a:buNone/>
            </a:pPr>
            <a:r>
              <a:rPr lang="en-US" sz="3100" b="1" dirty="0">
                <a:solidFill>
                  <a:srgbClr val="FFFFFF"/>
                </a:solidFill>
                <a:latin typeface="Aptos Display" pitchFamily="34" charset="0"/>
                <a:ea typeface="Aptos Display" pitchFamily="34" charset="-122"/>
                <a:cs typeface="Aptos Display" pitchFamily="34" charset="-120"/>
              </a:rPr>
              <a:t>for Efficient CNN Training</a:t>
            </a:r>
            <a:endParaRPr lang="en-US" sz="3100" dirty="0"/>
          </a:p>
        </p:txBody>
      </p:sp>
      <p:sp>
        <p:nvSpPr>
          <p:cNvPr id="5" name="Text 3"/>
          <p:cNvSpPr/>
          <p:nvPr/>
        </p:nvSpPr>
        <p:spPr>
          <a:xfrm>
            <a:off x="1097280" y="3063240"/>
            <a:ext cx="5943600" cy="347472"/>
          </a:xfrm>
          <a:prstGeom prst="rect">
            <a:avLst/>
          </a:prstGeom>
          <a:noFill/>
          <a:ln/>
        </p:spPr>
        <p:txBody>
          <a:bodyPr wrap="square" lIns="0" tIns="0" rIns="0" bIns="0" rtlCol="0" anchor="ctr"/>
          <a:lstStyle/>
          <a:p>
            <a:pPr marL="0" indent="0">
              <a:buNone/>
            </a:pPr>
            <a:r>
              <a:rPr lang="en-US" sz="1600" dirty="0">
                <a:solidFill>
                  <a:srgbClr val="C8D3E2"/>
                </a:solidFill>
              </a:rPr>
              <a:t>Deep Learning Midterm Project</a:t>
            </a:r>
            <a:endParaRPr lang="en-US" sz="1600" dirty="0"/>
          </a:p>
        </p:txBody>
      </p:sp>
      <p:sp>
        <p:nvSpPr>
          <p:cNvPr id="6" name="Text 4"/>
          <p:cNvSpPr/>
          <p:nvPr/>
        </p:nvSpPr>
        <p:spPr>
          <a:xfrm>
            <a:off x="1097280" y="3685032"/>
            <a:ext cx="7955280" cy="320040"/>
          </a:xfrm>
          <a:prstGeom prst="rect">
            <a:avLst/>
          </a:prstGeom>
          <a:noFill/>
          <a:ln/>
        </p:spPr>
        <p:txBody>
          <a:bodyPr wrap="square" lIns="0" tIns="0" rIns="0" bIns="0" rtlCol="0" anchor="ctr"/>
          <a:lstStyle/>
          <a:p>
            <a:pPr marL="0" indent="0">
              <a:buNone/>
            </a:pPr>
            <a:r>
              <a:rPr lang="en-US" sz="1200" dirty="0">
                <a:solidFill>
                  <a:srgbClr val="FFFFFF"/>
                </a:solidFill>
              </a:rPr>
              <a:t>Tharun Swaminathan Ravi Kumar  •  Dev Gurung  •  Jiong Zhang</a:t>
            </a:r>
            <a:endParaRPr lang="en-US" sz="1200" dirty="0"/>
          </a:p>
        </p:txBody>
      </p:sp>
      <p:sp>
        <p:nvSpPr>
          <p:cNvPr id="7" name="Shape 5"/>
          <p:cNvSpPr/>
          <p:nvPr/>
        </p:nvSpPr>
        <p:spPr>
          <a:xfrm>
            <a:off x="1097280" y="4206240"/>
            <a:ext cx="6583680" cy="0"/>
          </a:xfrm>
          <a:prstGeom prst="line">
            <a:avLst/>
          </a:prstGeom>
          <a:noFill/>
          <a:ln w="16510">
            <a:solidFill>
              <a:srgbClr val="41536E"/>
            </a:solidFill>
            <a:prstDash val="solid"/>
          </a:ln>
        </p:spPr>
        <p:txBody>
          <a:bodyPr/>
          <a:lstStyle/>
          <a:p>
            <a:endParaRPr/>
          </a:p>
        </p:txBody>
      </p:sp>
      <p:sp>
        <p:nvSpPr>
          <p:cNvPr id="8" name="Text 6"/>
          <p:cNvSpPr/>
          <p:nvPr/>
        </p:nvSpPr>
        <p:spPr>
          <a:xfrm>
            <a:off x="1097280" y="4443984"/>
            <a:ext cx="8778240" cy="438912"/>
          </a:xfrm>
          <a:prstGeom prst="rect">
            <a:avLst/>
          </a:prstGeom>
          <a:noFill/>
          <a:ln/>
        </p:spPr>
        <p:txBody>
          <a:bodyPr wrap="square" lIns="0" tIns="0" rIns="0" bIns="0" rtlCol="0" anchor="ctr"/>
          <a:lstStyle/>
          <a:p>
            <a:pPr marL="0" indent="0">
              <a:buNone/>
            </a:pPr>
            <a:r>
              <a:rPr lang="en-US" sz="1300" dirty="0">
                <a:solidFill>
                  <a:srgbClr val="B9C7DA"/>
                </a:solidFill>
              </a:rPr>
              <a:t>Current midterm study: feedback-driven batch growth + adaptive LR on CIFAR-10 and CIFAR-100</a:t>
            </a:r>
            <a:endParaRPr lang="en-US" sz="1300" dirty="0"/>
          </a:p>
        </p:txBody>
      </p:sp>
      <p:sp>
        <p:nvSpPr>
          <p:cNvPr id="16" name="Text 14"/>
          <p:cNvSpPr/>
          <p:nvPr/>
        </p:nvSpPr>
        <p:spPr>
          <a:xfrm>
            <a:off x="6163056" y="5253228"/>
            <a:ext cx="2002536" cy="109728"/>
          </a:xfrm>
          <a:prstGeom prst="rect">
            <a:avLst/>
          </a:prstGeom>
          <a:noFill/>
          <a:ln/>
        </p:spPr>
        <p:txBody>
          <a:bodyPr wrap="square" lIns="0" tIns="0" rIns="0" bIns="0" rtlCol="0" anchor="ctr"/>
          <a:lstStyle/>
          <a:p>
            <a:pPr marL="0" indent="0" algn="ctr">
              <a:buNone/>
            </a:pPr>
            <a:endParaRPr lang="en-US" sz="8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384048"/>
            <a:ext cx="10881360" cy="411480"/>
          </a:xfrm>
          <a:prstGeom prst="rect">
            <a:avLst/>
          </a:prstGeom>
          <a:noFill/>
          <a:ln/>
        </p:spPr>
        <p:txBody>
          <a:bodyPr wrap="square" lIns="0" tIns="0" rIns="0" bIns="0" rtlCol="0" anchor="ctr"/>
          <a:lstStyle/>
          <a:p>
            <a:pPr marL="0" indent="0">
              <a:buNone/>
            </a:pPr>
            <a:r>
              <a:rPr lang="en-US" sz="2400" b="1" dirty="0">
                <a:solidFill>
                  <a:srgbClr val="172033"/>
                </a:solidFill>
                <a:latin typeface="Aptos Display" pitchFamily="34" charset="0"/>
                <a:ea typeface="Aptos Display" pitchFamily="34" charset="-122"/>
                <a:cs typeface="Aptos Display" pitchFamily="34" charset="-120"/>
              </a:rPr>
              <a:t>Why adapt batch size and learning rate?</a:t>
            </a:r>
            <a:endParaRPr lang="en-US" sz="2400" dirty="0"/>
          </a:p>
        </p:txBody>
      </p:sp>
      <p:sp>
        <p:nvSpPr>
          <p:cNvPr id="3" name="Text 1"/>
          <p:cNvSpPr/>
          <p:nvPr/>
        </p:nvSpPr>
        <p:spPr>
          <a:xfrm>
            <a:off x="612648" y="850392"/>
            <a:ext cx="10789920" cy="310896"/>
          </a:xfrm>
          <a:prstGeom prst="rect">
            <a:avLst/>
          </a:prstGeom>
          <a:noFill/>
          <a:ln/>
        </p:spPr>
        <p:txBody>
          <a:bodyPr wrap="square" lIns="0" tIns="0" rIns="0" bIns="0" rtlCol="0" anchor="ctr"/>
          <a:lstStyle/>
          <a:p>
            <a:pPr marL="0" indent="0">
              <a:buNone/>
            </a:pPr>
            <a:r>
              <a:rPr lang="en-US" sz="1050" dirty="0">
                <a:solidFill>
                  <a:srgbClr val="5B6577"/>
                </a:solidFill>
              </a:rPr>
              <a:t>Training efficiency and model quality pull SGD in different directions.</a:t>
            </a:r>
            <a:endParaRPr lang="en-US" sz="1050" dirty="0"/>
          </a:p>
        </p:txBody>
      </p:sp>
      <p:sp>
        <p:nvSpPr>
          <p:cNvPr id="4" name="Shape 2"/>
          <p:cNvSpPr/>
          <p:nvPr/>
        </p:nvSpPr>
        <p:spPr>
          <a:xfrm>
            <a:off x="612648" y="1207008"/>
            <a:ext cx="1600200" cy="320040"/>
          </a:xfrm>
          <a:prstGeom prst="roundRect">
            <a:avLst>
              <a:gd name="adj" fmla="val 22857"/>
            </a:avLst>
          </a:prstGeom>
          <a:solidFill>
            <a:srgbClr val="E8F5F4"/>
          </a:solidFill>
          <a:ln w="12700">
            <a:solidFill>
              <a:srgbClr val="E8F5F4"/>
            </a:solidFill>
            <a:prstDash val="solid"/>
          </a:ln>
        </p:spPr>
        <p:txBody>
          <a:bodyPr/>
          <a:lstStyle/>
          <a:p>
            <a:endParaRPr/>
          </a:p>
        </p:txBody>
      </p:sp>
      <p:sp>
        <p:nvSpPr>
          <p:cNvPr id="5" name="Text 3"/>
          <p:cNvSpPr/>
          <p:nvPr/>
        </p:nvSpPr>
        <p:spPr>
          <a:xfrm>
            <a:off x="704088" y="1289304"/>
            <a:ext cx="1417320" cy="118872"/>
          </a:xfrm>
          <a:prstGeom prst="rect">
            <a:avLst/>
          </a:prstGeom>
          <a:noFill/>
          <a:ln/>
        </p:spPr>
        <p:txBody>
          <a:bodyPr wrap="square" lIns="0" tIns="0" rIns="0" bIns="0" rtlCol="0" anchor="ctr"/>
          <a:lstStyle/>
          <a:p>
            <a:pPr marL="0" indent="0" algn="ctr">
              <a:buNone/>
            </a:pPr>
            <a:r>
              <a:rPr lang="en-US" sz="740" b="1" kern="0" spc="120" dirty="0">
                <a:solidFill>
                  <a:srgbClr val="0F8B8D"/>
                </a:solidFill>
              </a:rPr>
              <a:t>MOTIVATION</a:t>
            </a:r>
            <a:endParaRPr lang="en-US" sz="740" dirty="0"/>
          </a:p>
        </p:txBody>
      </p:sp>
      <p:sp>
        <p:nvSpPr>
          <p:cNvPr id="6" name="Shape 4"/>
          <p:cNvSpPr/>
          <p:nvPr/>
        </p:nvSpPr>
        <p:spPr>
          <a:xfrm>
            <a:off x="658368" y="1691640"/>
            <a:ext cx="3383280" cy="1965960"/>
          </a:xfrm>
          <a:prstGeom prst="roundRect">
            <a:avLst>
              <a:gd name="adj" fmla="val 3721"/>
            </a:avLst>
          </a:prstGeom>
          <a:solidFill>
            <a:srgbClr val="FFFFFF"/>
          </a:solidFill>
          <a:ln w="12700">
            <a:solidFill>
              <a:srgbClr val="D8DEE9"/>
            </a:solidFill>
            <a:prstDash val="solid"/>
          </a:ln>
        </p:spPr>
        <p:txBody>
          <a:bodyPr/>
          <a:lstStyle/>
          <a:p>
            <a:endParaRPr/>
          </a:p>
        </p:txBody>
      </p:sp>
      <p:sp>
        <p:nvSpPr>
          <p:cNvPr id="7" name="Shape 5"/>
          <p:cNvSpPr/>
          <p:nvPr/>
        </p:nvSpPr>
        <p:spPr>
          <a:xfrm>
            <a:off x="658368" y="1691640"/>
            <a:ext cx="64008" cy="1965960"/>
          </a:xfrm>
          <a:prstGeom prst="rect">
            <a:avLst/>
          </a:prstGeom>
          <a:solidFill>
            <a:srgbClr val="6F5BD3"/>
          </a:solidFill>
          <a:ln w="12700">
            <a:solidFill>
              <a:srgbClr val="6F5BD3"/>
            </a:solidFill>
            <a:prstDash val="solid"/>
          </a:ln>
        </p:spPr>
        <p:txBody>
          <a:bodyPr/>
          <a:lstStyle/>
          <a:p>
            <a:endParaRPr/>
          </a:p>
        </p:txBody>
      </p:sp>
      <p:sp>
        <p:nvSpPr>
          <p:cNvPr id="8" name="Text 6"/>
          <p:cNvSpPr/>
          <p:nvPr/>
        </p:nvSpPr>
        <p:spPr>
          <a:xfrm>
            <a:off x="859536" y="1856232"/>
            <a:ext cx="3017520" cy="274320"/>
          </a:xfrm>
          <a:prstGeom prst="rect">
            <a:avLst/>
          </a:prstGeom>
          <a:noFill/>
          <a:ln/>
        </p:spPr>
        <p:txBody>
          <a:bodyPr wrap="square" lIns="0" tIns="0" rIns="0" bIns="0" rtlCol="0" anchor="ctr"/>
          <a:lstStyle/>
          <a:p>
            <a:pPr marL="0" indent="0">
              <a:buNone/>
            </a:pPr>
            <a:r>
              <a:rPr lang="en-US" sz="1300" b="1" dirty="0">
                <a:solidFill>
                  <a:srgbClr val="172033"/>
                </a:solidFill>
              </a:rPr>
              <a:t>Small batches</a:t>
            </a:r>
            <a:endParaRPr lang="en-US" sz="1300" dirty="0"/>
          </a:p>
        </p:txBody>
      </p:sp>
      <p:sp>
        <p:nvSpPr>
          <p:cNvPr id="9" name="Text 7"/>
          <p:cNvSpPr/>
          <p:nvPr/>
        </p:nvSpPr>
        <p:spPr>
          <a:xfrm>
            <a:off x="859536" y="2221992"/>
            <a:ext cx="2999232" cy="1307592"/>
          </a:xfrm>
          <a:prstGeom prst="rect">
            <a:avLst/>
          </a:prstGeom>
          <a:noFill/>
          <a:ln/>
        </p:spPr>
        <p:txBody>
          <a:bodyPr wrap="square" lIns="254" tIns="254" rIns="254" bIns="254" rtlCol="0" anchor="t"/>
          <a:lstStyle/>
          <a:p>
            <a:pPr marL="0" indent="0">
              <a:buNone/>
            </a:pPr>
            <a:r>
              <a:rPr lang="en-US" sz="1100" dirty="0">
                <a:solidFill>
                  <a:srgbClr val="5B6577"/>
                </a:solidFill>
              </a:rPr>
              <a:t>• More frequent parameter updates</a:t>
            </a:r>
            <a:endParaRPr lang="en-US" sz="1100" dirty="0"/>
          </a:p>
          <a:p>
            <a:pPr marL="0" indent="0">
              <a:buNone/>
            </a:pPr>
            <a:r>
              <a:rPr lang="en-US" sz="1100" dirty="0">
                <a:solidFill>
                  <a:srgbClr val="5B6577"/>
                </a:solidFill>
              </a:rPr>
              <a:t>• Noisier gradients can aid exploration</a:t>
            </a:r>
            <a:endParaRPr lang="en-US" sz="1100" dirty="0"/>
          </a:p>
          <a:p>
            <a:pPr marL="0" indent="0">
              <a:buNone/>
            </a:pPr>
            <a:r>
              <a:rPr lang="en-US" sz="1100" dirty="0">
                <a:solidFill>
                  <a:srgbClr val="5B6577"/>
                </a:solidFill>
              </a:rPr>
              <a:t>• Lower memory footprint</a:t>
            </a:r>
            <a:endParaRPr lang="en-US" sz="1100" dirty="0"/>
          </a:p>
          <a:p>
            <a:pPr marL="0" indent="0">
              <a:buNone/>
            </a:pPr>
            <a:r>
              <a:rPr lang="en-US" sz="1100" dirty="0">
                <a:solidFill>
                  <a:srgbClr val="5B6577"/>
                </a:solidFill>
              </a:rPr>
              <a:t>• Less parallel work per step</a:t>
            </a:r>
            <a:endParaRPr lang="en-US" sz="1100" dirty="0"/>
          </a:p>
        </p:txBody>
      </p:sp>
      <p:sp>
        <p:nvSpPr>
          <p:cNvPr id="10" name="Shape 8"/>
          <p:cNvSpPr/>
          <p:nvPr/>
        </p:nvSpPr>
        <p:spPr>
          <a:xfrm>
            <a:off x="4407408" y="1691640"/>
            <a:ext cx="3383280" cy="1965960"/>
          </a:xfrm>
          <a:prstGeom prst="roundRect">
            <a:avLst>
              <a:gd name="adj" fmla="val 3721"/>
            </a:avLst>
          </a:prstGeom>
          <a:solidFill>
            <a:srgbClr val="FFFFFF"/>
          </a:solidFill>
          <a:ln w="12700">
            <a:solidFill>
              <a:srgbClr val="D8DEE9"/>
            </a:solidFill>
            <a:prstDash val="solid"/>
          </a:ln>
        </p:spPr>
        <p:txBody>
          <a:bodyPr/>
          <a:lstStyle/>
          <a:p>
            <a:endParaRPr/>
          </a:p>
        </p:txBody>
      </p:sp>
      <p:sp>
        <p:nvSpPr>
          <p:cNvPr id="11" name="Shape 9"/>
          <p:cNvSpPr/>
          <p:nvPr/>
        </p:nvSpPr>
        <p:spPr>
          <a:xfrm>
            <a:off x="4407408" y="1691640"/>
            <a:ext cx="64008" cy="1965960"/>
          </a:xfrm>
          <a:prstGeom prst="rect">
            <a:avLst/>
          </a:prstGeom>
          <a:solidFill>
            <a:srgbClr val="F28E2B"/>
          </a:solidFill>
          <a:ln w="12700">
            <a:solidFill>
              <a:srgbClr val="F28E2B"/>
            </a:solidFill>
            <a:prstDash val="solid"/>
          </a:ln>
        </p:spPr>
        <p:txBody>
          <a:bodyPr/>
          <a:lstStyle/>
          <a:p>
            <a:endParaRPr/>
          </a:p>
        </p:txBody>
      </p:sp>
      <p:sp>
        <p:nvSpPr>
          <p:cNvPr id="12" name="Text 10"/>
          <p:cNvSpPr/>
          <p:nvPr/>
        </p:nvSpPr>
        <p:spPr>
          <a:xfrm>
            <a:off x="4608576" y="1856232"/>
            <a:ext cx="3017520" cy="274320"/>
          </a:xfrm>
          <a:prstGeom prst="rect">
            <a:avLst/>
          </a:prstGeom>
          <a:noFill/>
          <a:ln/>
        </p:spPr>
        <p:txBody>
          <a:bodyPr wrap="square" lIns="0" tIns="0" rIns="0" bIns="0" rtlCol="0" anchor="ctr"/>
          <a:lstStyle/>
          <a:p>
            <a:pPr marL="0" indent="0">
              <a:buNone/>
            </a:pPr>
            <a:r>
              <a:rPr lang="en-US" sz="1300" b="1" dirty="0">
                <a:solidFill>
                  <a:srgbClr val="172033"/>
                </a:solidFill>
              </a:rPr>
              <a:t>Large batches</a:t>
            </a:r>
            <a:endParaRPr lang="en-US" sz="1300" dirty="0"/>
          </a:p>
        </p:txBody>
      </p:sp>
      <p:sp>
        <p:nvSpPr>
          <p:cNvPr id="13" name="Text 11"/>
          <p:cNvSpPr/>
          <p:nvPr/>
        </p:nvSpPr>
        <p:spPr>
          <a:xfrm>
            <a:off x="4608576" y="2221992"/>
            <a:ext cx="2999232" cy="1307592"/>
          </a:xfrm>
          <a:prstGeom prst="rect">
            <a:avLst/>
          </a:prstGeom>
          <a:noFill/>
          <a:ln/>
        </p:spPr>
        <p:txBody>
          <a:bodyPr wrap="square" lIns="254" tIns="254" rIns="254" bIns="254" rtlCol="0" anchor="t"/>
          <a:lstStyle/>
          <a:p>
            <a:pPr marL="0" indent="0">
              <a:buNone/>
            </a:pPr>
            <a:r>
              <a:rPr lang="en-US" sz="1100" dirty="0">
                <a:solidFill>
                  <a:srgbClr val="5B6577"/>
                </a:solidFill>
              </a:rPr>
              <a:t>• Fewer optimizer updates per epoch</a:t>
            </a:r>
            <a:endParaRPr lang="en-US" sz="1100" dirty="0"/>
          </a:p>
          <a:p>
            <a:pPr marL="0" indent="0">
              <a:buNone/>
            </a:pPr>
            <a:r>
              <a:rPr lang="en-US" sz="1100" dirty="0">
                <a:solidFill>
                  <a:srgbClr val="5B6577"/>
                </a:solidFill>
              </a:rPr>
              <a:t>• More parallelism / throughput potential</a:t>
            </a:r>
            <a:endParaRPr lang="en-US" sz="1100" dirty="0"/>
          </a:p>
          <a:p>
            <a:pPr marL="0" indent="0">
              <a:buNone/>
            </a:pPr>
            <a:r>
              <a:rPr lang="en-US" sz="1100" dirty="0">
                <a:solidFill>
                  <a:srgbClr val="5B6577"/>
                </a:solidFill>
              </a:rPr>
              <a:t>• Lower gradient variance</a:t>
            </a:r>
            <a:endParaRPr lang="en-US" sz="1100" dirty="0"/>
          </a:p>
          <a:p>
            <a:pPr marL="0" indent="0">
              <a:buNone/>
            </a:pPr>
            <a:r>
              <a:rPr lang="en-US" sz="1100" dirty="0">
                <a:solidFill>
                  <a:srgbClr val="5B6577"/>
                </a:solidFill>
              </a:rPr>
              <a:t>• Diminishing returns beyond a useful scale</a:t>
            </a:r>
            <a:endParaRPr lang="en-US" sz="1100" dirty="0"/>
          </a:p>
        </p:txBody>
      </p:sp>
      <p:sp>
        <p:nvSpPr>
          <p:cNvPr id="14" name="Shape 12"/>
          <p:cNvSpPr/>
          <p:nvPr/>
        </p:nvSpPr>
        <p:spPr>
          <a:xfrm>
            <a:off x="8156448" y="1691640"/>
            <a:ext cx="3383280" cy="1965960"/>
          </a:xfrm>
          <a:prstGeom prst="roundRect">
            <a:avLst>
              <a:gd name="adj" fmla="val 3721"/>
            </a:avLst>
          </a:prstGeom>
          <a:solidFill>
            <a:srgbClr val="FFFFFF"/>
          </a:solidFill>
          <a:ln w="12700">
            <a:solidFill>
              <a:srgbClr val="D8DEE9"/>
            </a:solidFill>
            <a:prstDash val="solid"/>
          </a:ln>
        </p:spPr>
        <p:txBody>
          <a:bodyPr/>
          <a:lstStyle/>
          <a:p>
            <a:endParaRPr/>
          </a:p>
        </p:txBody>
      </p:sp>
      <p:sp>
        <p:nvSpPr>
          <p:cNvPr id="15" name="Shape 13"/>
          <p:cNvSpPr/>
          <p:nvPr/>
        </p:nvSpPr>
        <p:spPr>
          <a:xfrm>
            <a:off x="8156448" y="1691640"/>
            <a:ext cx="64008" cy="1965960"/>
          </a:xfrm>
          <a:prstGeom prst="rect">
            <a:avLst/>
          </a:prstGeom>
          <a:solidFill>
            <a:srgbClr val="2F6BFF"/>
          </a:solidFill>
          <a:ln w="12700">
            <a:solidFill>
              <a:srgbClr val="2F6BFF"/>
            </a:solidFill>
            <a:prstDash val="solid"/>
          </a:ln>
        </p:spPr>
        <p:txBody>
          <a:bodyPr/>
          <a:lstStyle/>
          <a:p>
            <a:endParaRPr/>
          </a:p>
        </p:txBody>
      </p:sp>
      <p:sp>
        <p:nvSpPr>
          <p:cNvPr id="16" name="Text 14"/>
          <p:cNvSpPr/>
          <p:nvPr/>
        </p:nvSpPr>
        <p:spPr>
          <a:xfrm>
            <a:off x="8357616" y="1856232"/>
            <a:ext cx="3017520" cy="274320"/>
          </a:xfrm>
          <a:prstGeom prst="rect">
            <a:avLst/>
          </a:prstGeom>
          <a:noFill/>
          <a:ln/>
        </p:spPr>
        <p:txBody>
          <a:bodyPr wrap="square" lIns="0" tIns="0" rIns="0" bIns="0" rtlCol="0" anchor="ctr"/>
          <a:lstStyle/>
          <a:p>
            <a:pPr marL="0" indent="0">
              <a:buNone/>
            </a:pPr>
            <a:r>
              <a:rPr lang="en-US" sz="1300" b="1" dirty="0">
                <a:solidFill>
                  <a:srgbClr val="172033"/>
                </a:solidFill>
              </a:rPr>
              <a:t>Learning rate</a:t>
            </a:r>
            <a:endParaRPr lang="en-US" sz="1300" dirty="0"/>
          </a:p>
        </p:txBody>
      </p:sp>
      <p:sp>
        <p:nvSpPr>
          <p:cNvPr id="17" name="Text 15"/>
          <p:cNvSpPr/>
          <p:nvPr/>
        </p:nvSpPr>
        <p:spPr>
          <a:xfrm>
            <a:off x="8357616" y="2221992"/>
            <a:ext cx="2999232" cy="1307592"/>
          </a:xfrm>
          <a:prstGeom prst="rect">
            <a:avLst/>
          </a:prstGeom>
          <a:noFill/>
          <a:ln/>
        </p:spPr>
        <p:txBody>
          <a:bodyPr wrap="square" lIns="254" tIns="254" rIns="254" bIns="254" rtlCol="0" anchor="t"/>
          <a:lstStyle/>
          <a:p>
            <a:pPr marL="0" indent="0">
              <a:buNone/>
            </a:pPr>
            <a:r>
              <a:rPr lang="en-US" sz="1100" dirty="0">
                <a:solidFill>
                  <a:srgbClr val="5B6577"/>
                </a:solidFill>
              </a:rPr>
              <a:t>• Controls step magnitude</a:t>
            </a:r>
            <a:endParaRPr lang="en-US" sz="1100" dirty="0"/>
          </a:p>
          <a:p>
            <a:pPr marL="0" indent="0">
              <a:buNone/>
            </a:pPr>
            <a:r>
              <a:rPr lang="en-US" sz="1100" dirty="0">
                <a:solidFill>
                  <a:srgbClr val="5B6577"/>
                </a:solidFill>
              </a:rPr>
              <a:t>• Interacts with batch size and noise</a:t>
            </a:r>
            <a:endParaRPr lang="en-US" sz="1100" dirty="0"/>
          </a:p>
          <a:p>
            <a:pPr marL="0" indent="0">
              <a:buNone/>
            </a:pPr>
            <a:r>
              <a:rPr lang="en-US" sz="1100" dirty="0">
                <a:solidFill>
                  <a:srgbClr val="5B6577"/>
                </a:solidFill>
              </a:rPr>
              <a:t>• Often needs decay or warmup</a:t>
            </a:r>
            <a:endParaRPr lang="en-US" sz="1100" dirty="0"/>
          </a:p>
          <a:p>
            <a:pPr marL="0" indent="0">
              <a:buNone/>
            </a:pPr>
            <a:r>
              <a:rPr lang="en-US" sz="1100" dirty="0">
                <a:solidFill>
                  <a:srgbClr val="5B6577"/>
                </a:solidFill>
              </a:rPr>
              <a:t>• A fixed schedule may react too late</a:t>
            </a:r>
            <a:endParaRPr lang="en-US" sz="1100" dirty="0"/>
          </a:p>
        </p:txBody>
      </p:sp>
      <p:sp>
        <p:nvSpPr>
          <p:cNvPr id="18" name="Shape 16"/>
          <p:cNvSpPr/>
          <p:nvPr/>
        </p:nvSpPr>
        <p:spPr>
          <a:xfrm>
            <a:off x="1243584" y="4251960"/>
            <a:ext cx="9692640" cy="1243584"/>
          </a:xfrm>
          <a:prstGeom prst="roundRect">
            <a:avLst>
              <a:gd name="adj" fmla="val 5882"/>
            </a:avLst>
          </a:prstGeom>
          <a:solidFill>
            <a:srgbClr val="172033"/>
          </a:solidFill>
          <a:ln w="12700">
            <a:solidFill>
              <a:srgbClr val="172033"/>
            </a:solidFill>
            <a:prstDash val="solid"/>
          </a:ln>
        </p:spPr>
        <p:txBody>
          <a:bodyPr/>
          <a:lstStyle/>
          <a:p>
            <a:endParaRPr/>
          </a:p>
        </p:txBody>
      </p:sp>
      <p:sp>
        <p:nvSpPr>
          <p:cNvPr id="19" name="Text 17"/>
          <p:cNvSpPr/>
          <p:nvPr/>
        </p:nvSpPr>
        <p:spPr>
          <a:xfrm>
            <a:off x="1536192" y="4498848"/>
            <a:ext cx="1828800" cy="228600"/>
          </a:xfrm>
          <a:prstGeom prst="rect">
            <a:avLst/>
          </a:prstGeom>
          <a:noFill/>
          <a:ln/>
        </p:spPr>
        <p:txBody>
          <a:bodyPr wrap="square" lIns="0" tIns="0" rIns="0" bIns="0" rtlCol="0" anchor="ctr"/>
          <a:lstStyle/>
          <a:p>
            <a:pPr marL="0" indent="0">
              <a:buNone/>
            </a:pPr>
            <a:r>
              <a:rPr lang="en-US" sz="900" b="1" kern="0" spc="120" dirty="0">
                <a:solidFill>
                  <a:srgbClr val="9CD7D3"/>
                </a:solidFill>
              </a:rPr>
              <a:t>Research question</a:t>
            </a:r>
            <a:endParaRPr lang="en-US" sz="900" dirty="0"/>
          </a:p>
        </p:txBody>
      </p:sp>
      <p:sp>
        <p:nvSpPr>
          <p:cNvPr id="20" name="Text 18"/>
          <p:cNvSpPr/>
          <p:nvPr/>
        </p:nvSpPr>
        <p:spPr>
          <a:xfrm>
            <a:off x="1536192" y="4773168"/>
            <a:ext cx="9006840" cy="457200"/>
          </a:xfrm>
          <a:prstGeom prst="rect">
            <a:avLst/>
          </a:prstGeom>
          <a:noFill/>
          <a:ln/>
        </p:spPr>
        <p:txBody>
          <a:bodyPr wrap="square" lIns="0" tIns="0" rIns="0" bIns="0" rtlCol="0" anchor="ctr">
            <a:normAutofit/>
          </a:bodyPr>
          <a:lstStyle/>
          <a:p>
            <a:pPr marL="0" indent="0">
              <a:buNone/>
            </a:pPr>
            <a:r>
              <a:rPr lang="en-US" sz="1800" b="1" dirty="0">
                <a:solidFill>
                  <a:srgbClr val="FFFFFF"/>
                </a:solidFill>
              </a:rPr>
              <a:t>Can validation behavior and gradient stability drive batch-size and learning-rate changes that improve the accuracy–efficiency tradeoff?</a:t>
            </a:r>
            <a:endParaRPr lang="en-US" sz="1800" dirty="0"/>
          </a:p>
        </p:txBody>
      </p:sp>
      <p:sp>
        <p:nvSpPr>
          <p:cNvPr id="25" name="Slide Number Placeholder 0"/>
          <p:cNvSpPr>
            <a:spLocks noGrp="1"/>
          </p:cNvSpPr>
          <p:nvPr>
            <p:ph type="sldNum" sz="quarter" idx="4294967295"/>
          </p:nvPr>
        </p:nvSpPr>
        <p:spPr>
          <a:xfrm>
            <a:off x="11384280" y="6473952"/>
            <a:ext cx="32004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7B8496"/>
                </a:solidFill>
                <a:latin typeface="Aptos"/>
                <a:ea typeface="Aptos"/>
                <a:cs typeface="Aptos"/>
              </a:defRPr>
            </a:lvl1pPr>
          </a:lstStyle>
          <a:p>
            <a:r>
              <a:rPr sz="800">
                <a:solidFill>
                  <a:srgbClr val="5B6577"/>
                </a:solidFill>
                <a:latin typeface="Apto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384048"/>
            <a:ext cx="10881360" cy="411480"/>
          </a:xfrm>
          <a:prstGeom prst="rect">
            <a:avLst/>
          </a:prstGeom>
          <a:noFill/>
          <a:ln/>
        </p:spPr>
        <p:txBody>
          <a:bodyPr wrap="square" lIns="0" tIns="0" rIns="0" bIns="0" rtlCol="0" anchor="ctr"/>
          <a:lstStyle/>
          <a:p>
            <a:pPr marL="0" indent="0">
              <a:buNone/>
            </a:pPr>
            <a:r>
              <a:rPr lang="en-US" sz="2400" b="1" dirty="0">
                <a:solidFill>
                  <a:srgbClr val="172033"/>
                </a:solidFill>
                <a:latin typeface="Aptos Display" pitchFamily="34" charset="0"/>
                <a:ea typeface="Aptos Display" pitchFamily="34" charset="-122"/>
                <a:cs typeface="Aptos Display" pitchFamily="34" charset="-120"/>
              </a:rPr>
              <a:t>Literature review I — the large-batch debate</a:t>
            </a:r>
            <a:endParaRPr lang="en-US" sz="2400" dirty="0"/>
          </a:p>
        </p:txBody>
      </p:sp>
      <p:sp>
        <p:nvSpPr>
          <p:cNvPr id="3" name="Text 1"/>
          <p:cNvSpPr/>
          <p:nvPr/>
        </p:nvSpPr>
        <p:spPr>
          <a:xfrm>
            <a:off x="612648" y="850392"/>
            <a:ext cx="10789920" cy="310896"/>
          </a:xfrm>
          <a:prstGeom prst="rect">
            <a:avLst/>
          </a:prstGeom>
          <a:noFill/>
          <a:ln/>
        </p:spPr>
        <p:txBody>
          <a:bodyPr wrap="square" lIns="0" tIns="0" rIns="0" bIns="0" rtlCol="0" anchor="ctr"/>
          <a:lstStyle/>
          <a:p>
            <a:pPr marL="0" indent="0">
              <a:buNone/>
            </a:pPr>
            <a:r>
              <a:rPr lang="en-US" sz="1050" dirty="0">
                <a:solidFill>
                  <a:srgbClr val="5B6577"/>
                </a:solidFill>
              </a:rPr>
              <a:t>The literature moved from “large batches hurt” toward a more conditional view.</a:t>
            </a:r>
            <a:endParaRPr lang="en-US" sz="1050" dirty="0"/>
          </a:p>
        </p:txBody>
      </p:sp>
      <p:sp>
        <p:nvSpPr>
          <p:cNvPr id="4" name="Shape 2"/>
          <p:cNvSpPr/>
          <p:nvPr/>
        </p:nvSpPr>
        <p:spPr>
          <a:xfrm>
            <a:off x="612648" y="1207008"/>
            <a:ext cx="1600200" cy="320040"/>
          </a:xfrm>
          <a:prstGeom prst="roundRect">
            <a:avLst>
              <a:gd name="adj" fmla="val 22857"/>
            </a:avLst>
          </a:prstGeom>
          <a:solidFill>
            <a:srgbClr val="E8F5F4"/>
          </a:solidFill>
          <a:ln w="12700">
            <a:solidFill>
              <a:srgbClr val="E8F5F4"/>
            </a:solidFill>
            <a:prstDash val="solid"/>
          </a:ln>
        </p:spPr>
        <p:txBody>
          <a:bodyPr/>
          <a:lstStyle/>
          <a:p>
            <a:endParaRPr/>
          </a:p>
        </p:txBody>
      </p:sp>
      <p:sp>
        <p:nvSpPr>
          <p:cNvPr id="5" name="Text 3"/>
          <p:cNvSpPr/>
          <p:nvPr/>
        </p:nvSpPr>
        <p:spPr>
          <a:xfrm>
            <a:off x="704088" y="1289304"/>
            <a:ext cx="1417320" cy="118872"/>
          </a:xfrm>
          <a:prstGeom prst="rect">
            <a:avLst/>
          </a:prstGeom>
          <a:noFill/>
          <a:ln/>
        </p:spPr>
        <p:txBody>
          <a:bodyPr wrap="square" lIns="0" tIns="0" rIns="0" bIns="0" rtlCol="0" anchor="ctr"/>
          <a:lstStyle/>
          <a:p>
            <a:pPr marL="0" indent="0" algn="ctr">
              <a:buNone/>
            </a:pPr>
            <a:r>
              <a:rPr lang="en-US" sz="740" b="1" kern="0" spc="120" dirty="0">
                <a:solidFill>
                  <a:srgbClr val="0F8B8D"/>
                </a:solidFill>
              </a:rPr>
              <a:t>LITERATURE</a:t>
            </a:r>
            <a:endParaRPr lang="en-US" sz="740" dirty="0"/>
          </a:p>
        </p:txBody>
      </p:sp>
      <p:sp>
        <p:nvSpPr>
          <p:cNvPr id="6" name="Shape 4"/>
          <p:cNvSpPr/>
          <p:nvPr/>
        </p:nvSpPr>
        <p:spPr>
          <a:xfrm>
            <a:off x="658368" y="1664208"/>
            <a:ext cx="2359152" cy="1572768"/>
          </a:xfrm>
          <a:prstGeom prst="roundRect">
            <a:avLst>
              <a:gd name="adj" fmla="val 3488"/>
            </a:avLst>
          </a:prstGeom>
          <a:solidFill>
            <a:srgbClr val="FFFFFF"/>
          </a:solidFill>
          <a:ln w="12700">
            <a:solidFill>
              <a:srgbClr val="D8DEE9"/>
            </a:solidFill>
            <a:prstDash val="solid"/>
          </a:ln>
        </p:spPr>
        <p:txBody>
          <a:bodyPr/>
          <a:lstStyle/>
          <a:p>
            <a:endParaRPr/>
          </a:p>
        </p:txBody>
      </p:sp>
      <p:sp>
        <p:nvSpPr>
          <p:cNvPr id="7" name="Shape 5"/>
          <p:cNvSpPr/>
          <p:nvPr/>
        </p:nvSpPr>
        <p:spPr>
          <a:xfrm>
            <a:off x="822960" y="1801368"/>
            <a:ext cx="640080" cy="292608"/>
          </a:xfrm>
          <a:prstGeom prst="roundRect">
            <a:avLst>
              <a:gd name="adj" fmla="val 37500"/>
            </a:avLst>
          </a:prstGeom>
          <a:solidFill>
            <a:srgbClr val="EEF1F5"/>
          </a:solidFill>
          <a:ln w="12700">
            <a:solidFill>
              <a:srgbClr val="EEF1F5"/>
            </a:solidFill>
            <a:prstDash val="solid"/>
          </a:ln>
        </p:spPr>
        <p:txBody>
          <a:bodyPr/>
          <a:lstStyle/>
          <a:p>
            <a:endParaRPr/>
          </a:p>
        </p:txBody>
      </p:sp>
      <p:sp>
        <p:nvSpPr>
          <p:cNvPr id="8" name="Text 6"/>
          <p:cNvSpPr/>
          <p:nvPr/>
        </p:nvSpPr>
        <p:spPr>
          <a:xfrm>
            <a:off x="896112" y="1879092"/>
            <a:ext cx="493776" cy="109728"/>
          </a:xfrm>
          <a:prstGeom prst="rect">
            <a:avLst/>
          </a:prstGeom>
          <a:noFill/>
          <a:ln/>
        </p:spPr>
        <p:txBody>
          <a:bodyPr wrap="square" lIns="0" tIns="0" rIns="0" bIns="0" rtlCol="0" anchor="ctr"/>
          <a:lstStyle/>
          <a:p>
            <a:pPr marL="0" indent="0" algn="ctr">
              <a:buNone/>
            </a:pPr>
            <a:r>
              <a:rPr lang="en-US" sz="800" b="1" dirty="0">
                <a:solidFill>
                  <a:srgbClr val="172033"/>
                </a:solidFill>
              </a:rPr>
              <a:t>2017</a:t>
            </a:r>
            <a:endParaRPr lang="en-US" sz="800" dirty="0"/>
          </a:p>
        </p:txBody>
      </p:sp>
      <p:sp>
        <p:nvSpPr>
          <p:cNvPr id="9" name="Text 7"/>
          <p:cNvSpPr/>
          <p:nvPr/>
        </p:nvSpPr>
        <p:spPr>
          <a:xfrm>
            <a:off x="822960" y="2194560"/>
            <a:ext cx="1984248" cy="228600"/>
          </a:xfrm>
          <a:prstGeom prst="rect">
            <a:avLst/>
          </a:prstGeom>
          <a:noFill/>
          <a:ln/>
        </p:spPr>
        <p:txBody>
          <a:bodyPr wrap="square" lIns="0" tIns="0" rIns="0" bIns="0" rtlCol="0" anchor="ctr"/>
          <a:lstStyle/>
          <a:p>
            <a:pPr marL="0" indent="0">
              <a:buNone/>
            </a:pPr>
            <a:r>
              <a:rPr lang="en-US" sz="1200" b="1" dirty="0">
                <a:solidFill>
                  <a:srgbClr val="C84C4C"/>
                </a:solidFill>
              </a:rPr>
              <a:t>Keskar et al.</a:t>
            </a:r>
            <a:endParaRPr lang="en-US" sz="1200" dirty="0"/>
          </a:p>
        </p:txBody>
      </p:sp>
      <p:sp>
        <p:nvSpPr>
          <p:cNvPr id="10" name="Text 8"/>
          <p:cNvSpPr/>
          <p:nvPr/>
        </p:nvSpPr>
        <p:spPr>
          <a:xfrm>
            <a:off x="822960" y="2523744"/>
            <a:ext cx="1993392" cy="530352"/>
          </a:xfrm>
          <a:prstGeom prst="rect">
            <a:avLst/>
          </a:prstGeom>
          <a:noFill/>
          <a:ln/>
        </p:spPr>
        <p:txBody>
          <a:bodyPr wrap="square" lIns="0" tIns="0" rIns="0" bIns="0" rtlCol="0" anchor="ctr">
            <a:normAutofit/>
          </a:bodyPr>
          <a:lstStyle/>
          <a:p>
            <a:pPr marL="0" indent="0">
              <a:buNone/>
            </a:pPr>
            <a:r>
              <a:rPr lang="en-US" sz="940" dirty="0">
                <a:solidFill>
                  <a:srgbClr val="5B6577"/>
                </a:solidFill>
              </a:rPr>
              <a:t>Large-batch training was associated with sharper minima and worse generalization.</a:t>
            </a:r>
            <a:endParaRPr lang="en-US" sz="940" dirty="0"/>
          </a:p>
        </p:txBody>
      </p:sp>
      <p:sp>
        <p:nvSpPr>
          <p:cNvPr id="11" name="Shape 9"/>
          <p:cNvSpPr/>
          <p:nvPr/>
        </p:nvSpPr>
        <p:spPr>
          <a:xfrm>
            <a:off x="3502152" y="1664208"/>
            <a:ext cx="2359152" cy="1572768"/>
          </a:xfrm>
          <a:prstGeom prst="roundRect">
            <a:avLst>
              <a:gd name="adj" fmla="val 3488"/>
            </a:avLst>
          </a:prstGeom>
          <a:solidFill>
            <a:srgbClr val="FFFFFF"/>
          </a:solidFill>
          <a:ln w="12700">
            <a:solidFill>
              <a:srgbClr val="D8DEE9"/>
            </a:solidFill>
            <a:prstDash val="solid"/>
          </a:ln>
        </p:spPr>
        <p:txBody>
          <a:bodyPr/>
          <a:lstStyle/>
          <a:p>
            <a:endParaRPr/>
          </a:p>
        </p:txBody>
      </p:sp>
      <p:sp>
        <p:nvSpPr>
          <p:cNvPr id="12" name="Shape 10"/>
          <p:cNvSpPr/>
          <p:nvPr/>
        </p:nvSpPr>
        <p:spPr>
          <a:xfrm>
            <a:off x="3666744" y="1801368"/>
            <a:ext cx="640080" cy="292608"/>
          </a:xfrm>
          <a:prstGeom prst="roundRect">
            <a:avLst>
              <a:gd name="adj" fmla="val 37500"/>
            </a:avLst>
          </a:prstGeom>
          <a:solidFill>
            <a:srgbClr val="EEF1F5"/>
          </a:solidFill>
          <a:ln w="12700">
            <a:solidFill>
              <a:srgbClr val="EEF1F5"/>
            </a:solidFill>
            <a:prstDash val="solid"/>
          </a:ln>
        </p:spPr>
        <p:txBody>
          <a:bodyPr/>
          <a:lstStyle/>
          <a:p>
            <a:endParaRPr/>
          </a:p>
        </p:txBody>
      </p:sp>
      <p:sp>
        <p:nvSpPr>
          <p:cNvPr id="13" name="Text 11"/>
          <p:cNvSpPr/>
          <p:nvPr/>
        </p:nvSpPr>
        <p:spPr>
          <a:xfrm>
            <a:off x="3739896" y="1879092"/>
            <a:ext cx="493776" cy="109728"/>
          </a:xfrm>
          <a:prstGeom prst="rect">
            <a:avLst/>
          </a:prstGeom>
          <a:noFill/>
          <a:ln/>
        </p:spPr>
        <p:txBody>
          <a:bodyPr wrap="square" lIns="0" tIns="0" rIns="0" bIns="0" rtlCol="0" anchor="ctr"/>
          <a:lstStyle/>
          <a:p>
            <a:pPr marL="0" indent="0" algn="ctr">
              <a:buNone/>
            </a:pPr>
            <a:r>
              <a:rPr lang="en-US" sz="800" b="1" dirty="0">
                <a:solidFill>
                  <a:srgbClr val="172033"/>
                </a:solidFill>
              </a:rPr>
              <a:t>2017</a:t>
            </a:r>
            <a:endParaRPr lang="en-US" sz="800" dirty="0"/>
          </a:p>
        </p:txBody>
      </p:sp>
      <p:sp>
        <p:nvSpPr>
          <p:cNvPr id="14" name="Text 12"/>
          <p:cNvSpPr/>
          <p:nvPr/>
        </p:nvSpPr>
        <p:spPr>
          <a:xfrm>
            <a:off x="3666744" y="2194560"/>
            <a:ext cx="1984248" cy="228600"/>
          </a:xfrm>
          <a:prstGeom prst="rect">
            <a:avLst/>
          </a:prstGeom>
          <a:noFill/>
          <a:ln/>
        </p:spPr>
        <p:txBody>
          <a:bodyPr wrap="square" lIns="0" tIns="0" rIns="0" bIns="0" rtlCol="0" anchor="ctr"/>
          <a:lstStyle/>
          <a:p>
            <a:pPr marL="0" indent="0">
              <a:buNone/>
            </a:pPr>
            <a:r>
              <a:rPr lang="en-US" sz="1200" b="1" dirty="0">
                <a:solidFill>
                  <a:srgbClr val="2D936C"/>
                </a:solidFill>
              </a:rPr>
              <a:t>Hoffer et al.</a:t>
            </a:r>
            <a:endParaRPr lang="en-US" sz="1200" dirty="0"/>
          </a:p>
        </p:txBody>
      </p:sp>
      <p:sp>
        <p:nvSpPr>
          <p:cNvPr id="15" name="Text 13"/>
          <p:cNvSpPr/>
          <p:nvPr/>
        </p:nvSpPr>
        <p:spPr>
          <a:xfrm>
            <a:off x="3666744" y="2523744"/>
            <a:ext cx="1993392" cy="530352"/>
          </a:xfrm>
          <a:prstGeom prst="rect">
            <a:avLst/>
          </a:prstGeom>
          <a:noFill/>
          <a:ln/>
        </p:spPr>
        <p:txBody>
          <a:bodyPr wrap="square" lIns="0" tIns="0" rIns="0" bIns="0" rtlCol="0" anchor="ctr">
            <a:normAutofit/>
          </a:bodyPr>
          <a:lstStyle/>
          <a:p>
            <a:pPr marL="0" indent="0">
              <a:buNone/>
            </a:pPr>
            <a:r>
              <a:rPr lang="en-US" sz="940" dirty="0">
                <a:solidFill>
                  <a:srgbClr val="5B6577"/>
                </a:solidFill>
              </a:rPr>
              <a:t>The gap can shrink when large-batch runs receive enough optimizer updates / longer training.</a:t>
            </a:r>
            <a:endParaRPr lang="en-US" sz="940" dirty="0"/>
          </a:p>
        </p:txBody>
      </p:sp>
      <p:sp>
        <p:nvSpPr>
          <p:cNvPr id="16" name="Shape 14"/>
          <p:cNvSpPr/>
          <p:nvPr/>
        </p:nvSpPr>
        <p:spPr>
          <a:xfrm>
            <a:off x="6345936" y="1664208"/>
            <a:ext cx="2359152" cy="1572768"/>
          </a:xfrm>
          <a:prstGeom prst="roundRect">
            <a:avLst>
              <a:gd name="adj" fmla="val 3488"/>
            </a:avLst>
          </a:prstGeom>
          <a:solidFill>
            <a:srgbClr val="FFFFFF"/>
          </a:solidFill>
          <a:ln w="12700">
            <a:solidFill>
              <a:srgbClr val="D8DEE9"/>
            </a:solidFill>
            <a:prstDash val="solid"/>
          </a:ln>
        </p:spPr>
        <p:txBody>
          <a:bodyPr/>
          <a:lstStyle/>
          <a:p>
            <a:endParaRPr/>
          </a:p>
        </p:txBody>
      </p:sp>
      <p:sp>
        <p:nvSpPr>
          <p:cNvPr id="17" name="Shape 15"/>
          <p:cNvSpPr/>
          <p:nvPr/>
        </p:nvSpPr>
        <p:spPr>
          <a:xfrm>
            <a:off x="6510528" y="1801368"/>
            <a:ext cx="640080" cy="292608"/>
          </a:xfrm>
          <a:prstGeom prst="roundRect">
            <a:avLst>
              <a:gd name="adj" fmla="val 37500"/>
            </a:avLst>
          </a:prstGeom>
          <a:solidFill>
            <a:srgbClr val="EEF1F5"/>
          </a:solidFill>
          <a:ln w="12700">
            <a:solidFill>
              <a:srgbClr val="EEF1F5"/>
            </a:solidFill>
            <a:prstDash val="solid"/>
          </a:ln>
        </p:spPr>
        <p:txBody>
          <a:bodyPr/>
          <a:lstStyle/>
          <a:p>
            <a:endParaRPr/>
          </a:p>
        </p:txBody>
      </p:sp>
      <p:sp>
        <p:nvSpPr>
          <p:cNvPr id="18" name="Text 16"/>
          <p:cNvSpPr/>
          <p:nvPr/>
        </p:nvSpPr>
        <p:spPr>
          <a:xfrm>
            <a:off x="6583680" y="1879092"/>
            <a:ext cx="493776" cy="109728"/>
          </a:xfrm>
          <a:prstGeom prst="rect">
            <a:avLst/>
          </a:prstGeom>
          <a:noFill/>
          <a:ln/>
        </p:spPr>
        <p:txBody>
          <a:bodyPr wrap="square" lIns="0" tIns="0" rIns="0" bIns="0" rtlCol="0" anchor="ctr"/>
          <a:lstStyle/>
          <a:p>
            <a:pPr marL="0" indent="0" algn="ctr">
              <a:buNone/>
            </a:pPr>
            <a:r>
              <a:rPr lang="en-US" sz="800" b="1" dirty="0">
                <a:solidFill>
                  <a:srgbClr val="172033"/>
                </a:solidFill>
              </a:rPr>
              <a:t>2017</a:t>
            </a:r>
            <a:endParaRPr lang="en-US" sz="800" dirty="0"/>
          </a:p>
        </p:txBody>
      </p:sp>
      <p:sp>
        <p:nvSpPr>
          <p:cNvPr id="19" name="Text 17"/>
          <p:cNvSpPr/>
          <p:nvPr/>
        </p:nvSpPr>
        <p:spPr>
          <a:xfrm>
            <a:off x="6510528" y="2194560"/>
            <a:ext cx="1984248" cy="228600"/>
          </a:xfrm>
          <a:prstGeom prst="rect">
            <a:avLst/>
          </a:prstGeom>
          <a:noFill/>
          <a:ln/>
        </p:spPr>
        <p:txBody>
          <a:bodyPr wrap="square" lIns="0" tIns="0" rIns="0" bIns="0" rtlCol="0" anchor="ctr"/>
          <a:lstStyle/>
          <a:p>
            <a:pPr marL="0" indent="0">
              <a:buNone/>
            </a:pPr>
            <a:r>
              <a:rPr lang="en-US" sz="1200" b="1" dirty="0">
                <a:solidFill>
                  <a:srgbClr val="2F6BFF"/>
                </a:solidFill>
              </a:rPr>
              <a:t>Goyal et al.</a:t>
            </a:r>
            <a:endParaRPr lang="en-US" sz="1200" dirty="0"/>
          </a:p>
        </p:txBody>
      </p:sp>
      <p:sp>
        <p:nvSpPr>
          <p:cNvPr id="20" name="Text 18"/>
          <p:cNvSpPr/>
          <p:nvPr/>
        </p:nvSpPr>
        <p:spPr>
          <a:xfrm>
            <a:off x="6510528" y="2523744"/>
            <a:ext cx="1993392" cy="530352"/>
          </a:xfrm>
          <a:prstGeom prst="rect">
            <a:avLst/>
          </a:prstGeom>
          <a:noFill/>
          <a:ln/>
        </p:spPr>
        <p:txBody>
          <a:bodyPr wrap="square" lIns="0" tIns="0" rIns="0" bIns="0" rtlCol="0" anchor="ctr">
            <a:normAutofit/>
          </a:bodyPr>
          <a:lstStyle/>
          <a:p>
            <a:pPr marL="0" indent="0">
              <a:buNone/>
            </a:pPr>
            <a:r>
              <a:rPr lang="en-US" sz="940" dirty="0">
                <a:solidFill>
                  <a:srgbClr val="5B6577"/>
                </a:solidFill>
              </a:rPr>
              <a:t>Large ImageNet batches can work with learning-rate scaling and gradual warmup.</a:t>
            </a:r>
            <a:endParaRPr lang="en-US" sz="940" dirty="0"/>
          </a:p>
        </p:txBody>
      </p:sp>
      <p:sp>
        <p:nvSpPr>
          <p:cNvPr id="21" name="Shape 19"/>
          <p:cNvSpPr/>
          <p:nvPr/>
        </p:nvSpPr>
        <p:spPr>
          <a:xfrm>
            <a:off x="9189720" y="1664208"/>
            <a:ext cx="2359152" cy="1572768"/>
          </a:xfrm>
          <a:prstGeom prst="roundRect">
            <a:avLst>
              <a:gd name="adj" fmla="val 3488"/>
            </a:avLst>
          </a:prstGeom>
          <a:solidFill>
            <a:srgbClr val="FFFFFF"/>
          </a:solidFill>
          <a:ln w="12700">
            <a:solidFill>
              <a:srgbClr val="D8DEE9"/>
            </a:solidFill>
            <a:prstDash val="solid"/>
          </a:ln>
        </p:spPr>
        <p:txBody>
          <a:bodyPr/>
          <a:lstStyle/>
          <a:p>
            <a:endParaRPr/>
          </a:p>
        </p:txBody>
      </p:sp>
      <p:sp>
        <p:nvSpPr>
          <p:cNvPr id="22" name="Shape 20"/>
          <p:cNvSpPr/>
          <p:nvPr/>
        </p:nvSpPr>
        <p:spPr>
          <a:xfrm>
            <a:off x="9354312" y="1801368"/>
            <a:ext cx="640080" cy="292608"/>
          </a:xfrm>
          <a:prstGeom prst="roundRect">
            <a:avLst>
              <a:gd name="adj" fmla="val 37500"/>
            </a:avLst>
          </a:prstGeom>
          <a:solidFill>
            <a:srgbClr val="EEF1F5"/>
          </a:solidFill>
          <a:ln w="12700">
            <a:solidFill>
              <a:srgbClr val="EEF1F5"/>
            </a:solidFill>
            <a:prstDash val="solid"/>
          </a:ln>
        </p:spPr>
        <p:txBody>
          <a:bodyPr/>
          <a:lstStyle/>
          <a:p>
            <a:endParaRPr/>
          </a:p>
        </p:txBody>
      </p:sp>
      <p:sp>
        <p:nvSpPr>
          <p:cNvPr id="23" name="Text 21"/>
          <p:cNvSpPr/>
          <p:nvPr/>
        </p:nvSpPr>
        <p:spPr>
          <a:xfrm>
            <a:off x="9427464" y="1879092"/>
            <a:ext cx="493776" cy="109728"/>
          </a:xfrm>
          <a:prstGeom prst="rect">
            <a:avLst/>
          </a:prstGeom>
          <a:noFill/>
          <a:ln/>
        </p:spPr>
        <p:txBody>
          <a:bodyPr wrap="square" lIns="0" tIns="0" rIns="0" bIns="0" rtlCol="0" anchor="ctr"/>
          <a:lstStyle/>
          <a:p>
            <a:pPr marL="0" indent="0" algn="ctr">
              <a:buNone/>
            </a:pPr>
            <a:r>
              <a:rPr lang="en-US" sz="800" b="1" dirty="0">
                <a:solidFill>
                  <a:srgbClr val="172033"/>
                </a:solidFill>
              </a:rPr>
              <a:t>2018</a:t>
            </a:r>
            <a:endParaRPr lang="en-US" sz="800" dirty="0"/>
          </a:p>
        </p:txBody>
      </p:sp>
      <p:sp>
        <p:nvSpPr>
          <p:cNvPr id="24" name="Text 22"/>
          <p:cNvSpPr/>
          <p:nvPr/>
        </p:nvSpPr>
        <p:spPr>
          <a:xfrm>
            <a:off x="9354312" y="2194560"/>
            <a:ext cx="1984248" cy="228600"/>
          </a:xfrm>
          <a:prstGeom prst="rect">
            <a:avLst/>
          </a:prstGeom>
          <a:noFill/>
          <a:ln/>
        </p:spPr>
        <p:txBody>
          <a:bodyPr wrap="square" lIns="0" tIns="0" rIns="0" bIns="0" rtlCol="0" anchor="ctr"/>
          <a:lstStyle/>
          <a:p>
            <a:pPr marL="0" indent="0">
              <a:buNone/>
            </a:pPr>
            <a:r>
              <a:rPr lang="en-US" sz="1200" b="1" dirty="0">
                <a:solidFill>
                  <a:srgbClr val="6F5BD3"/>
                </a:solidFill>
              </a:rPr>
              <a:t>Masters &amp; Luschi</a:t>
            </a:r>
            <a:endParaRPr lang="en-US" sz="1200" dirty="0"/>
          </a:p>
        </p:txBody>
      </p:sp>
      <p:sp>
        <p:nvSpPr>
          <p:cNvPr id="25" name="Text 23"/>
          <p:cNvSpPr/>
          <p:nvPr/>
        </p:nvSpPr>
        <p:spPr>
          <a:xfrm>
            <a:off x="9354312" y="2523744"/>
            <a:ext cx="1993392" cy="530352"/>
          </a:xfrm>
          <a:prstGeom prst="rect">
            <a:avLst/>
          </a:prstGeom>
          <a:noFill/>
          <a:ln/>
        </p:spPr>
        <p:txBody>
          <a:bodyPr wrap="square" lIns="0" tIns="0" rIns="0" bIns="0" rtlCol="0" anchor="ctr">
            <a:normAutofit/>
          </a:bodyPr>
          <a:lstStyle/>
          <a:p>
            <a:pPr marL="0" indent="0">
              <a:buNone/>
            </a:pPr>
            <a:r>
              <a:rPr lang="en-US" sz="940" dirty="0">
                <a:solidFill>
                  <a:srgbClr val="5B6577"/>
                </a:solidFill>
              </a:rPr>
              <a:t>Small batches can provide more stable optimization and a wider stable LR region.</a:t>
            </a:r>
            <a:endParaRPr lang="en-US" sz="940" dirty="0"/>
          </a:p>
        </p:txBody>
      </p:sp>
      <p:sp>
        <p:nvSpPr>
          <p:cNvPr id="26" name="Shape 24"/>
          <p:cNvSpPr/>
          <p:nvPr/>
        </p:nvSpPr>
        <p:spPr>
          <a:xfrm>
            <a:off x="658368" y="3886200"/>
            <a:ext cx="2359152" cy="1572768"/>
          </a:xfrm>
          <a:prstGeom prst="roundRect">
            <a:avLst>
              <a:gd name="adj" fmla="val 3488"/>
            </a:avLst>
          </a:prstGeom>
          <a:solidFill>
            <a:srgbClr val="FFFFFF"/>
          </a:solidFill>
          <a:ln w="12700">
            <a:solidFill>
              <a:srgbClr val="D8DEE9"/>
            </a:solidFill>
            <a:prstDash val="solid"/>
          </a:ln>
        </p:spPr>
        <p:txBody>
          <a:bodyPr/>
          <a:lstStyle/>
          <a:p>
            <a:endParaRPr/>
          </a:p>
        </p:txBody>
      </p:sp>
      <p:sp>
        <p:nvSpPr>
          <p:cNvPr id="27" name="Shape 25"/>
          <p:cNvSpPr/>
          <p:nvPr/>
        </p:nvSpPr>
        <p:spPr>
          <a:xfrm>
            <a:off x="822960" y="4023360"/>
            <a:ext cx="640080" cy="292608"/>
          </a:xfrm>
          <a:prstGeom prst="roundRect">
            <a:avLst>
              <a:gd name="adj" fmla="val 37500"/>
            </a:avLst>
          </a:prstGeom>
          <a:solidFill>
            <a:srgbClr val="EEF1F5"/>
          </a:solidFill>
          <a:ln w="12700">
            <a:solidFill>
              <a:srgbClr val="EEF1F5"/>
            </a:solidFill>
            <a:prstDash val="solid"/>
          </a:ln>
        </p:spPr>
        <p:txBody>
          <a:bodyPr/>
          <a:lstStyle/>
          <a:p>
            <a:endParaRPr/>
          </a:p>
        </p:txBody>
      </p:sp>
      <p:sp>
        <p:nvSpPr>
          <p:cNvPr id="28" name="Text 26"/>
          <p:cNvSpPr/>
          <p:nvPr/>
        </p:nvSpPr>
        <p:spPr>
          <a:xfrm>
            <a:off x="896112" y="4101084"/>
            <a:ext cx="493776" cy="109728"/>
          </a:xfrm>
          <a:prstGeom prst="rect">
            <a:avLst/>
          </a:prstGeom>
          <a:noFill/>
          <a:ln/>
        </p:spPr>
        <p:txBody>
          <a:bodyPr wrap="square" lIns="0" tIns="0" rIns="0" bIns="0" rtlCol="0" anchor="ctr"/>
          <a:lstStyle/>
          <a:p>
            <a:pPr marL="0" indent="0" algn="ctr">
              <a:buNone/>
            </a:pPr>
            <a:r>
              <a:rPr lang="en-US" sz="800" b="1" dirty="0">
                <a:solidFill>
                  <a:srgbClr val="172033"/>
                </a:solidFill>
              </a:rPr>
              <a:t>2019</a:t>
            </a:r>
            <a:endParaRPr lang="en-US" sz="800" dirty="0"/>
          </a:p>
        </p:txBody>
      </p:sp>
      <p:sp>
        <p:nvSpPr>
          <p:cNvPr id="29" name="Text 27"/>
          <p:cNvSpPr/>
          <p:nvPr/>
        </p:nvSpPr>
        <p:spPr>
          <a:xfrm>
            <a:off x="822960" y="4416552"/>
            <a:ext cx="1984248" cy="228600"/>
          </a:xfrm>
          <a:prstGeom prst="rect">
            <a:avLst/>
          </a:prstGeom>
          <a:noFill/>
          <a:ln/>
        </p:spPr>
        <p:txBody>
          <a:bodyPr wrap="square" lIns="0" tIns="0" rIns="0" bIns="0" rtlCol="0" anchor="ctr"/>
          <a:lstStyle/>
          <a:p>
            <a:pPr marL="0" indent="0">
              <a:buNone/>
            </a:pPr>
            <a:r>
              <a:rPr lang="en-US" sz="1200" b="1" dirty="0">
                <a:solidFill>
                  <a:srgbClr val="0F8B8D"/>
                </a:solidFill>
              </a:rPr>
              <a:t>Shallue et al.</a:t>
            </a:r>
            <a:endParaRPr lang="en-US" sz="1200" dirty="0"/>
          </a:p>
        </p:txBody>
      </p:sp>
      <p:sp>
        <p:nvSpPr>
          <p:cNvPr id="30" name="Text 28"/>
          <p:cNvSpPr/>
          <p:nvPr/>
        </p:nvSpPr>
        <p:spPr>
          <a:xfrm>
            <a:off x="822960" y="4745736"/>
            <a:ext cx="1993392" cy="530352"/>
          </a:xfrm>
          <a:prstGeom prst="rect">
            <a:avLst/>
          </a:prstGeom>
          <a:noFill/>
          <a:ln/>
        </p:spPr>
        <p:txBody>
          <a:bodyPr wrap="square" lIns="0" tIns="0" rIns="0" bIns="0" rtlCol="0" anchor="ctr">
            <a:normAutofit/>
          </a:bodyPr>
          <a:lstStyle/>
          <a:p>
            <a:pPr marL="0" indent="0">
              <a:buNone/>
            </a:pPr>
            <a:r>
              <a:rPr lang="en-US" sz="940" dirty="0">
                <a:solidFill>
                  <a:srgbClr val="5B6577"/>
                </a:solidFill>
              </a:rPr>
              <a:t>Batch scaling shows diminishing returns; tuning and compute budgets explain many disagreements.</a:t>
            </a:r>
            <a:endParaRPr lang="en-US" sz="940" dirty="0"/>
          </a:p>
        </p:txBody>
      </p:sp>
      <p:sp>
        <p:nvSpPr>
          <p:cNvPr id="31" name="Shape 29"/>
          <p:cNvSpPr/>
          <p:nvPr/>
        </p:nvSpPr>
        <p:spPr>
          <a:xfrm>
            <a:off x="3364992" y="4187952"/>
            <a:ext cx="548640" cy="685800"/>
          </a:xfrm>
          <a:prstGeom prst="chevron">
            <a:avLst/>
          </a:prstGeom>
          <a:solidFill>
            <a:srgbClr val="0F8B8D"/>
          </a:solidFill>
          <a:ln w="12700">
            <a:solidFill>
              <a:srgbClr val="0F8B8D"/>
            </a:solidFill>
            <a:prstDash val="solid"/>
          </a:ln>
        </p:spPr>
        <p:txBody>
          <a:bodyPr/>
          <a:lstStyle/>
          <a:p>
            <a:endParaRPr/>
          </a:p>
        </p:txBody>
      </p:sp>
      <p:sp>
        <p:nvSpPr>
          <p:cNvPr id="32" name="Shape 30"/>
          <p:cNvSpPr/>
          <p:nvPr/>
        </p:nvSpPr>
        <p:spPr>
          <a:xfrm>
            <a:off x="4160520" y="4005072"/>
            <a:ext cx="7178040" cy="1371600"/>
          </a:xfrm>
          <a:prstGeom prst="roundRect">
            <a:avLst>
              <a:gd name="adj" fmla="val 5333"/>
            </a:avLst>
          </a:prstGeom>
          <a:solidFill>
            <a:srgbClr val="E8F5F4"/>
          </a:solidFill>
          <a:ln w="12700">
            <a:solidFill>
              <a:srgbClr val="B8E1DE"/>
            </a:solidFill>
            <a:prstDash val="solid"/>
          </a:ln>
        </p:spPr>
        <p:txBody>
          <a:bodyPr/>
          <a:lstStyle/>
          <a:p>
            <a:endParaRPr/>
          </a:p>
        </p:txBody>
      </p:sp>
      <p:sp>
        <p:nvSpPr>
          <p:cNvPr id="33" name="Text 31"/>
          <p:cNvSpPr/>
          <p:nvPr/>
        </p:nvSpPr>
        <p:spPr>
          <a:xfrm>
            <a:off x="4416552" y="4279392"/>
            <a:ext cx="1051560" cy="182880"/>
          </a:xfrm>
          <a:prstGeom prst="rect">
            <a:avLst/>
          </a:prstGeom>
          <a:noFill/>
          <a:ln/>
        </p:spPr>
        <p:txBody>
          <a:bodyPr wrap="square" lIns="0" tIns="0" rIns="0" bIns="0" rtlCol="0" anchor="ctr"/>
          <a:lstStyle/>
          <a:p>
            <a:pPr marL="0" indent="0">
              <a:buNone/>
            </a:pPr>
            <a:r>
              <a:rPr lang="en-US" sz="900" b="1" dirty="0">
                <a:solidFill>
                  <a:srgbClr val="0F8B8D"/>
                </a:solidFill>
              </a:rPr>
              <a:t>Takeaway</a:t>
            </a:r>
            <a:endParaRPr lang="en-US" sz="900" dirty="0"/>
          </a:p>
        </p:txBody>
      </p:sp>
      <p:sp>
        <p:nvSpPr>
          <p:cNvPr id="34" name="Text 32"/>
          <p:cNvSpPr/>
          <p:nvPr/>
        </p:nvSpPr>
        <p:spPr>
          <a:xfrm>
            <a:off x="4416552" y="4590288"/>
            <a:ext cx="6492240" cy="502920"/>
          </a:xfrm>
          <a:prstGeom prst="rect">
            <a:avLst/>
          </a:prstGeom>
          <a:noFill/>
          <a:ln/>
        </p:spPr>
        <p:txBody>
          <a:bodyPr wrap="square" lIns="0" tIns="0" rIns="0" bIns="0" rtlCol="0" anchor="ctr">
            <a:normAutofit/>
          </a:bodyPr>
          <a:lstStyle/>
          <a:p>
            <a:pPr marL="0" indent="0">
              <a:buNone/>
            </a:pPr>
            <a:r>
              <a:rPr lang="en-US" sz="1500" b="1" dirty="0">
                <a:solidFill>
                  <a:srgbClr val="172033"/>
                </a:solidFill>
              </a:rPr>
              <a:t>Batch size cannot be judged in isolation. Learning rate, number of updates, model, dataset, and training budget all change the outcome.</a:t>
            </a:r>
            <a:endParaRPr lang="en-US" sz="1500" dirty="0"/>
          </a:p>
        </p:txBody>
      </p:sp>
      <p:sp>
        <p:nvSpPr>
          <p:cNvPr id="35" name="Text 33"/>
          <p:cNvSpPr/>
          <p:nvPr/>
        </p:nvSpPr>
        <p:spPr>
          <a:xfrm>
            <a:off x="612648" y="6263640"/>
            <a:ext cx="10515600" cy="164592"/>
          </a:xfrm>
          <a:prstGeom prst="rect">
            <a:avLst/>
          </a:prstGeom>
          <a:noFill/>
          <a:ln/>
        </p:spPr>
        <p:txBody>
          <a:bodyPr wrap="square" lIns="0" tIns="0" rIns="0" bIns="0" rtlCol="0" anchor="ctr"/>
          <a:lstStyle/>
          <a:p>
            <a:pPr marL="0" indent="0">
              <a:buNone/>
            </a:pPr>
            <a:r>
              <a:rPr lang="en-US" sz="730" i="1" dirty="0">
                <a:solidFill>
                  <a:srgbClr val="7B8496"/>
                </a:solidFill>
              </a:rPr>
              <a:t>Sources: Keskar et al. (2017); Hoffer et al. (2017); Goyal et al. (2017/2018); Masters &amp; Luschi (2018); Shallue et al. (2019).</a:t>
            </a:r>
            <a:endParaRPr lang="en-US" sz="730" dirty="0"/>
          </a:p>
        </p:txBody>
      </p:sp>
      <p:sp>
        <p:nvSpPr>
          <p:cNvPr id="36" name="Slide Number Placeholder 0"/>
          <p:cNvSpPr>
            <a:spLocks noGrp="1"/>
          </p:cNvSpPr>
          <p:nvPr>
            <p:ph type="sldNum" sz="quarter" idx="4294967295"/>
          </p:nvPr>
        </p:nvSpPr>
        <p:spPr>
          <a:xfrm>
            <a:off x="11384280" y="6473952"/>
            <a:ext cx="32004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7B8496"/>
                </a:solidFill>
                <a:latin typeface="Aptos"/>
                <a:ea typeface="Aptos"/>
                <a:cs typeface="Aptos"/>
              </a:defRPr>
            </a:lvl1pPr>
          </a:lstStyle>
          <a:p>
            <a:r>
              <a:rPr sz="800">
                <a:solidFill>
                  <a:srgbClr val="5B6577"/>
                </a:solidFill>
                <a:latin typeface="Apto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384048"/>
            <a:ext cx="10881360" cy="411480"/>
          </a:xfrm>
          <a:prstGeom prst="rect">
            <a:avLst/>
          </a:prstGeom>
          <a:noFill/>
          <a:ln/>
        </p:spPr>
        <p:txBody>
          <a:bodyPr wrap="square" lIns="0" tIns="0" rIns="0" bIns="0" rtlCol="0" anchor="ctr"/>
          <a:lstStyle/>
          <a:p>
            <a:pPr marL="0" indent="0">
              <a:buNone/>
            </a:pPr>
            <a:r>
              <a:rPr lang="en-US" sz="2400" b="1" dirty="0">
                <a:solidFill>
                  <a:srgbClr val="172033"/>
                </a:solidFill>
                <a:latin typeface="Aptos Display" pitchFamily="34" charset="0"/>
                <a:ea typeface="Aptos Display" pitchFamily="34" charset="-122"/>
                <a:cs typeface="Aptos Display" pitchFamily="34" charset="-120"/>
              </a:rPr>
              <a:t>Literature review II — from scaling rules to adaptive training</a:t>
            </a:r>
            <a:endParaRPr lang="en-US" sz="2400" dirty="0"/>
          </a:p>
        </p:txBody>
      </p:sp>
      <p:sp>
        <p:nvSpPr>
          <p:cNvPr id="3" name="Text 1"/>
          <p:cNvSpPr/>
          <p:nvPr/>
        </p:nvSpPr>
        <p:spPr>
          <a:xfrm>
            <a:off x="612648" y="850392"/>
            <a:ext cx="10789920" cy="310896"/>
          </a:xfrm>
          <a:prstGeom prst="rect">
            <a:avLst/>
          </a:prstGeom>
          <a:noFill/>
          <a:ln/>
        </p:spPr>
        <p:txBody>
          <a:bodyPr wrap="square" lIns="0" tIns="0" rIns="0" bIns="0" rtlCol="0" anchor="ctr"/>
          <a:lstStyle/>
          <a:p>
            <a:pPr marL="0" indent="0">
              <a:buNone/>
            </a:pPr>
            <a:r>
              <a:rPr lang="en-US" sz="1050" dirty="0">
                <a:solidFill>
                  <a:srgbClr val="5B6577"/>
                </a:solidFill>
              </a:rPr>
              <a:t>The papers most directly connected to our controller motivate joint, dynamic control.</a:t>
            </a:r>
            <a:endParaRPr lang="en-US" sz="1050" dirty="0"/>
          </a:p>
        </p:txBody>
      </p:sp>
      <p:sp>
        <p:nvSpPr>
          <p:cNvPr id="4" name="Shape 2"/>
          <p:cNvSpPr/>
          <p:nvPr/>
        </p:nvSpPr>
        <p:spPr>
          <a:xfrm>
            <a:off x="612648" y="1207008"/>
            <a:ext cx="1600200" cy="320040"/>
          </a:xfrm>
          <a:prstGeom prst="roundRect">
            <a:avLst>
              <a:gd name="adj" fmla="val 22857"/>
            </a:avLst>
          </a:prstGeom>
          <a:solidFill>
            <a:srgbClr val="E8F5F4"/>
          </a:solidFill>
          <a:ln w="12700">
            <a:solidFill>
              <a:srgbClr val="E8F5F4"/>
            </a:solidFill>
            <a:prstDash val="solid"/>
          </a:ln>
        </p:spPr>
        <p:txBody>
          <a:bodyPr/>
          <a:lstStyle/>
          <a:p>
            <a:endParaRPr/>
          </a:p>
        </p:txBody>
      </p:sp>
      <p:sp>
        <p:nvSpPr>
          <p:cNvPr id="5" name="Text 3"/>
          <p:cNvSpPr/>
          <p:nvPr/>
        </p:nvSpPr>
        <p:spPr>
          <a:xfrm>
            <a:off x="704088" y="1289304"/>
            <a:ext cx="1417320" cy="118872"/>
          </a:xfrm>
          <a:prstGeom prst="rect">
            <a:avLst/>
          </a:prstGeom>
          <a:noFill/>
          <a:ln/>
        </p:spPr>
        <p:txBody>
          <a:bodyPr wrap="square" lIns="0" tIns="0" rIns="0" bIns="0" rtlCol="0" anchor="ctr"/>
          <a:lstStyle/>
          <a:p>
            <a:pPr marL="0" indent="0" algn="ctr">
              <a:buNone/>
            </a:pPr>
            <a:r>
              <a:rPr lang="en-US" sz="740" b="1" kern="0" spc="120" dirty="0">
                <a:solidFill>
                  <a:srgbClr val="0F8B8D"/>
                </a:solidFill>
              </a:rPr>
              <a:t>LITERATURE</a:t>
            </a:r>
            <a:endParaRPr lang="en-US" sz="740" dirty="0"/>
          </a:p>
        </p:txBody>
      </p:sp>
      <p:sp>
        <p:nvSpPr>
          <p:cNvPr id="6" name="Shape 4"/>
          <p:cNvSpPr/>
          <p:nvPr/>
        </p:nvSpPr>
        <p:spPr>
          <a:xfrm>
            <a:off x="658368" y="1645920"/>
            <a:ext cx="2423160" cy="438912"/>
          </a:xfrm>
          <a:prstGeom prst="rect">
            <a:avLst/>
          </a:prstGeom>
          <a:solidFill>
            <a:srgbClr val="172033"/>
          </a:solidFill>
          <a:ln w="12700">
            <a:solidFill>
              <a:srgbClr val="172033"/>
            </a:solidFill>
            <a:prstDash val="solid"/>
          </a:ln>
        </p:spPr>
        <p:txBody>
          <a:bodyPr/>
          <a:lstStyle/>
          <a:p>
            <a:endParaRPr/>
          </a:p>
        </p:txBody>
      </p:sp>
      <p:sp>
        <p:nvSpPr>
          <p:cNvPr id="7" name="Text 5"/>
          <p:cNvSpPr/>
          <p:nvPr/>
        </p:nvSpPr>
        <p:spPr>
          <a:xfrm>
            <a:off x="795528" y="1783080"/>
            <a:ext cx="2148840" cy="128016"/>
          </a:xfrm>
          <a:prstGeom prst="rect">
            <a:avLst/>
          </a:prstGeom>
          <a:noFill/>
          <a:ln/>
        </p:spPr>
        <p:txBody>
          <a:bodyPr wrap="square" lIns="0" tIns="0" rIns="0" bIns="0" rtlCol="0" anchor="ctr"/>
          <a:lstStyle/>
          <a:p>
            <a:pPr marL="0" indent="0">
              <a:buNone/>
            </a:pPr>
            <a:r>
              <a:rPr lang="en-US" sz="950" b="1" dirty="0">
                <a:solidFill>
                  <a:srgbClr val="FFFFFF"/>
                </a:solidFill>
              </a:rPr>
              <a:t>Study</a:t>
            </a:r>
            <a:endParaRPr lang="en-US" sz="950" dirty="0"/>
          </a:p>
        </p:txBody>
      </p:sp>
      <p:sp>
        <p:nvSpPr>
          <p:cNvPr id="8" name="Shape 6"/>
          <p:cNvSpPr/>
          <p:nvPr/>
        </p:nvSpPr>
        <p:spPr>
          <a:xfrm>
            <a:off x="3246120" y="1645920"/>
            <a:ext cx="4389120" cy="438912"/>
          </a:xfrm>
          <a:prstGeom prst="rect">
            <a:avLst/>
          </a:prstGeom>
          <a:solidFill>
            <a:srgbClr val="172033"/>
          </a:solidFill>
          <a:ln w="12700">
            <a:solidFill>
              <a:srgbClr val="172033"/>
            </a:solidFill>
            <a:prstDash val="solid"/>
          </a:ln>
        </p:spPr>
        <p:txBody>
          <a:bodyPr/>
          <a:lstStyle/>
          <a:p>
            <a:endParaRPr/>
          </a:p>
        </p:txBody>
      </p:sp>
      <p:sp>
        <p:nvSpPr>
          <p:cNvPr id="9" name="Text 7"/>
          <p:cNvSpPr/>
          <p:nvPr/>
        </p:nvSpPr>
        <p:spPr>
          <a:xfrm>
            <a:off x="3383280" y="1783080"/>
            <a:ext cx="4114800" cy="128016"/>
          </a:xfrm>
          <a:prstGeom prst="rect">
            <a:avLst/>
          </a:prstGeom>
          <a:noFill/>
          <a:ln/>
        </p:spPr>
        <p:txBody>
          <a:bodyPr wrap="square" lIns="0" tIns="0" rIns="0" bIns="0" rtlCol="0" anchor="ctr"/>
          <a:lstStyle/>
          <a:p>
            <a:pPr marL="0" indent="0">
              <a:buNone/>
            </a:pPr>
            <a:r>
              <a:rPr lang="en-US" sz="950" b="1" dirty="0">
                <a:solidFill>
                  <a:srgbClr val="FFFFFF"/>
                </a:solidFill>
              </a:rPr>
              <a:t>Core result</a:t>
            </a:r>
            <a:endParaRPr lang="en-US" sz="950" dirty="0"/>
          </a:p>
        </p:txBody>
      </p:sp>
      <p:sp>
        <p:nvSpPr>
          <p:cNvPr id="10" name="Shape 8"/>
          <p:cNvSpPr/>
          <p:nvPr/>
        </p:nvSpPr>
        <p:spPr>
          <a:xfrm>
            <a:off x="7818120" y="1645920"/>
            <a:ext cx="3730752" cy="438912"/>
          </a:xfrm>
          <a:prstGeom prst="rect">
            <a:avLst/>
          </a:prstGeom>
          <a:solidFill>
            <a:srgbClr val="172033"/>
          </a:solidFill>
          <a:ln w="12700">
            <a:solidFill>
              <a:srgbClr val="172033"/>
            </a:solidFill>
            <a:prstDash val="solid"/>
          </a:ln>
        </p:spPr>
        <p:txBody>
          <a:bodyPr/>
          <a:lstStyle/>
          <a:p>
            <a:endParaRPr/>
          </a:p>
        </p:txBody>
      </p:sp>
      <p:sp>
        <p:nvSpPr>
          <p:cNvPr id="11" name="Text 9"/>
          <p:cNvSpPr/>
          <p:nvPr/>
        </p:nvSpPr>
        <p:spPr>
          <a:xfrm>
            <a:off x="7955280" y="1783080"/>
            <a:ext cx="3456432" cy="128016"/>
          </a:xfrm>
          <a:prstGeom prst="rect">
            <a:avLst/>
          </a:prstGeom>
          <a:noFill/>
          <a:ln/>
        </p:spPr>
        <p:txBody>
          <a:bodyPr wrap="square" lIns="0" tIns="0" rIns="0" bIns="0" rtlCol="0" anchor="ctr"/>
          <a:lstStyle/>
          <a:p>
            <a:pPr marL="0" indent="0">
              <a:buNone/>
            </a:pPr>
            <a:r>
              <a:rPr lang="en-US" sz="950" b="1" dirty="0">
                <a:solidFill>
                  <a:srgbClr val="FFFFFF"/>
                </a:solidFill>
              </a:rPr>
              <a:t>How it shapes our design</a:t>
            </a:r>
            <a:endParaRPr lang="en-US" sz="950" dirty="0"/>
          </a:p>
        </p:txBody>
      </p:sp>
      <p:sp>
        <p:nvSpPr>
          <p:cNvPr id="12" name="Shape 10"/>
          <p:cNvSpPr/>
          <p:nvPr/>
        </p:nvSpPr>
        <p:spPr>
          <a:xfrm>
            <a:off x="658368" y="2084832"/>
            <a:ext cx="2423160" cy="896112"/>
          </a:xfrm>
          <a:prstGeom prst="rect">
            <a:avLst/>
          </a:prstGeom>
          <a:solidFill>
            <a:srgbClr val="FFFFFF"/>
          </a:solidFill>
          <a:ln w="10160">
            <a:solidFill>
              <a:srgbClr val="D8DEE9"/>
            </a:solidFill>
            <a:prstDash val="solid"/>
          </a:ln>
        </p:spPr>
        <p:txBody>
          <a:bodyPr/>
          <a:lstStyle/>
          <a:p>
            <a:endParaRPr/>
          </a:p>
        </p:txBody>
      </p:sp>
      <p:sp>
        <p:nvSpPr>
          <p:cNvPr id="13" name="Shape 11"/>
          <p:cNvSpPr/>
          <p:nvPr/>
        </p:nvSpPr>
        <p:spPr>
          <a:xfrm>
            <a:off x="3246120" y="2084832"/>
            <a:ext cx="4389120" cy="896112"/>
          </a:xfrm>
          <a:prstGeom prst="rect">
            <a:avLst/>
          </a:prstGeom>
          <a:solidFill>
            <a:srgbClr val="FFFFFF"/>
          </a:solidFill>
          <a:ln w="10160">
            <a:solidFill>
              <a:srgbClr val="D8DEE9"/>
            </a:solidFill>
            <a:prstDash val="solid"/>
          </a:ln>
        </p:spPr>
        <p:txBody>
          <a:bodyPr/>
          <a:lstStyle/>
          <a:p>
            <a:endParaRPr/>
          </a:p>
        </p:txBody>
      </p:sp>
      <p:sp>
        <p:nvSpPr>
          <p:cNvPr id="14" name="Shape 12"/>
          <p:cNvSpPr/>
          <p:nvPr/>
        </p:nvSpPr>
        <p:spPr>
          <a:xfrm>
            <a:off x="7818120" y="2084832"/>
            <a:ext cx="3730752" cy="896112"/>
          </a:xfrm>
          <a:prstGeom prst="rect">
            <a:avLst/>
          </a:prstGeom>
          <a:solidFill>
            <a:srgbClr val="FFFFFF"/>
          </a:solidFill>
          <a:ln w="10160">
            <a:solidFill>
              <a:srgbClr val="D8DEE9"/>
            </a:solidFill>
            <a:prstDash val="solid"/>
          </a:ln>
        </p:spPr>
        <p:txBody>
          <a:bodyPr/>
          <a:lstStyle/>
          <a:p>
            <a:endParaRPr/>
          </a:p>
        </p:txBody>
      </p:sp>
      <p:sp>
        <p:nvSpPr>
          <p:cNvPr id="15" name="Text 13"/>
          <p:cNvSpPr/>
          <p:nvPr/>
        </p:nvSpPr>
        <p:spPr>
          <a:xfrm>
            <a:off x="786384" y="2295144"/>
            <a:ext cx="2167128" cy="384048"/>
          </a:xfrm>
          <a:prstGeom prst="rect">
            <a:avLst/>
          </a:prstGeom>
          <a:noFill/>
          <a:ln/>
        </p:spPr>
        <p:txBody>
          <a:bodyPr wrap="square" lIns="0" tIns="0" rIns="0" bIns="0" rtlCol="0" anchor="ctr">
            <a:normAutofit/>
          </a:bodyPr>
          <a:lstStyle/>
          <a:p>
            <a:pPr marL="0" indent="0">
              <a:buNone/>
            </a:pPr>
            <a:r>
              <a:rPr lang="en-US" sz="950" b="1" dirty="0">
                <a:solidFill>
                  <a:srgbClr val="2F6BFF"/>
                </a:solidFill>
              </a:rPr>
              <a:t>Smith et al. (2018)</a:t>
            </a:r>
            <a:endParaRPr lang="en-US" sz="950" dirty="0"/>
          </a:p>
        </p:txBody>
      </p:sp>
      <p:sp>
        <p:nvSpPr>
          <p:cNvPr id="16" name="Text 14"/>
          <p:cNvSpPr/>
          <p:nvPr/>
        </p:nvSpPr>
        <p:spPr>
          <a:xfrm>
            <a:off x="3374136" y="2231136"/>
            <a:ext cx="4133088" cy="594360"/>
          </a:xfrm>
          <a:prstGeom prst="rect">
            <a:avLst/>
          </a:prstGeom>
          <a:noFill/>
          <a:ln/>
        </p:spPr>
        <p:txBody>
          <a:bodyPr wrap="square" lIns="0" tIns="0" rIns="0" bIns="0" rtlCol="0" anchor="ctr">
            <a:normAutofit/>
          </a:bodyPr>
          <a:lstStyle/>
          <a:p>
            <a:pPr marL="0" indent="0">
              <a:buNone/>
            </a:pPr>
            <a:r>
              <a:rPr lang="en-US" sz="920" dirty="0">
                <a:solidFill>
                  <a:srgbClr val="5B6577"/>
                </a:solidFill>
              </a:rPr>
              <a:t>Increasing batch size can replace parts of LR decay while reducing parameter updates.</a:t>
            </a:r>
            <a:endParaRPr lang="en-US" sz="920" dirty="0"/>
          </a:p>
        </p:txBody>
      </p:sp>
      <p:sp>
        <p:nvSpPr>
          <p:cNvPr id="17" name="Text 15"/>
          <p:cNvSpPr/>
          <p:nvPr/>
        </p:nvSpPr>
        <p:spPr>
          <a:xfrm>
            <a:off x="7946136" y="2231136"/>
            <a:ext cx="3474720" cy="594360"/>
          </a:xfrm>
          <a:prstGeom prst="rect">
            <a:avLst/>
          </a:prstGeom>
          <a:noFill/>
          <a:ln/>
        </p:spPr>
        <p:txBody>
          <a:bodyPr wrap="square" lIns="0" tIns="0" rIns="0" bIns="0" rtlCol="0" anchor="ctr">
            <a:normAutofit/>
          </a:bodyPr>
          <a:lstStyle/>
          <a:p>
            <a:pPr marL="0" indent="0">
              <a:buNone/>
            </a:pPr>
            <a:r>
              <a:rPr lang="en-US" sz="920" b="1" dirty="0">
                <a:solidFill>
                  <a:srgbClr val="172033"/>
                </a:solidFill>
              </a:rPr>
              <a:t>Treat batch size and LR as coupled.</a:t>
            </a:r>
            <a:endParaRPr lang="en-US" sz="920" dirty="0"/>
          </a:p>
        </p:txBody>
      </p:sp>
      <p:sp>
        <p:nvSpPr>
          <p:cNvPr id="18" name="Shape 16"/>
          <p:cNvSpPr/>
          <p:nvPr/>
        </p:nvSpPr>
        <p:spPr>
          <a:xfrm>
            <a:off x="658368" y="2980944"/>
            <a:ext cx="2423160" cy="896112"/>
          </a:xfrm>
          <a:prstGeom prst="rect">
            <a:avLst/>
          </a:prstGeom>
          <a:solidFill>
            <a:srgbClr val="F3F6FA"/>
          </a:solidFill>
          <a:ln w="10160">
            <a:solidFill>
              <a:srgbClr val="D8DEE9"/>
            </a:solidFill>
            <a:prstDash val="solid"/>
          </a:ln>
        </p:spPr>
        <p:txBody>
          <a:bodyPr/>
          <a:lstStyle/>
          <a:p>
            <a:endParaRPr/>
          </a:p>
        </p:txBody>
      </p:sp>
      <p:sp>
        <p:nvSpPr>
          <p:cNvPr id="19" name="Shape 17"/>
          <p:cNvSpPr/>
          <p:nvPr/>
        </p:nvSpPr>
        <p:spPr>
          <a:xfrm>
            <a:off x="3246120" y="2980944"/>
            <a:ext cx="4389120" cy="896112"/>
          </a:xfrm>
          <a:prstGeom prst="rect">
            <a:avLst/>
          </a:prstGeom>
          <a:solidFill>
            <a:srgbClr val="F3F6FA"/>
          </a:solidFill>
          <a:ln w="10160">
            <a:solidFill>
              <a:srgbClr val="D8DEE9"/>
            </a:solidFill>
            <a:prstDash val="solid"/>
          </a:ln>
        </p:spPr>
        <p:txBody>
          <a:bodyPr/>
          <a:lstStyle/>
          <a:p>
            <a:endParaRPr/>
          </a:p>
        </p:txBody>
      </p:sp>
      <p:sp>
        <p:nvSpPr>
          <p:cNvPr id="20" name="Shape 18"/>
          <p:cNvSpPr/>
          <p:nvPr/>
        </p:nvSpPr>
        <p:spPr>
          <a:xfrm>
            <a:off x="7818120" y="2980944"/>
            <a:ext cx="3730752" cy="896112"/>
          </a:xfrm>
          <a:prstGeom prst="rect">
            <a:avLst/>
          </a:prstGeom>
          <a:solidFill>
            <a:srgbClr val="F3F6FA"/>
          </a:solidFill>
          <a:ln w="10160">
            <a:solidFill>
              <a:srgbClr val="D8DEE9"/>
            </a:solidFill>
            <a:prstDash val="solid"/>
          </a:ln>
        </p:spPr>
        <p:txBody>
          <a:bodyPr/>
          <a:lstStyle/>
          <a:p>
            <a:endParaRPr/>
          </a:p>
        </p:txBody>
      </p:sp>
      <p:sp>
        <p:nvSpPr>
          <p:cNvPr id="21" name="Text 19"/>
          <p:cNvSpPr/>
          <p:nvPr/>
        </p:nvSpPr>
        <p:spPr>
          <a:xfrm>
            <a:off x="786384" y="3191256"/>
            <a:ext cx="2167128" cy="384048"/>
          </a:xfrm>
          <a:prstGeom prst="rect">
            <a:avLst/>
          </a:prstGeom>
          <a:noFill/>
          <a:ln/>
        </p:spPr>
        <p:txBody>
          <a:bodyPr wrap="square" lIns="0" tIns="0" rIns="0" bIns="0" rtlCol="0" anchor="ctr">
            <a:normAutofit/>
          </a:bodyPr>
          <a:lstStyle/>
          <a:p>
            <a:pPr marL="0" indent="0">
              <a:buNone/>
            </a:pPr>
            <a:r>
              <a:rPr lang="en-US" sz="950" b="1" dirty="0">
                <a:solidFill>
                  <a:srgbClr val="F28E2B"/>
                </a:solidFill>
              </a:rPr>
              <a:t>AdaBatch — Devarakonda et al. (2018)</a:t>
            </a:r>
            <a:endParaRPr lang="en-US" sz="950" dirty="0"/>
          </a:p>
        </p:txBody>
      </p:sp>
      <p:sp>
        <p:nvSpPr>
          <p:cNvPr id="22" name="Text 20"/>
          <p:cNvSpPr/>
          <p:nvPr/>
        </p:nvSpPr>
        <p:spPr>
          <a:xfrm>
            <a:off x="3374136" y="3127248"/>
            <a:ext cx="4133088" cy="594360"/>
          </a:xfrm>
          <a:prstGeom prst="rect">
            <a:avLst/>
          </a:prstGeom>
          <a:noFill/>
          <a:ln/>
        </p:spPr>
        <p:txBody>
          <a:bodyPr wrap="square" lIns="0" tIns="0" rIns="0" bIns="0" rtlCol="0" anchor="ctr">
            <a:normAutofit/>
          </a:bodyPr>
          <a:lstStyle/>
          <a:p>
            <a:pPr marL="0" indent="0">
              <a:buNone/>
            </a:pPr>
            <a:r>
              <a:rPr lang="en-US" sz="920" dirty="0">
                <a:solidFill>
                  <a:srgbClr val="5B6577"/>
                </a:solidFill>
              </a:rPr>
              <a:t>Start small, progressively increase batch size, and gain efficiency with similar accuracy.</a:t>
            </a:r>
            <a:endParaRPr lang="en-US" sz="920" dirty="0"/>
          </a:p>
        </p:txBody>
      </p:sp>
      <p:sp>
        <p:nvSpPr>
          <p:cNvPr id="23" name="Text 21"/>
          <p:cNvSpPr/>
          <p:nvPr/>
        </p:nvSpPr>
        <p:spPr>
          <a:xfrm>
            <a:off x="7946136" y="3127248"/>
            <a:ext cx="3474720" cy="594360"/>
          </a:xfrm>
          <a:prstGeom prst="rect">
            <a:avLst/>
          </a:prstGeom>
          <a:noFill/>
          <a:ln/>
        </p:spPr>
        <p:txBody>
          <a:bodyPr wrap="square" lIns="0" tIns="0" rIns="0" bIns="0" rtlCol="0" anchor="ctr">
            <a:normAutofit/>
          </a:bodyPr>
          <a:lstStyle/>
          <a:p>
            <a:pPr marL="0" indent="0">
              <a:buNone/>
            </a:pPr>
            <a:r>
              <a:rPr lang="en-US" sz="920" b="1" dirty="0">
                <a:solidFill>
                  <a:srgbClr val="172033"/>
                </a:solidFill>
              </a:rPr>
              <a:t>Grow batch rather than selecting one static value.</a:t>
            </a:r>
            <a:endParaRPr lang="en-US" sz="920" dirty="0"/>
          </a:p>
        </p:txBody>
      </p:sp>
      <p:sp>
        <p:nvSpPr>
          <p:cNvPr id="24" name="Shape 22"/>
          <p:cNvSpPr/>
          <p:nvPr/>
        </p:nvSpPr>
        <p:spPr>
          <a:xfrm>
            <a:off x="658368" y="3877056"/>
            <a:ext cx="2423160" cy="896112"/>
          </a:xfrm>
          <a:prstGeom prst="rect">
            <a:avLst/>
          </a:prstGeom>
          <a:solidFill>
            <a:srgbClr val="FFFFFF"/>
          </a:solidFill>
          <a:ln w="10160">
            <a:solidFill>
              <a:srgbClr val="D8DEE9"/>
            </a:solidFill>
            <a:prstDash val="solid"/>
          </a:ln>
        </p:spPr>
        <p:txBody>
          <a:bodyPr/>
          <a:lstStyle/>
          <a:p>
            <a:endParaRPr/>
          </a:p>
        </p:txBody>
      </p:sp>
      <p:sp>
        <p:nvSpPr>
          <p:cNvPr id="25" name="Shape 23"/>
          <p:cNvSpPr/>
          <p:nvPr/>
        </p:nvSpPr>
        <p:spPr>
          <a:xfrm>
            <a:off x="3246120" y="3877056"/>
            <a:ext cx="4389120" cy="896112"/>
          </a:xfrm>
          <a:prstGeom prst="rect">
            <a:avLst/>
          </a:prstGeom>
          <a:solidFill>
            <a:srgbClr val="FFFFFF"/>
          </a:solidFill>
          <a:ln w="10160">
            <a:solidFill>
              <a:srgbClr val="D8DEE9"/>
            </a:solidFill>
            <a:prstDash val="solid"/>
          </a:ln>
        </p:spPr>
        <p:txBody>
          <a:bodyPr/>
          <a:lstStyle/>
          <a:p>
            <a:endParaRPr/>
          </a:p>
        </p:txBody>
      </p:sp>
      <p:sp>
        <p:nvSpPr>
          <p:cNvPr id="26" name="Shape 24"/>
          <p:cNvSpPr/>
          <p:nvPr/>
        </p:nvSpPr>
        <p:spPr>
          <a:xfrm>
            <a:off x="7818120" y="3877056"/>
            <a:ext cx="3730752" cy="896112"/>
          </a:xfrm>
          <a:prstGeom prst="rect">
            <a:avLst/>
          </a:prstGeom>
          <a:solidFill>
            <a:srgbClr val="FFFFFF"/>
          </a:solidFill>
          <a:ln w="10160">
            <a:solidFill>
              <a:srgbClr val="D8DEE9"/>
            </a:solidFill>
            <a:prstDash val="solid"/>
          </a:ln>
        </p:spPr>
        <p:txBody>
          <a:bodyPr/>
          <a:lstStyle/>
          <a:p>
            <a:endParaRPr/>
          </a:p>
        </p:txBody>
      </p:sp>
      <p:sp>
        <p:nvSpPr>
          <p:cNvPr id="27" name="Text 25"/>
          <p:cNvSpPr/>
          <p:nvPr/>
        </p:nvSpPr>
        <p:spPr>
          <a:xfrm>
            <a:off x="786384" y="4087368"/>
            <a:ext cx="2167128" cy="384048"/>
          </a:xfrm>
          <a:prstGeom prst="rect">
            <a:avLst/>
          </a:prstGeom>
          <a:noFill/>
          <a:ln/>
        </p:spPr>
        <p:txBody>
          <a:bodyPr wrap="square" lIns="0" tIns="0" rIns="0" bIns="0" rtlCol="0" anchor="ctr">
            <a:normAutofit/>
          </a:bodyPr>
          <a:lstStyle/>
          <a:p>
            <a:pPr marL="0" indent="0">
              <a:buNone/>
            </a:pPr>
            <a:r>
              <a:rPr lang="en-US" sz="950" b="1" dirty="0">
                <a:solidFill>
                  <a:srgbClr val="0F8B8D"/>
                </a:solidFill>
              </a:rPr>
              <a:t>McCandlish et al. (2018)</a:t>
            </a:r>
            <a:endParaRPr lang="en-US" sz="950" dirty="0"/>
          </a:p>
        </p:txBody>
      </p:sp>
      <p:sp>
        <p:nvSpPr>
          <p:cNvPr id="28" name="Text 26"/>
          <p:cNvSpPr/>
          <p:nvPr/>
        </p:nvSpPr>
        <p:spPr>
          <a:xfrm>
            <a:off x="3374136" y="4023360"/>
            <a:ext cx="4133088" cy="594360"/>
          </a:xfrm>
          <a:prstGeom prst="rect">
            <a:avLst/>
          </a:prstGeom>
          <a:noFill/>
          <a:ln/>
        </p:spPr>
        <p:txBody>
          <a:bodyPr wrap="square" lIns="0" tIns="0" rIns="0" bIns="0" rtlCol="0" anchor="ctr">
            <a:normAutofit/>
          </a:bodyPr>
          <a:lstStyle/>
          <a:p>
            <a:pPr marL="0" indent="0">
              <a:buNone/>
            </a:pPr>
            <a:r>
              <a:rPr lang="en-US" sz="920" dirty="0">
                <a:solidFill>
                  <a:srgbClr val="5B6577"/>
                </a:solidFill>
              </a:rPr>
              <a:t>Gradient noise scale predicts a useful batch-size region and can change during training.</a:t>
            </a:r>
            <a:endParaRPr lang="en-US" sz="920" dirty="0"/>
          </a:p>
        </p:txBody>
      </p:sp>
      <p:sp>
        <p:nvSpPr>
          <p:cNvPr id="29" name="Text 27"/>
          <p:cNvSpPr/>
          <p:nvPr/>
        </p:nvSpPr>
        <p:spPr>
          <a:xfrm>
            <a:off x="7946136" y="4023360"/>
            <a:ext cx="3474720" cy="594360"/>
          </a:xfrm>
          <a:prstGeom prst="rect">
            <a:avLst/>
          </a:prstGeom>
          <a:noFill/>
          <a:ln/>
        </p:spPr>
        <p:txBody>
          <a:bodyPr wrap="square" lIns="0" tIns="0" rIns="0" bIns="0" rtlCol="0" anchor="ctr">
            <a:normAutofit/>
          </a:bodyPr>
          <a:lstStyle/>
          <a:p>
            <a:pPr marL="0" indent="0">
              <a:buNone/>
            </a:pPr>
            <a:r>
              <a:rPr lang="en-US" sz="920" b="1" dirty="0">
                <a:solidFill>
                  <a:srgbClr val="172033"/>
                </a:solidFill>
              </a:rPr>
              <a:t>Use training dynamics as a signal for batch adaptation.</a:t>
            </a:r>
            <a:endParaRPr lang="en-US" sz="920" dirty="0"/>
          </a:p>
        </p:txBody>
      </p:sp>
      <p:sp>
        <p:nvSpPr>
          <p:cNvPr id="30" name="Shape 28"/>
          <p:cNvSpPr/>
          <p:nvPr/>
        </p:nvSpPr>
        <p:spPr>
          <a:xfrm>
            <a:off x="658368" y="4773168"/>
            <a:ext cx="2423160" cy="896112"/>
          </a:xfrm>
          <a:prstGeom prst="rect">
            <a:avLst/>
          </a:prstGeom>
          <a:solidFill>
            <a:srgbClr val="F3F6FA"/>
          </a:solidFill>
          <a:ln w="10160">
            <a:solidFill>
              <a:srgbClr val="D8DEE9"/>
            </a:solidFill>
            <a:prstDash val="solid"/>
          </a:ln>
        </p:spPr>
        <p:txBody>
          <a:bodyPr/>
          <a:lstStyle/>
          <a:p>
            <a:endParaRPr/>
          </a:p>
        </p:txBody>
      </p:sp>
      <p:sp>
        <p:nvSpPr>
          <p:cNvPr id="31" name="Shape 29"/>
          <p:cNvSpPr/>
          <p:nvPr/>
        </p:nvSpPr>
        <p:spPr>
          <a:xfrm>
            <a:off x="3246120" y="4773168"/>
            <a:ext cx="4389120" cy="896112"/>
          </a:xfrm>
          <a:prstGeom prst="rect">
            <a:avLst/>
          </a:prstGeom>
          <a:solidFill>
            <a:srgbClr val="F3F6FA"/>
          </a:solidFill>
          <a:ln w="10160">
            <a:solidFill>
              <a:srgbClr val="D8DEE9"/>
            </a:solidFill>
            <a:prstDash val="solid"/>
          </a:ln>
        </p:spPr>
        <p:txBody>
          <a:bodyPr/>
          <a:lstStyle/>
          <a:p>
            <a:endParaRPr/>
          </a:p>
        </p:txBody>
      </p:sp>
      <p:sp>
        <p:nvSpPr>
          <p:cNvPr id="32" name="Shape 30"/>
          <p:cNvSpPr/>
          <p:nvPr/>
        </p:nvSpPr>
        <p:spPr>
          <a:xfrm>
            <a:off x="7818120" y="4773168"/>
            <a:ext cx="3730752" cy="896112"/>
          </a:xfrm>
          <a:prstGeom prst="rect">
            <a:avLst/>
          </a:prstGeom>
          <a:solidFill>
            <a:srgbClr val="F3F6FA"/>
          </a:solidFill>
          <a:ln w="10160">
            <a:solidFill>
              <a:srgbClr val="D8DEE9"/>
            </a:solidFill>
            <a:prstDash val="solid"/>
          </a:ln>
        </p:spPr>
        <p:txBody>
          <a:bodyPr/>
          <a:lstStyle/>
          <a:p>
            <a:endParaRPr/>
          </a:p>
        </p:txBody>
      </p:sp>
      <p:sp>
        <p:nvSpPr>
          <p:cNvPr id="33" name="Text 31"/>
          <p:cNvSpPr/>
          <p:nvPr/>
        </p:nvSpPr>
        <p:spPr>
          <a:xfrm>
            <a:off x="786384" y="4983480"/>
            <a:ext cx="2167128" cy="384048"/>
          </a:xfrm>
          <a:prstGeom prst="rect">
            <a:avLst/>
          </a:prstGeom>
          <a:noFill/>
          <a:ln/>
        </p:spPr>
        <p:txBody>
          <a:bodyPr wrap="square" lIns="0" tIns="0" rIns="0" bIns="0" rtlCol="0" anchor="ctr">
            <a:normAutofit/>
          </a:bodyPr>
          <a:lstStyle/>
          <a:p>
            <a:pPr marL="0" indent="0">
              <a:buNone/>
            </a:pPr>
            <a:r>
              <a:rPr lang="en-US" sz="950" b="1" dirty="0">
                <a:solidFill>
                  <a:srgbClr val="6F5BD3"/>
                </a:solidFill>
              </a:rPr>
              <a:t>Shallue et al. (2019)</a:t>
            </a:r>
            <a:endParaRPr lang="en-US" sz="950" dirty="0"/>
          </a:p>
        </p:txBody>
      </p:sp>
      <p:sp>
        <p:nvSpPr>
          <p:cNvPr id="34" name="Text 32"/>
          <p:cNvSpPr/>
          <p:nvPr/>
        </p:nvSpPr>
        <p:spPr>
          <a:xfrm>
            <a:off x="3374136" y="4919472"/>
            <a:ext cx="4133088" cy="594360"/>
          </a:xfrm>
          <a:prstGeom prst="rect">
            <a:avLst/>
          </a:prstGeom>
          <a:noFill/>
          <a:ln/>
        </p:spPr>
        <p:txBody>
          <a:bodyPr wrap="square" lIns="0" tIns="0" rIns="0" bIns="0" rtlCol="0" anchor="ctr">
            <a:normAutofit/>
          </a:bodyPr>
          <a:lstStyle/>
          <a:p>
            <a:pPr marL="0" indent="0">
              <a:buNone/>
            </a:pPr>
            <a:r>
              <a:rPr lang="en-US" sz="920" dirty="0">
                <a:solidFill>
                  <a:srgbClr val="5B6577"/>
                </a:solidFill>
              </a:rPr>
              <a:t>Maximum useful batch size is workload-dependent; simple LR scaling rules are not universal.</a:t>
            </a:r>
            <a:endParaRPr lang="en-US" sz="920" dirty="0"/>
          </a:p>
        </p:txBody>
      </p:sp>
      <p:sp>
        <p:nvSpPr>
          <p:cNvPr id="35" name="Text 33"/>
          <p:cNvSpPr/>
          <p:nvPr/>
        </p:nvSpPr>
        <p:spPr>
          <a:xfrm>
            <a:off x="7946136" y="4919472"/>
            <a:ext cx="3474720" cy="594360"/>
          </a:xfrm>
          <a:prstGeom prst="rect">
            <a:avLst/>
          </a:prstGeom>
          <a:noFill/>
          <a:ln/>
        </p:spPr>
        <p:txBody>
          <a:bodyPr wrap="square" lIns="0" tIns="0" rIns="0" bIns="0" rtlCol="0" anchor="ctr">
            <a:normAutofit/>
          </a:bodyPr>
          <a:lstStyle/>
          <a:p>
            <a:pPr marL="0" indent="0">
              <a:buNone/>
            </a:pPr>
            <a:r>
              <a:rPr lang="en-US" sz="920" b="1" dirty="0">
                <a:solidFill>
                  <a:srgbClr val="172033"/>
                </a:solidFill>
              </a:rPr>
              <a:t>Use bounded, empirical adaptation instead of assuming one global rule.</a:t>
            </a:r>
            <a:endParaRPr lang="en-US" sz="920" dirty="0"/>
          </a:p>
        </p:txBody>
      </p:sp>
      <p:sp>
        <p:nvSpPr>
          <p:cNvPr id="36" name="Text 34"/>
          <p:cNvSpPr/>
          <p:nvPr/>
        </p:nvSpPr>
        <p:spPr>
          <a:xfrm>
            <a:off x="612648" y="5824728"/>
            <a:ext cx="1234440" cy="201168"/>
          </a:xfrm>
          <a:prstGeom prst="rect">
            <a:avLst/>
          </a:prstGeom>
          <a:noFill/>
          <a:ln/>
        </p:spPr>
        <p:txBody>
          <a:bodyPr wrap="square" lIns="0" tIns="0" rIns="0" bIns="0" rtlCol="0" anchor="ctr"/>
          <a:lstStyle/>
          <a:p>
            <a:pPr marL="0" indent="0">
              <a:buNone/>
            </a:pPr>
            <a:r>
              <a:rPr lang="en-US" sz="1000" b="1" dirty="0">
                <a:solidFill>
                  <a:srgbClr val="F28E2B"/>
                </a:solidFill>
              </a:rPr>
              <a:t>Important distinction</a:t>
            </a:r>
            <a:endParaRPr lang="en-US" sz="1000" dirty="0"/>
          </a:p>
        </p:txBody>
      </p:sp>
      <p:sp>
        <p:nvSpPr>
          <p:cNvPr id="37" name="Text 35"/>
          <p:cNvSpPr/>
          <p:nvPr/>
        </p:nvSpPr>
        <p:spPr>
          <a:xfrm>
            <a:off x="1965960" y="5760720"/>
            <a:ext cx="9326880" cy="347472"/>
          </a:xfrm>
          <a:prstGeom prst="rect">
            <a:avLst/>
          </a:prstGeom>
          <a:noFill/>
          <a:ln/>
        </p:spPr>
        <p:txBody>
          <a:bodyPr wrap="square" lIns="0" tIns="0" rIns="0" bIns="0" rtlCol="0" anchor="ctr">
            <a:normAutofit/>
          </a:bodyPr>
          <a:lstStyle/>
          <a:p>
            <a:pPr marL="0" indent="0">
              <a:buNone/>
            </a:pPr>
            <a:r>
              <a:rPr lang="en-US" sz="1020" b="1" dirty="0">
                <a:solidFill>
                  <a:srgbClr val="5B6577"/>
                </a:solidFill>
              </a:rPr>
              <a:t>Our “gradient-norm stability” signal is a coefficient of variation of minibatch gradient norms — it is not McCandlish et al.’s formal gradient noise scale.</a:t>
            </a:r>
            <a:endParaRPr lang="en-US" sz="1020" b="1" dirty="0"/>
          </a:p>
        </p:txBody>
      </p:sp>
      <p:sp>
        <p:nvSpPr>
          <p:cNvPr id="38" name="Text 36"/>
          <p:cNvSpPr/>
          <p:nvPr/>
        </p:nvSpPr>
        <p:spPr>
          <a:xfrm>
            <a:off x="612648" y="6263640"/>
            <a:ext cx="10515600" cy="164592"/>
          </a:xfrm>
          <a:prstGeom prst="rect">
            <a:avLst/>
          </a:prstGeom>
          <a:noFill/>
          <a:ln/>
        </p:spPr>
        <p:txBody>
          <a:bodyPr wrap="square" lIns="0" tIns="0" rIns="0" bIns="0" rtlCol="0" anchor="ctr"/>
          <a:lstStyle/>
          <a:p>
            <a:pPr marL="0" indent="0">
              <a:buNone/>
            </a:pPr>
            <a:r>
              <a:rPr lang="en-US" sz="730" i="1" dirty="0">
                <a:solidFill>
                  <a:srgbClr val="7B8496"/>
                </a:solidFill>
              </a:rPr>
              <a:t>Sources: Smith et al. (2018); Devarakonda et al. (2018); McCandlish et al. (2018); Shallue et al. (2019).</a:t>
            </a:r>
            <a:endParaRPr lang="en-US" sz="730" dirty="0"/>
          </a:p>
        </p:txBody>
      </p:sp>
      <p:sp>
        <p:nvSpPr>
          <p:cNvPr id="39" name="Slide Number Placeholder 0"/>
          <p:cNvSpPr>
            <a:spLocks noGrp="1"/>
          </p:cNvSpPr>
          <p:nvPr>
            <p:ph type="sldNum" sz="quarter" idx="4294967295"/>
          </p:nvPr>
        </p:nvSpPr>
        <p:spPr>
          <a:xfrm>
            <a:off x="11384280" y="6473952"/>
            <a:ext cx="32004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7B8496"/>
                </a:solidFill>
                <a:latin typeface="Aptos"/>
                <a:ea typeface="Aptos"/>
                <a:cs typeface="Aptos"/>
              </a:defRPr>
            </a:lvl1pPr>
          </a:lstStyle>
          <a:p>
            <a:r>
              <a:rPr sz="800">
                <a:solidFill>
                  <a:srgbClr val="5B6577"/>
                </a:solidFill>
                <a:latin typeface="Aptos"/>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384048"/>
            <a:ext cx="10881360" cy="411480"/>
          </a:xfrm>
          <a:prstGeom prst="rect">
            <a:avLst/>
          </a:prstGeom>
          <a:noFill/>
          <a:ln/>
        </p:spPr>
        <p:txBody>
          <a:bodyPr wrap="square" lIns="0" tIns="0" rIns="0" bIns="0" rtlCol="0" anchor="ctr"/>
          <a:lstStyle/>
          <a:p>
            <a:pPr marL="0" indent="0">
              <a:buNone/>
            </a:pPr>
            <a:r>
              <a:rPr lang="en-US" sz="2400" b="1" dirty="0">
                <a:solidFill>
                  <a:srgbClr val="172033"/>
                </a:solidFill>
                <a:latin typeface="Aptos Display" pitchFamily="34" charset="0"/>
                <a:ea typeface="Aptos Display" pitchFamily="34" charset="-122"/>
                <a:cs typeface="Aptos Display" pitchFamily="34" charset="-120"/>
              </a:rPr>
              <a:t>Our midterm contribution</a:t>
            </a:r>
            <a:endParaRPr lang="en-US" sz="2400" dirty="0"/>
          </a:p>
        </p:txBody>
      </p:sp>
      <p:sp>
        <p:nvSpPr>
          <p:cNvPr id="3" name="Text 1"/>
          <p:cNvSpPr/>
          <p:nvPr/>
        </p:nvSpPr>
        <p:spPr>
          <a:xfrm>
            <a:off x="612648" y="850392"/>
            <a:ext cx="10789920" cy="310896"/>
          </a:xfrm>
          <a:prstGeom prst="rect">
            <a:avLst/>
          </a:prstGeom>
          <a:noFill/>
          <a:ln/>
        </p:spPr>
        <p:txBody>
          <a:bodyPr wrap="square" lIns="0" tIns="0" rIns="0" bIns="0" rtlCol="0" anchor="ctr"/>
          <a:lstStyle/>
          <a:p>
            <a:pPr marL="0" indent="0">
              <a:buNone/>
            </a:pPr>
            <a:r>
              <a:rPr lang="en-US" sz="1050" dirty="0">
                <a:solidFill>
                  <a:srgbClr val="5B6577"/>
                </a:solidFill>
              </a:rPr>
              <a:t>A controlled four-way comparison with feedback-driven controllers.</a:t>
            </a:r>
            <a:endParaRPr lang="en-US" sz="1050" dirty="0"/>
          </a:p>
        </p:txBody>
      </p:sp>
      <p:sp>
        <p:nvSpPr>
          <p:cNvPr id="4" name="Shape 2"/>
          <p:cNvSpPr/>
          <p:nvPr/>
        </p:nvSpPr>
        <p:spPr>
          <a:xfrm>
            <a:off x="612648" y="1207008"/>
            <a:ext cx="1600200" cy="320040"/>
          </a:xfrm>
          <a:prstGeom prst="roundRect">
            <a:avLst>
              <a:gd name="adj" fmla="val 22857"/>
            </a:avLst>
          </a:prstGeom>
          <a:solidFill>
            <a:srgbClr val="E8F5F4"/>
          </a:solidFill>
          <a:ln w="12700">
            <a:solidFill>
              <a:srgbClr val="E8F5F4"/>
            </a:solidFill>
            <a:prstDash val="solid"/>
          </a:ln>
        </p:spPr>
        <p:txBody>
          <a:bodyPr/>
          <a:lstStyle/>
          <a:p>
            <a:endParaRPr/>
          </a:p>
        </p:txBody>
      </p:sp>
      <p:sp>
        <p:nvSpPr>
          <p:cNvPr id="5" name="Text 3"/>
          <p:cNvSpPr/>
          <p:nvPr/>
        </p:nvSpPr>
        <p:spPr>
          <a:xfrm>
            <a:off x="704088" y="1289304"/>
            <a:ext cx="1417320" cy="118872"/>
          </a:xfrm>
          <a:prstGeom prst="rect">
            <a:avLst/>
          </a:prstGeom>
          <a:noFill/>
          <a:ln/>
        </p:spPr>
        <p:txBody>
          <a:bodyPr wrap="square" lIns="0" tIns="0" rIns="0" bIns="0" rtlCol="0" anchor="ctr"/>
          <a:lstStyle/>
          <a:p>
            <a:pPr marL="0" indent="0" algn="ctr">
              <a:buNone/>
            </a:pPr>
            <a:r>
              <a:rPr lang="en-US" sz="740" b="1" kern="0" spc="120" dirty="0">
                <a:solidFill>
                  <a:srgbClr val="0F8B8D"/>
                </a:solidFill>
              </a:rPr>
              <a:t>RESEARCH GAP</a:t>
            </a:r>
            <a:endParaRPr lang="en-US" sz="740" dirty="0"/>
          </a:p>
        </p:txBody>
      </p:sp>
      <p:sp>
        <p:nvSpPr>
          <p:cNvPr id="6" name="Text 4"/>
          <p:cNvSpPr/>
          <p:nvPr/>
        </p:nvSpPr>
        <p:spPr>
          <a:xfrm>
            <a:off x="676656" y="1700784"/>
            <a:ext cx="5166360" cy="576072"/>
          </a:xfrm>
          <a:prstGeom prst="rect">
            <a:avLst/>
          </a:prstGeom>
          <a:noFill/>
          <a:ln/>
        </p:spPr>
        <p:txBody>
          <a:bodyPr wrap="square" lIns="0" tIns="0" rIns="0" bIns="0" rtlCol="0" anchor="ctr"/>
          <a:lstStyle/>
          <a:p>
            <a:pPr marL="0" indent="0">
              <a:buNone/>
            </a:pPr>
            <a:r>
              <a:rPr lang="en-US" sz="1600" b="1" dirty="0">
                <a:solidFill>
                  <a:srgbClr val="172033"/>
                </a:solidFill>
              </a:rPr>
              <a:t>Prior approaches often use fixed batch sizes, predefined schedules, or large-scale distributed recipes.</a:t>
            </a:r>
            <a:endParaRPr lang="en-US" sz="1600" dirty="0"/>
          </a:p>
        </p:txBody>
      </p:sp>
      <p:sp>
        <p:nvSpPr>
          <p:cNvPr id="7" name="Shape 5"/>
          <p:cNvSpPr/>
          <p:nvPr/>
        </p:nvSpPr>
        <p:spPr>
          <a:xfrm>
            <a:off x="713232" y="2587752"/>
            <a:ext cx="82296" cy="82296"/>
          </a:xfrm>
          <a:prstGeom prst="ellipse">
            <a:avLst/>
          </a:prstGeom>
          <a:solidFill>
            <a:srgbClr val="0F8B8D"/>
          </a:solidFill>
          <a:ln w="12700">
            <a:solidFill>
              <a:srgbClr val="0F8B8D"/>
            </a:solidFill>
            <a:prstDash val="solid"/>
          </a:ln>
        </p:spPr>
        <p:txBody>
          <a:bodyPr/>
          <a:lstStyle/>
          <a:p>
            <a:endParaRPr/>
          </a:p>
        </p:txBody>
      </p:sp>
      <p:sp>
        <p:nvSpPr>
          <p:cNvPr id="8" name="Text 6"/>
          <p:cNvSpPr/>
          <p:nvPr/>
        </p:nvSpPr>
        <p:spPr>
          <a:xfrm>
            <a:off x="877824" y="2514600"/>
            <a:ext cx="5047488" cy="292608"/>
          </a:xfrm>
          <a:prstGeom prst="rect">
            <a:avLst/>
          </a:prstGeom>
          <a:noFill/>
          <a:ln/>
        </p:spPr>
        <p:txBody>
          <a:bodyPr wrap="square" lIns="0" tIns="0" rIns="0" bIns="0" rtlCol="0" anchor="ctr"/>
          <a:lstStyle/>
          <a:p>
            <a:pPr marL="0" indent="0">
              <a:buNone/>
            </a:pPr>
            <a:r>
              <a:rPr lang="en-US" sz="1050" dirty="0">
                <a:solidFill>
                  <a:srgbClr val="5B6577"/>
                </a:solidFill>
              </a:rPr>
              <a:t>We trigger batch growth from validation plateau + gradient-norm stability.</a:t>
            </a:r>
            <a:endParaRPr lang="en-US" sz="1050" dirty="0"/>
          </a:p>
        </p:txBody>
      </p:sp>
      <p:sp>
        <p:nvSpPr>
          <p:cNvPr id="9" name="Shape 7"/>
          <p:cNvSpPr/>
          <p:nvPr/>
        </p:nvSpPr>
        <p:spPr>
          <a:xfrm>
            <a:off x="713232" y="3163824"/>
            <a:ext cx="82296" cy="82296"/>
          </a:xfrm>
          <a:prstGeom prst="ellipse">
            <a:avLst/>
          </a:prstGeom>
          <a:solidFill>
            <a:srgbClr val="0F8B8D"/>
          </a:solidFill>
          <a:ln w="12700">
            <a:solidFill>
              <a:srgbClr val="0F8B8D"/>
            </a:solidFill>
            <a:prstDash val="solid"/>
          </a:ln>
        </p:spPr>
        <p:txBody>
          <a:bodyPr/>
          <a:lstStyle/>
          <a:p>
            <a:endParaRPr/>
          </a:p>
        </p:txBody>
      </p:sp>
      <p:sp>
        <p:nvSpPr>
          <p:cNvPr id="10" name="Text 8"/>
          <p:cNvSpPr/>
          <p:nvPr/>
        </p:nvSpPr>
        <p:spPr>
          <a:xfrm>
            <a:off x="877824" y="3090672"/>
            <a:ext cx="5047488" cy="292608"/>
          </a:xfrm>
          <a:prstGeom prst="rect">
            <a:avLst/>
          </a:prstGeom>
          <a:noFill/>
          <a:ln/>
        </p:spPr>
        <p:txBody>
          <a:bodyPr wrap="square" lIns="0" tIns="0" rIns="0" bIns="0" rtlCol="0" anchor="ctr"/>
          <a:lstStyle/>
          <a:p>
            <a:pPr marL="0" indent="0">
              <a:buNone/>
            </a:pPr>
            <a:r>
              <a:rPr lang="en-US" sz="1050" dirty="0">
                <a:solidFill>
                  <a:srgbClr val="5B6577"/>
                </a:solidFill>
              </a:rPr>
              <a:t>We trigger LR decay from validation loss/accuracy feedback.</a:t>
            </a:r>
            <a:endParaRPr lang="en-US" sz="1050" dirty="0"/>
          </a:p>
        </p:txBody>
      </p:sp>
      <p:sp>
        <p:nvSpPr>
          <p:cNvPr id="11" name="Shape 9"/>
          <p:cNvSpPr/>
          <p:nvPr/>
        </p:nvSpPr>
        <p:spPr>
          <a:xfrm>
            <a:off x="713232" y="3739896"/>
            <a:ext cx="82296" cy="82296"/>
          </a:xfrm>
          <a:prstGeom prst="ellipse">
            <a:avLst/>
          </a:prstGeom>
          <a:solidFill>
            <a:srgbClr val="0F8B8D"/>
          </a:solidFill>
          <a:ln w="12700">
            <a:solidFill>
              <a:srgbClr val="0F8B8D"/>
            </a:solidFill>
            <a:prstDash val="solid"/>
          </a:ln>
        </p:spPr>
        <p:txBody>
          <a:bodyPr/>
          <a:lstStyle/>
          <a:p>
            <a:endParaRPr/>
          </a:p>
        </p:txBody>
      </p:sp>
      <p:sp>
        <p:nvSpPr>
          <p:cNvPr id="12" name="Text 10"/>
          <p:cNvSpPr/>
          <p:nvPr/>
        </p:nvSpPr>
        <p:spPr>
          <a:xfrm>
            <a:off x="877824" y="3666744"/>
            <a:ext cx="5047488" cy="292608"/>
          </a:xfrm>
          <a:prstGeom prst="rect">
            <a:avLst/>
          </a:prstGeom>
          <a:noFill/>
          <a:ln/>
        </p:spPr>
        <p:txBody>
          <a:bodyPr wrap="square" lIns="0" tIns="0" rIns="0" bIns="0" rtlCol="0" anchor="ctr"/>
          <a:lstStyle/>
          <a:p>
            <a:pPr marL="0" indent="0">
              <a:buNone/>
            </a:pPr>
            <a:r>
              <a:rPr lang="en-US" sz="1050" dirty="0">
                <a:solidFill>
                  <a:srgbClr val="5B6577"/>
                </a:solidFill>
              </a:rPr>
              <a:t>In E4, the LR is recomputed using the batch selected for the next epoch.</a:t>
            </a:r>
            <a:endParaRPr lang="en-US" sz="1050" dirty="0"/>
          </a:p>
        </p:txBody>
      </p:sp>
      <p:sp>
        <p:nvSpPr>
          <p:cNvPr id="13" name="Shape 11"/>
          <p:cNvSpPr/>
          <p:nvPr/>
        </p:nvSpPr>
        <p:spPr>
          <a:xfrm>
            <a:off x="713232" y="4315968"/>
            <a:ext cx="82296" cy="82296"/>
          </a:xfrm>
          <a:prstGeom prst="ellipse">
            <a:avLst/>
          </a:prstGeom>
          <a:solidFill>
            <a:srgbClr val="0F8B8D"/>
          </a:solidFill>
          <a:ln w="12700">
            <a:solidFill>
              <a:srgbClr val="0F8B8D"/>
            </a:solidFill>
            <a:prstDash val="solid"/>
          </a:ln>
        </p:spPr>
        <p:txBody>
          <a:bodyPr/>
          <a:lstStyle/>
          <a:p>
            <a:endParaRPr/>
          </a:p>
        </p:txBody>
      </p:sp>
      <p:sp>
        <p:nvSpPr>
          <p:cNvPr id="14" name="Text 12"/>
          <p:cNvSpPr/>
          <p:nvPr/>
        </p:nvSpPr>
        <p:spPr>
          <a:xfrm>
            <a:off x="877824" y="4242816"/>
            <a:ext cx="5047488" cy="292608"/>
          </a:xfrm>
          <a:prstGeom prst="rect">
            <a:avLst/>
          </a:prstGeom>
          <a:noFill/>
          <a:ln/>
        </p:spPr>
        <p:txBody>
          <a:bodyPr wrap="square" lIns="0" tIns="0" rIns="0" bIns="0" rtlCol="0" anchor="ctr"/>
          <a:lstStyle/>
          <a:p>
            <a:pPr marL="0" indent="0">
              <a:buNone/>
            </a:pPr>
            <a:r>
              <a:rPr lang="en-US" sz="1050" dirty="0">
                <a:solidFill>
                  <a:srgbClr val="5B6577"/>
                </a:solidFill>
              </a:rPr>
              <a:t>We measure accuracy, loss, macro-F1, optimizer updates, and time-to-target.</a:t>
            </a:r>
            <a:endParaRPr lang="en-US" sz="1050" dirty="0"/>
          </a:p>
        </p:txBody>
      </p:sp>
      <p:sp>
        <p:nvSpPr>
          <p:cNvPr id="15" name="Shape 13"/>
          <p:cNvSpPr/>
          <p:nvPr/>
        </p:nvSpPr>
        <p:spPr>
          <a:xfrm>
            <a:off x="6263640" y="1645920"/>
            <a:ext cx="5230368" cy="3977640"/>
          </a:xfrm>
          <a:prstGeom prst="roundRect">
            <a:avLst>
              <a:gd name="adj" fmla="val 1839"/>
            </a:avLst>
          </a:prstGeom>
          <a:solidFill>
            <a:srgbClr val="FFFFFF"/>
          </a:solidFill>
          <a:ln w="12700">
            <a:solidFill>
              <a:srgbClr val="D8DEE9"/>
            </a:solidFill>
            <a:prstDash val="solid"/>
          </a:ln>
        </p:spPr>
        <p:txBody>
          <a:bodyPr/>
          <a:lstStyle/>
          <a:p>
            <a:endParaRPr/>
          </a:p>
        </p:txBody>
      </p:sp>
      <p:sp>
        <p:nvSpPr>
          <p:cNvPr id="16" name="Text 14"/>
          <p:cNvSpPr/>
          <p:nvPr/>
        </p:nvSpPr>
        <p:spPr>
          <a:xfrm>
            <a:off x="6537960" y="1874520"/>
            <a:ext cx="4663440" cy="274320"/>
          </a:xfrm>
          <a:prstGeom prst="rect">
            <a:avLst/>
          </a:prstGeom>
          <a:noFill/>
          <a:ln/>
        </p:spPr>
        <p:txBody>
          <a:bodyPr wrap="square" lIns="0" tIns="0" rIns="0" bIns="0" rtlCol="0" anchor="ctr"/>
          <a:lstStyle/>
          <a:p>
            <a:pPr marL="0" indent="0">
              <a:buNone/>
            </a:pPr>
            <a:r>
              <a:rPr lang="en-US" sz="1500" b="1" dirty="0">
                <a:solidFill>
                  <a:srgbClr val="172033"/>
                </a:solidFill>
              </a:rPr>
              <a:t>Factorial experiment design</a:t>
            </a:r>
            <a:endParaRPr lang="en-US" sz="1500" dirty="0"/>
          </a:p>
        </p:txBody>
      </p:sp>
      <p:sp>
        <p:nvSpPr>
          <p:cNvPr id="17" name="Shape 15"/>
          <p:cNvSpPr/>
          <p:nvPr/>
        </p:nvSpPr>
        <p:spPr>
          <a:xfrm>
            <a:off x="6629400" y="2423160"/>
            <a:ext cx="2057400" cy="1143000"/>
          </a:xfrm>
          <a:prstGeom prst="roundRect">
            <a:avLst>
              <a:gd name="adj" fmla="val 4000"/>
            </a:avLst>
          </a:prstGeom>
          <a:solidFill>
            <a:srgbClr val="F8FAFD"/>
          </a:solidFill>
          <a:ln w="25400">
            <a:solidFill>
              <a:srgbClr val="8A94A6"/>
            </a:solidFill>
            <a:prstDash val="solid"/>
          </a:ln>
        </p:spPr>
        <p:txBody>
          <a:bodyPr/>
          <a:lstStyle/>
          <a:p>
            <a:endParaRPr/>
          </a:p>
        </p:txBody>
      </p:sp>
      <p:sp>
        <p:nvSpPr>
          <p:cNvPr id="18" name="Text 16"/>
          <p:cNvSpPr/>
          <p:nvPr/>
        </p:nvSpPr>
        <p:spPr>
          <a:xfrm>
            <a:off x="6775704" y="2587752"/>
            <a:ext cx="420624" cy="228600"/>
          </a:xfrm>
          <a:prstGeom prst="rect">
            <a:avLst/>
          </a:prstGeom>
          <a:noFill/>
          <a:ln/>
        </p:spPr>
        <p:txBody>
          <a:bodyPr wrap="square" lIns="0" tIns="0" rIns="0" bIns="0" rtlCol="0" anchor="ctr"/>
          <a:lstStyle/>
          <a:p>
            <a:pPr marL="0" indent="0">
              <a:buNone/>
            </a:pPr>
            <a:r>
              <a:rPr lang="en-US" sz="1300" b="1" dirty="0">
                <a:solidFill>
                  <a:srgbClr val="8A94A6"/>
                </a:solidFill>
              </a:rPr>
              <a:t>E1</a:t>
            </a:r>
            <a:endParaRPr lang="en-US" sz="1300" dirty="0"/>
          </a:p>
        </p:txBody>
      </p:sp>
      <p:sp>
        <p:nvSpPr>
          <p:cNvPr id="19" name="Text 17"/>
          <p:cNvSpPr/>
          <p:nvPr/>
        </p:nvSpPr>
        <p:spPr>
          <a:xfrm>
            <a:off x="7223760" y="2624328"/>
            <a:ext cx="1261872" cy="640080"/>
          </a:xfrm>
          <a:prstGeom prst="rect">
            <a:avLst/>
          </a:prstGeom>
          <a:noFill/>
          <a:ln/>
        </p:spPr>
        <p:txBody>
          <a:bodyPr wrap="square" lIns="0" tIns="0" rIns="0" bIns="0" rtlCol="0" anchor="ctr">
            <a:normAutofit/>
          </a:bodyPr>
          <a:lstStyle/>
          <a:p>
            <a:pPr marL="0" indent="0">
              <a:buNone/>
            </a:pPr>
            <a:r>
              <a:rPr lang="en-US" sz="1100" b="1" dirty="0">
                <a:solidFill>
                  <a:srgbClr val="172033"/>
                </a:solidFill>
              </a:rPr>
              <a:t>Fixed batch</a:t>
            </a:r>
            <a:endParaRPr lang="en-US" sz="1100" dirty="0"/>
          </a:p>
          <a:p>
            <a:pPr marL="0" indent="0">
              <a:buNone/>
            </a:pPr>
            <a:r>
              <a:rPr lang="en-US" sz="1100" b="1" dirty="0">
                <a:solidFill>
                  <a:srgbClr val="172033"/>
                </a:solidFill>
              </a:rPr>
              <a:t>Fixed LR</a:t>
            </a:r>
            <a:endParaRPr lang="en-US" sz="1100" dirty="0"/>
          </a:p>
        </p:txBody>
      </p:sp>
      <p:sp>
        <p:nvSpPr>
          <p:cNvPr id="20" name="Shape 18"/>
          <p:cNvSpPr/>
          <p:nvPr/>
        </p:nvSpPr>
        <p:spPr>
          <a:xfrm>
            <a:off x="8961120" y="2423160"/>
            <a:ext cx="2057400" cy="1143000"/>
          </a:xfrm>
          <a:prstGeom prst="roundRect">
            <a:avLst>
              <a:gd name="adj" fmla="val 4000"/>
            </a:avLst>
          </a:prstGeom>
          <a:solidFill>
            <a:srgbClr val="F8FAFD"/>
          </a:solidFill>
          <a:ln w="25400">
            <a:solidFill>
              <a:srgbClr val="6F5BD3"/>
            </a:solidFill>
            <a:prstDash val="solid"/>
          </a:ln>
        </p:spPr>
        <p:txBody>
          <a:bodyPr/>
          <a:lstStyle/>
          <a:p>
            <a:endParaRPr/>
          </a:p>
        </p:txBody>
      </p:sp>
      <p:sp>
        <p:nvSpPr>
          <p:cNvPr id="21" name="Text 19"/>
          <p:cNvSpPr/>
          <p:nvPr/>
        </p:nvSpPr>
        <p:spPr>
          <a:xfrm>
            <a:off x="9107424" y="2587752"/>
            <a:ext cx="420624" cy="228600"/>
          </a:xfrm>
          <a:prstGeom prst="rect">
            <a:avLst/>
          </a:prstGeom>
          <a:noFill/>
          <a:ln/>
        </p:spPr>
        <p:txBody>
          <a:bodyPr wrap="square" lIns="0" tIns="0" rIns="0" bIns="0" rtlCol="0" anchor="ctr"/>
          <a:lstStyle/>
          <a:p>
            <a:pPr marL="0" indent="0">
              <a:buNone/>
            </a:pPr>
            <a:r>
              <a:rPr lang="en-US" sz="1300" b="1" dirty="0">
                <a:solidFill>
                  <a:srgbClr val="6F5BD3"/>
                </a:solidFill>
              </a:rPr>
              <a:t>E2</a:t>
            </a:r>
            <a:endParaRPr lang="en-US" sz="1300" dirty="0"/>
          </a:p>
        </p:txBody>
      </p:sp>
      <p:sp>
        <p:nvSpPr>
          <p:cNvPr id="22" name="Text 20"/>
          <p:cNvSpPr/>
          <p:nvPr/>
        </p:nvSpPr>
        <p:spPr>
          <a:xfrm>
            <a:off x="9555480" y="2624328"/>
            <a:ext cx="1261872" cy="640080"/>
          </a:xfrm>
          <a:prstGeom prst="rect">
            <a:avLst/>
          </a:prstGeom>
          <a:noFill/>
          <a:ln/>
        </p:spPr>
        <p:txBody>
          <a:bodyPr wrap="square" lIns="0" tIns="0" rIns="0" bIns="0" rtlCol="0" anchor="ctr">
            <a:normAutofit/>
          </a:bodyPr>
          <a:lstStyle/>
          <a:p>
            <a:pPr marL="0" indent="0">
              <a:buNone/>
            </a:pPr>
            <a:r>
              <a:rPr lang="en-US" sz="1100" b="1" dirty="0">
                <a:solidFill>
                  <a:srgbClr val="172033"/>
                </a:solidFill>
              </a:rPr>
              <a:t>Adaptive batch</a:t>
            </a:r>
            <a:endParaRPr lang="en-US" sz="1100" dirty="0"/>
          </a:p>
          <a:p>
            <a:pPr marL="0" indent="0">
              <a:buNone/>
            </a:pPr>
            <a:r>
              <a:rPr lang="en-US" sz="1100" b="1" dirty="0">
                <a:solidFill>
                  <a:srgbClr val="172033"/>
                </a:solidFill>
              </a:rPr>
              <a:t>Fixed LR</a:t>
            </a:r>
            <a:endParaRPr lang="en-US" sz="1100" dirty="0"/>
          </a:p>
        </p:txBody>
      </p:sp>
      <p:sp>
        <p:nvSpPr>
          <p:cNvPr id="23" name="Shape 21"/>
          <p:cNvSpPr/>
          <p:nvPr/>
        </p:nvSpPr>
        <p:spPr>
          <a:xfrm>
            <a:off x="6629400" y="3840480"/>
            <a:ext cx="2057400" cy="1143000"/>
          </a:xfrm>
          <a:prstGeom prst="roundRect">
            <a:avLst>
              <a:gd name="adj" fmla="val 4000"/>
            </a:avLst>
          </a:prstGeom>
          <a:solidFill>
            <a:srgbClr val="F8FAFD"/>
          </a:solidFill>
          <a:ln w="25400">
            <a:solidFill>
              <a:srgbClr val="2F6BFF"/>
            </a:solidFill>
            <a:prstDash val="solid"/>
          </a:ln>
        </p:spPr>
        <p:txBody>
          <a:bodyPr/>
          <a:lstStyle/>
          <a:p>
            <a:endParaRPr/>
          </a:p>
        </p:txBody>
      </p:sp>
      <p:sp>
        <p:nvSpPr>
          <p:cNvPr id="24" name="Text 22"/>
          <p:cNvSpPr/>
          <p:nvPr/>
        </p:nvSpPr>
        <p:spPr>
          <a:xfrm>
            <a:off x="6775704" y="4005072"/>
            <a:ext cx="420624" cy="228600"/>
          </a:xfrm>
          <a:prstGeom prst="rect">
            <a:avLst/>
          </a:prstGeom>
          <a:noFill/>
          <a:ln/>
        </p:spPr>
        <p:txBody>
          <a:bodyPr wrap="square" lIns="0" tIns="0" rIns="0" bIns="0" rtlCol="0" anchor="ctr"/>
          <a:lstStyle/>
          <a:p>
            <a:pPr marL="0" indent="0">
              <a:buNone/>
            </a:pPr>
            <a:r>
              <a:rPr lang="en-US" sz="1300" b="1" dirty="0">
                <a:solidFill>
                  <a:srgbClr val="2F6BFF"/>
                </a:solidFill>
              </a:rPr>
              <a:t>E3</a:t>
            </a:r>
            <a:endParaRPr lang="en-US" sz="1300" dirty="0"/>
          </a:p>
        </p:txBody>
      </p:sp>
      <p:sp>
        <p:nvSpPr>
          <p:cNvPr id="25" name="Text 23"/>
          <p:cNvSpPr/>
          <p:nvPr/>
        </p:nvSpPr>
        <p:spPr>
          <a:xfrm>
            <a:off x="7223760" y="4041648"/>
            <a:ext cx="1261872" cy="640080"/>
          </a:xfrm>
          <a:prstGeom prst="rect">
            <a:avLst/>
          </a:prstGeom>
          <a:noFill/>
          <a:ln/>
        </p:spPr>
        <p:txBody>
          <a:bodyPr wrap="square" lIns="0" tIns="0" rIns="0" bIns="0" rtlCol="0" anchor="ctr">
            <a:normAutofit/>
          </a:bodyPr>
          <a:lstStyle/>
          <a:p>
            <a:pPr marL="0" indent="0">
              <a:buNone/>
            </a:pPr>
            <a:r>
              <a:rPr lang="en-US" sz="1100" b="1" dirty="0">
                <a:solidFill>
                  <a:srgbClr val="172033"/>
                </a:solidFill>
              </a:rPr>
              <a:t>Fixed batch</a:t>
            </a:r>
            <a:endParaRPr lang="en-US" sz="1100" dirty="0"/>
          </a:p>
          <a:p>
            <a:pPr marL="0" indent="0">
              <a:buNone/>
            </a:pPr>
            <a:r>
              <a:rPr lang="en-US" sz="1100" b="1" dirty="0">
                <a:solidFill>
                  <a:srgbClr val="172033"/>
                </a:solidFill>
              </a:rPr>
              <a:t>Adaptive LR</a:t>
            </a:r>
            <a:endParaRPr lang="en-US" sz="1100" dirty="0"/>
          </a:p>
        </p:txBody>
      </p:sp>
      <p:sp>
        <p:nvSpPr>
          <p:cNvPr id="26" name="Shape 24"/>
          <p:cNvSpPr/>
          <p:nvPr/>
        </p:nvSpPr>
        <p:spPr>
          <a:xfrm>
            <a:off x="8961120" y="3840480"/>
            <a:ext cx="2057400" cy="1143000"/>
          </a:xfrm>
          <a:prstGeom prst="roundRect">
            <a:avLst>
              <a:gd name="adj" fmla="val 4000"/>
            </a:avLst>
          </a:prstGeom>
          <a:solidFill>
            <a:srgbClr val="F8FAFD"/>
          </a:solidFill>
          <a:ln w="25400">
            <a:solidFill>
              <a:srgbClr val="F28E2B"/>
            </a:solidFill>
            <a:prstDash val="solid"/>
          </a:ln>
        </p:spPr>
        <p:txBody>
          <a:bodyPr/>
          <a:lstStyle/>
          <a:p>
            <a:endParaRPr/>
          </a:p>
        </p:txBody>
      </p:sp>
      <p:sp>
        <p:nvSpPr>
          <p:cNvPr id="27" name="Text 25"/>
          <p:cNvSpPr/>
          <p:nvPr/>
        </p:nvSpPr>
        <p:spPr>
          <a:xfrm>
            <a:off x="9107424" y="4005072"/>
            <a:ext cx="420624" cy="228600"/>
          </a:xfrm>
          <a:prstGeom prst="rect">
            <a:avLst/>
          </a:prstGeom>
          <a:noFill/>
          <a:ln/>
        </p:spPr>
        <p:txBody>
          <a:bodyPr wrap="square" lIns="0" tIns="0" rIns="0" bIns="0" rtlCol="0" anchor="ctr"/>
          <a:lstStyle/>
          <a:p>
            <a:pPr marL="0" indent="0">
              <a:buNone/>
            </a:pPr>
            <a:r>
              <a:rPr lang="en-US" sz="1300" b="1" dirty="0">
                <a:solidFill>
                  <a:srgbClr val="F28E2B"/>
                </a:solidFill>
              </a:rPr>
              <a:t>E4</a:t>
            </a:r>
            <a:endParaRPr lang="en-US" sz="1300" dirty="0"/>
          </a:p>
        </p:txBody>
      </p:sp>
      <p:sp>
        <p:nvSpPr>
          <p:cNvPr id="28" name="Text 26"/>
          <p:cNvSpPr/>
          <p:nvPr/>
        </p:nvSpPr>
        <p:spPr>
          <a:xfrm>
            <a:off x="9555480" y="4041648"/>
            <a:ext cx="1261872" cy="640080"/>
          </a:xfrm>
          <a:prstGeom prst="rect">
            <a:avLst/>
          </a:prstGeom>
          <a:noFill/>
          <a:ln/>
        </p:spPr>
        <p:txBody>
          <a:bodyPr wrap="square" lIns="0" tIns="0" rIns="0" bIns="0" rtlCol="0" anchor="ctr">
            <a:normAutofit/>
          </a:bodyPr>
          <a:lstStyle/>
          <a:p>
            <a:pPr marL="0" indent="0">
              <a:buNone/>
            </a:pPr>
            <a:r>
              <a:rPr lang="en-US" sz="1100" b="1" dirty="0">
                <a:solidFill>
                  <a:srgbClr val="172033"/>
                </a:solidFill>
              </a:rPr>
              <a:t>Adaptive batch</a:t>
            </a:r>
            <a:endParaRPr lang="en-US" sz="1100" dirty="0"/>
          </a:p>
          <a:p>
            <a:pPr marL="0" indent="0">
              <a:buNone/>
            </a:pPr>
            <a:r>
              <a:rPr lang="en-US" sz="1100" b="1" dirty="0">
                <a:solidFill>
                  <a:srgbClr val="172033"/>
                </a:solidFill>
              </a:rPr>
              <a:t>Adaptive LR</a:t>
            </a:r>
            <a:endParaRPr lang="en-US" sz="1100" dirty="0"/>
          </a:p>
        </p:txBody>
      </p:sp>
      <p:sp>
        <p:nvSpPr>
          <p:cNvPr id="29" name="Text 27"/>
          <p:cNvSpPr/>
          <p:nvPr/>
        </p:nvSpPr>
        <p:spPr>
          <a:xfrm>
            <a:off x="6537960" y="5285232"/>
            <a:ext cx="4572000" cy="256032"/>
          </a:xfrm>
          <a:prstGeom prst="rect">
            <a:avLst/>
          </a:prstGeom>
          <a:noFill/>
          <a:ln/>
        </p:spPr>
        <p:txBody>
          <a:bodyPr wrap="square" lIns="0" tIns="0" rIns="0" bIns="0" rtlCol="0" anchor="ctr"/>
          <a:lstStyle/>
          <a:p>
            <a:pPr marL="0" indent="0" algn="ctr">
              <a:buNone/>
            </a:pPr>
            <a:r>
              <a:rPr sz="900" b="1">
                <a:solidFill>
                  <a:srgbClr val="172033"/>
                </a:solidFill>
                <a:latin typeface="Aptos"/>
              </a:rPr>
              <a:t>Same split within each dataset • same model • same seed • same optimizer family • fixed dataset-specific budgets (80 / 120 epochs)</a:t>
            </a:r>
            <a:endParaRPr lang="en-US" sz="880" dirty="0"/>
          </a:p>
        </p:txBody>
      </p:sp>
      <p:sp>
        <p:nvSpPr>
          <p:cNvPr id="30" name="Slide Number Placeholder 0"/>
          <p:cNvSpPr>
            <a:spLocks noGrp="1"/>
          </p:cNvSpPr>
          <p:nvPr>
            <p:ph type="sldNum" sz="quarter" idx="4294967295"/>
          </p:nvPr>
        </p:nvSpPr>
        <p:spPr>
          <a:xfrm>
            <a:off x="11384280" y="6473952"/>
            <a:ext cx="32004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7B8496"/>
                </a:solidFill>
                <a:latin typeface="Aptos"/>
                <a:ea typeface="Aptos"/>
                <a:cs typeface="Aptos"/>
              </a:defRPr>
            </a:lvl1pPr>
          </a:lstStyle>
          <a:p>
            <a:r>
              <a:rPr sz="800">
                <a:solidFill>
                  <a:srgbClr val="5B6577"/>
                </a:solidFill>
                <a:latin typeface="Aptos"/>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Box 1"/>
          <p:cNvSpPr txBox="1"/>
          <p:nvPr/>
        </p:nvSpPr>
        <p:spPr>
          <a:xfrm>
            <a:off x="566928" y="347472"/>
            <a:ext cx="10789920" cy="411480"/>
          </a:xfrm>
          <a:prstGeom prst="rect">
            <a:avLst/>
          </a:prstGeom>
          <a:noFill/>
        </p:spPr>
        <p:txBody>
          <a:bodyPr wrap="none" lIns="0" tIns="0" rIns="0" bIns="0" anchor="t">
            <a:spAutoFit/>
          </a:bodyPr>
          <a:lstStyle/>
          <a:p>
            <a:pPr algn="l"/>
            <a:r>
              <a:rPr sz="2400" b="1">
                <a:solidFill>
                  <a:srgbClr val="172033"/>
                </a:solidFill>
                <a:latin typeface="Aptos Display"/>
              </a:rPr>
              <a:t>Experimental setup — data, budget, and training controls</a:t>
            </a:r>
          </a:p>
        </p:txBody>
      </p:sp>
      <p:sp>
        <p:nvSpPr>
          <p:cNvPr id="3" name="TextBox 2"/>
          <p:cNvSpPr txBox="1"/>
          <p:nvPr/>
        </p:nvSpPr>
        <p:spPr>
          <a:xfrm>
            <a:off x="585216" y="832104"/>
            <a:ext cx="10744200" cy="301752"/>
          </a:xfrm>
          <a:prstGeom prst="rect">
            <a:avLst/>
          </a:prstGeom>
          <a:noFill/>
        </p:spPr>
        <p:txBody>
          <a:bodyPr wrap="none" lIns="0" tIns="0" rIns="0" bIns="0" anchor="t">
            <a:spAutoFit/>
          </a:bodyPr>
          <a:lstStyle/>
          <a:p>
            <a:pPr algn="l"/>
            <a:r>
              <a:rPr sz="1050" b="0">
                <a:solidFill>
                  <a:srgbClr val="5B6577"/>
                </a:solidFill>
                <a:latin typeface="Aptos"/>
              </a:rPr>
              <a:t>The backbone and optimizer recipe are shared; dataset size, class count, and epoch budget differ.</a:t>
            </a:r>
          </a:p>
        </p:txBody>
      </p:sp>
      <p:sp>
        <p:nvSpPr>
          <p:cNvPr id="4" name="Rounded Rectangle 3"/>
          <p:cNvSpPr/>
          <p:nvPr/>
        </p:nvSpPr>
        <p:spPr>
          <a:xfrm>
            <a:off x="585216" y="1225296"/>
            <a:ext cx="1417320" cy="256032"/>
          </a:xfrm>
          <a:prstGeom prst="roundRect">
            <a:avLst/>
          </a:prstGeom>
          <a:solidFill>
            <a:srgbClr val="E8F5F4"/>
          </a:solidFill>
          <a:ln w="12700">
            <a:solidFill>
              <a:srgbClr val="E8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67512" y="1271016"/>
            <a:ext cx="1234440" cy="128016"/>
          </a:xfrm>
          <a:prstGeom prst="rect">
            <a:avLst/>
          </a:prstGeom>
          <a:noFill/>
        </p:spPr>
        <p:txBody>
          <a:bodyPr wrap="none" lIns="0" tIns="0" rIns="0" bIns="0" anchor="ctr">
            <a:spAutoFit/>
          </a:bodyPr>
          <a:lstStyle/>
          <a:p>
            <a:pPr algn="l"/>
            <a:r>
              <a:rPr sz="760" b="1">
                <a:solidFill>
                  <a:srgbClr val="0F8B8D"/>
                </a:solidFill>
                <a:latin typeface="Aptos"/>
              </a:rPr>
              <a:t>SETUP</a:t>
            </a:r>
          </a:p>
        </p:txBody>
      </p:sp>
      <p:sp>
        <p:nvSpPr>
          <p:cNvPr id="6" name="Rectangle 5"/>
          <p:cNvSpPr/>
          <p:nvPr/>
        </p:nvSpPr>
        <p:spPr>
          <a:xfrm>
            <a:off x="6044183" y="1527048"/>
            <a:ext cx="45719" cy="4315968"/>
          </a:xfrm>
          <a:prstGeom prst="rect">
            <a:avLst/>
          </a:prstGeom>
          <a:solidFill>
            <a:srgbClr val="D8E0E8"/>
          </a:solidFill>
          <a:ln>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76072" y="1572768"/>
            <a:ext cx="5230368" cy="475488"/>
          </a:xfrm>
          <a:prstGeom prst="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1664208"/>
            <a:ext cx="1828800" cy="201168"/>
          </a:xfrm>
          <a:prstGeom prst="rect">
            <a:avLst/>
          </a:prstGeom>
          <a:noFill/>
        </p:spPr>
        <p:txBody>
          <a:bodyPr wrap="none" lIns="0" tIns="0" rIns="0" bIns="0" anchor="t">
            <a:spAutoFit/>
          </a:bodyPr>
          <a:lstStyle/>
          <a:p>
            <a:pPr algn="l"/>
            <a:r>
              <a:rPr sz="1700" b="1">
                <a:solidFill>
                  <a:srgbClr val="315A8A"/>
                </a:solidFill>
                <a:latin typeface="Aptos"/>
              </a:rPr>
              <a:t>CIFAR-10</a:t>
            </a:r>
          </a:p>
        </p:txBody>
      </p:sp>
      <p:sp>
        <p:nvSpPr>
          <p:cNvPr id="9" name="TextBox 8"/>
          <p:cNvSpPr txBox="1"/>
          <p:nvPr/>
        </p:nvSpPr>
        <p:spPr>
          <a:xfrm>
            <a:off x="4239444" y="1691640"/>
            <a:ext cx="1274388" cy="153888"/>
          </a:xfrm>
          <a:prstGeom prst="rect">
            <a:avLst/>
          </a:prstGeom>
          <a:noFill/>
        </p:spPr>
        <p:txBody>
          <a:bodyPr wrap="none" lIns="0" tIns="0" rIns="0" bIns="0" anchor="t">
            <a:spAutoFit/>
          </a:bodyPr>
          <a:lstStyle/>
          <a:p>
            <a:pPr algn="r"/>
            <a:r>
              <a:rPr sz="1000" b="0" dirty="0">
                <a:solidFill>
                  <a:srgbClr val="5B6577"/>
                </a:solidFill>
                <a:latin typeface="Aptos"/>
              </a:rPr>
              <a:t>80 epochs • 10 classes</a:t>
            </a:r>
          </a:p>
        </p:txBody>
      </p:sp>
      <p:sp>
        <p:nvSpPr>
          <p:cNvPr id="10" name="Rectangle 9"/>
          <p:cNvSpPr/>
          <p:nvPr/>
        </p:nvSpPr>
        <p:spPr>
          <a:xfrm>
            <a:off x="6300216" y="1572768"/>
            <a:ext cx="5285232" cy="475488"/>
          </a:xfrm>
          <a:prstGeom prst="rect">
            <a:avLst/>
          </a:prstGeom>
          <a:solidFill>
            <a:srgbClr val="FCF4EB"/>
          </a:solidFill>
          <a:ln w="12700">
            <a:solidFill>
              <a:srgbClr val="FCF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73952" y="1664208"/>
            <a:ext cx="1828800" cy="201168"/>
          </a:xfrm>
          <a:prstGeom prst="rect">
            <a:avLst/>
          </a:prstGeom>
          <a:noFill/>
        </p:spPr>
        <p:txBody>
          <a:bodyPr wrap="none" lIns="0" tIns="0" rIns="0" bIns="0" anchor="t">
            <a:spAutoFit/>
          </a:bodyPr>
          <a:lstStyle/>
          <a:p>
            <a:pPr algn="l"/>
            <a:r>
              <a:rPr sz="1700" b="1">
                <a:solidFill>
                  <a:srgbClr val="D7792D"/>
                </a:solidFill>
                <a:latin typeface="Aptos"/>
              </a:rPr>
              <a:t>CIFAR-100</a:t>
            </a:r>
          </a:p>
        </p:txBody>
      </p:sp>
      <p:sp>
        <p:nvSpPr>
          <p:cNvPr id="12" name="TextBox 11"/>
          <p:cNvSpPr txBox="1"/>
          <p:nvPr/>
        </p:nvSpPr>
        <p:spPr>
          <a:xfrm>
            <a:off x="9782449" y="1691640"/>
            <a:ext cx="1455527" cy="153888"/>
          </a:xfrm>
          <a:prstGeom prst="rect">
            <a:avLst/>
          </a:prstGeom>
          <a:noFill/>
        </p:spPr>
        <p:txBody>
          <a:bodyPr wrap="none" lIns="0" tIns="0" rIns="0" bIns="0" anchor="t">
            <a:spAutoFit/>
          </a:bodyPr>
          <a:lstStyle/>
          <a:p>
            <a:pPr algn="r"/>
            <a:r>
              <a:rPr sz="1000" b="1" dirty="0">
                <a:solidFill>
                  <a:srgbClr val="5B6577"/>
                </a:solidFill>
                <a:latin typeface="Aptos"/>
              </a:rPr>
              <a:t>120 epochs • 100 classes</a:t>
            </a:r>
          </a:p>
        </p:txBody>
      </p:sp>
      <p:sp>
        <p:nvSpPr>
          <p:cNvPr id="13" name="Rounded Rectangle 12"/>
          <p:cNvSpPr/>
          <p:nvPr/>
        </p:nvSpPr>
        <p:spPr>
          <a:xfrm>
            <a:off x="685800" y="2267712"/>
            <a:ext cx="1508760" cy="822960"/>
          </a:xfrm>
          <a:prstGeom prst="roundRect">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3816" y="2377440"/>
            <a:ext cx="1252728" cy="137160"/>
          </a:xfrm>
          <a:prstGeom prst="rect">
            <a:avLst/>
          </a:prstGeom>
          <a:noFill/>
        </p:spPr>
        <p:txBody>
          <a:bodyPr wrap="none" lIns="0" tIns="0" rIns="0" bIns="0" anchor="t">
            <a:spAutoFit/>
          </a:bodyPr>
          <a:lstStyle/>
          <a:p>
            <a:pPr algn="l"/>
            <a:r>
              <a:rPr sz="720" b="1">
                <a:solidFill>
                  <a:srgbClr val="5B6577"/>
                </a:solidFill>
                <a:latin typeface="Aptos"/>
              </a:rPr>
              <a:t>TRAIN / VAL</a:t>
            </a:r>
          </a:p>
        </p:txBody>
      </p:sp>
      <p:sp>
        <p:nvSpPr>
          <p:cNvPr id="15" name="TextBox 14"/>
          <p:cNvSpPr txBox="1"/>
          <p:nvPr/>
        </p:nvSpPr>
        <p:spPr>
          <a:xfrm>
            <a:off x="795528" y="2542032"/>
            <a:ext cx="1325880" cy="201168"/>
          </a:xfrm>
          <a:prstGeom prst="rect">
            <a:avLst/>
          </a:prstGeom>
          <a:noFill/>
        </p:spPr>
        <p:txBody>
          <a:bodyPr wrap="square" lIns="9144" tIns="0" rIns="9144" bIns="0" anchor="t">
            <a:spAutoFit/>
          </a:bodyPr>
          <a:lstStyle/>
          <a:p>
            <a:pPr algn="l"/>
            <a:r>
              <a:rPr sz="1120" b="1">
                <a:solidFill>
                  <a:srgbClr val="315A8A"/>
                </a:solidFill>
                <a:latin typeface="Aptos"/>
              </a:rPr>
              <a:t>20k / 5k</a:t>
            </a:r>
          </a:p>
        </p:txBody>
      </p:sp>
      <p:sp>
        <p:nvSpPr>
          <p:cNvPr id="16" name="TextBox 15"/>
          <p:cNvSpPr txBox="1"/>
          <p:nvPr/>
        </p:nvSpPr>
        <p:spPr>
          <a:xfrm>
            <a:off x="795528" y="2770632"/>
            <a:ext cx="1325880" cy="329184"/>
          </a:xfrm>
          <a:prstGeom prst="rect">
            <a:avLst/>
          </a:prstGeom>
          <a:noFill/>
        </p:spPr>
        <p:txBody>
          <a:bodyPr wrap="square" lIns="9144" tIns="0" rIns="9144" bIns="0" anchor="t">
            <a:spAutoFit/>
          </a:bodyPr>
          <a:lstStyle/>
          <a:p>
            <a:pPr algn="l">
              <a:spcBef>
                <a:spcPts val="0"/>
              </a:spcBef>
              <a:spcAft>
                <a:spcPts val="0"/>
              </a:spcAft>
            </a:pPr>
            <a:r>
              <a:rPr sz="1120" b="1" dirty="0">
                <a:solidFill>
                  <a:srgbClr val="172033"/>
                </a:solidFill>
                <a:latin typeface="Aptos"/>
              </a:rPr>
              <a:t>2,000 train/class</a:t>
            </a:r>
          </a:p>
          <a:p>
            <a:pPr algn="l">
              <a:spcBef>
                <a:spcPts val="0"/>
              </a:spcBef>
              <a:spcAft>
                <a:spcPts val="0"/>
              </a:spcAft>
            </a:pPr>
            <a:r>
              <a:rPr sz="1120" b="1" dirty="0">
                <a:solidFill>
                  <a:srgbClr val="172033"/>
                </a:solidFill>
                <a:latin typeface="Aptos"/>
              </a:rPr>
              <a:t>500 </a:t>
            </a:r>
            <a:r>
              <a:rPr sz="1120" b="1" dirty="0" err="1">
                <a:solidFill>
                  <a:srgbClr val="172033"/>
                </a:solidFill>
                <a:latin typeface="Aptos"/>
              </a:rPr>
              <a:t>val</a:t>
            </a:r>
            <a:r>
              <a:rPr sz="1120" b="1" dirty="0">
                <a:solidFill>
                  <a:srgbClr val="172033"/>
                </a:solidFill>
                <a:latin typeface="Aptos"/>
              </a:rPr>
              <a:t>/class</a:t>
            </a:r>
          </a:p>
        </p:txBody>
      </p:sp>
      <p:sp>
        <p:nvSpPr>
          <p:cNvPr id="17" name="Rounded Rectangle 16"/>
          <p:cNvSpPr/>
          <p:nvPr/>
        </p:nvSpPr>
        <p:spPr>
          <a:xfrm>
            <a:off x="2350008" y="2267712"/>
            <a:ext cx="1508760" cy="822960"/>
          </a:xfrm>
          <a:prstGeom prst="roundRect">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478024" y="2377440"/>
            <a:ext cx="1252728" cy="137160"/>
          </a:xfrm>
          <a:prstGeom prst="rect">
            <a:avLst/>
          </a:prstGeom>
          <a:noFill/>
        </p:spPr>
        <p:txBody>
          <a:bodyPr wrap="none" lIns="0" tIns="0" rIns="0" bIns="0" anchor="t">
            <a:spAutoFit/>
          </a:bodyPr>
          <a:lstStyle/>
          <a:p>
            <a:pPr algn="l"/>
            <a:r>
              <a:rPr sz="720" b="1">
                <a:solidFill>
                  <a:srgbClr val="5B6577"/>
                </a:solidFill>
                <a:latin typeface="Aptos"/>
              </a:rPr>
              <a:t>OFFICIAL TEST</a:t>
            </a:r>
          </a:p>
        </p:txBody>
      </p:sp>
      <p:sp>
        <p:nvSpPr>
          <p:cNvPr id="19" name="TextBox 18"/>
          <p:cNvSpPr txBox="1"/>
          <p:nvPr/>
        </p:nvSpPr>
        <p:spPr>
          <a:xfrm>
            <a:off x="2478024" y="2542032"/>
            <a:ext cx="1252728" cy="256032"/>
          </a:xfrm>
          <a:prstGeom prst="rect">
            <a:avLst/>
          </a:prstGeom>
          <a:noFill/>
        </p:spPr>
        <p:txBody>
          <a:bodyPr wrap="none" lIns="0" tIns="0" rIns="0" bIns="0" anchor="t">
            <a:spAutoFit/>
          </a:bodyPr>
          <a:lstStyle/>
          <a:p>
            <a:pPr algn="l"/>
            <a:r>
              <a:rPr sz="1650" b="1">
                <a:solidFill>
                  <a:srgbClr val="315A8A"/>
                </a:solidFill>
                <a:latin typeface="Aptos"/>
              </a:rPr>
              <a:t>10k</a:t>
            </a:r>
          </a:p>
        </p:txBody>
      </p:sp>
      <p:sp>
        <p:nvSpPr>
          <p:cNvPr id="20" name="TextBox 19"/>
          <p:cNvSpPr txBox="1"/>
          <p:nvPr/>
        </p:nvSpPr>
        <p:spPr>
          <a:xfrm>
            <a:off x="2478024" y="2862072"/>
            <a:ext cx="1252728" cy="128016"/>
          </a:xfrm>
          <a:prstGeom prst="rect">
            <a:avLst/>
          </a:prstGeom>
          <a:noFill/>
        </p:spPr>
        <p:txBody>
          <a:bodyPr wrap="none" lIns="0" tIns="0" rIns="0" bIns="0" anchor="t">
            <a:spAutoFit/>
          </a:bodyPr>
          <a:lstStyle/>
          <a:p>
            <a:pPr algn="l"/>
            <a:r>
              <a:rPr sz="710" b="0">
                <a:solidFill>
                  <a:srgbClr val="5B6577"/>
                </a:solidFill>
                <a:latin typeface="Aptos"/>
              </a:rPr>
              <a:t>held out</a:t>
            </a:r>
          </a:p>
        </p:txBody>
      </p:sp>
      <p:sp>
        <p:nvSpPr>
          <p:cNvPr id="21" name="Rounded Rectangle 20"/>
          <p:cNvSpPr/>
          <p:nvPr/>
        </p:nvSpPr>
        <p:spPr>
          <a:xfrm>
            <a:off x="4014215" y="2267712"/>
            <a:ext cx="1508760" cy="822960"/>
          </a:xfrm>
          <a:prstGeom prst="roundRect">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42231" y="2377440"/>
            <a:ext cx="1252728" cy="137160"/>
          </a:xfrm>
          <a:prstGeom prst="rect">
            <a:avLst/>
          </a:prstGeom>
          <a:noFill/>
        </p:spPr>
        <p:txBody>
          <a:bodyPr wrap="none" lIns="0" tIns="0" rIns="0" bIns="0" anchor="t">
            <a:spAutoFit/>
          </a:bodyPr>
          <a:lstStyle/>
          <a:p>
            <a:pPr algn="l"/>
            <a:r>
              <a:rPr sz="720" b="1">
                <a:solidFill>
                  <a:srgbClr val="5B6577"/>
                </a:solidFill>
                <a:latin typeface="Aptos"/>
              </a:rPr>
              <a:t>BASE BATCH</a:t>
            </a:r>
          </a:p>
        </p:txBody>
      </p:sp>
      <p:sp>
        <p:nvSpPr>
          <p:cNvPr id="23" name="TextBox 22"/>
          <p:cNvSpPr txBox="1"/>
          <p:nvPr/>
        </p:nvSpPr>
        <p:spPr>
          <a:xfrm>
            <a:off x="4142231" y="2542032"/>
            <a:ext cx="1252728" cy="256032"/>
          </a:xfrm>
          <a:prstGeom prst="rect">
            <a:avLst/>
          </a:prstGeom>
          <a:noFill/>
        </p:spPr>
        <p:txBody>
          <a:bodyPr wrap="none" lIns="0" tIns="0" rIns="0" bIns="0" anchor="t">
            <a:spAutoFit/>
          </a:bodyPr>
          <a:lstStyle/>
          <a:p>
            <a:pPr algn="l"/>
            <a:r>
              <a:rPr sz="1650" b="1">
                <a:solidFill>
                  <a:srgbClr val="315A8A"/>
                </a:solidFill>
                <a:latin typeface="Aptos"/>
              </a:rPr>
              <a:t>32</a:t>
            </a:r>
          </a:p>
        </p:txBody>
      </p:sp>
      <p:sp>
        <p:nvSpPr>
          <p:cNvPr id="24" name="TextBox 23"/>
          <p:cNvSpPr txBox="1"/>
          <p:nvPr/>
        </p:nvSpPr>
        <p:spPr>
          <a:xfrm>
            <a:off x="4142231" y="2862072"/>
            <a:ext cx="1252728" cy="128016"/>
          </a:xfrm>
          <a:prstGeom prst="rect">
            <a:avLst/>
          </a:prstGeom>
          <a:noFill/>
        </p:spPr>
        <p:txBody>
          <a:bodyPr wrap="none" lIns="0" tIns="0" rIns="0" bIns="0" anchor="t">
            <a:spAutoFit/>
          </a:bodyPr>
          <a:lstStyle/>
          <a:p>
            <a:pPr algn="l"/>
            <a:r>
              <a:rPr sz="710" b="0">
                <a:solidFill>
                  <a:srgbClr val="5B6577"/>
                </a:solidFill>
                <a:latin typeface="Aptos"/>
              </a:rPr>
              <a:t>adaptive → 256</a:t>
            </a:r>
          </a:p>
        </p:txBody>
      </p:sp>
      <p:sp>
        <p:nvSpPr>
          <p:cNvPr id="25" name="Rounded Rectangle 24"/>
          <p:cNvSpPr/>
          <p:nvPr/>
        </p:nvSpPr>
        <p:spPr>
          <a:xfrm>
            <a:off x="6400800" y="2267712"/>
            <a:ext cx="1508760" cy="822960"/>
          </a:xfrm>
          <a:prstGeom prst="roundRect">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28816" y="2377440"/>
            <a:ext cx="1252728" cy="137160"/>
          </a:xfrm>
          <a:prstGeom prst="rect">
            <a:avLst/>
          </a:prstGeom>
          <a:noFill/>
        </p:spPr>
        <p:txBody>
          <a:bodyPr wrap="none" lIns="0" tIns="0" rIns="0" bIns="0" anchor="t">
            <a:spAutoFit/>
          </a:bodyPr>
          <a:lstStyle/>
          <a:p>
            <a:pPr algn="l"/>
            <a:r>
              <a:rPr sz="720" b="1">
                <a:solidFill>
                  <a:srgbClr val="5B6577"/>
                </a:solidFill>
                <a:latin typeface="Aptos"/>
              </a:rPr>
              <a:t>TRAIN / VAL</a:t>
            </a:r>
          </a:p>
        </p:txBody>
      </p:sp>
      <p:sp>
        <p:nvSpPr>
          <p:cNvPr id="27" name="TextBox 26"/>
          <p:cNvSpPr txBox="1"/>
          <p:nvPr/>
        </p:nvSpPr>
        <p:spPr>
          <a:xfrm>
            <a:off x="6510528" y="2542032"/>
            <a:ext cx="1325880" cy="201168"/>
          </a:xfrm>
          <a:prstGeom prst="rect">
            <a:avLst/>
          </a:prstGeom>
          <a:noFill/>
        </p:spPr>
        <p:txBody>
          <a:bodyPr wrap="square" lIns="9144" tIns="0" rIns="9144" bIns="0" anchor="t">
            <a:spAutoFit/>
          </a:bodyPr>
          <a:lstStyle/>
          <a:p>
            <a:pPr algn="l"/>
            <a:r>
              <a:rPr sz="1120" b="1">
                <a:solidFill>
                  <a:srgbClr val="D7792D"/>
                </a:solidFill>
                <a:latin typeface="Aptos"/>
              </a:rPr>
              <a:t>45k / 5k</a:t>
            </a:r>
          </a:p>
        </p:txBody>
      </p:sp>
      <p:sp>
        <p:nvSpPr>
          <p:cNvPr id="28" name="TextBox 27"/>
          <p:cNvSpPr txBox="1"/>
          <p:nvPr/>
        </p:nvSpPr>
        <p:spPr>
          <a:xfrm>
            <a:off x="6510528" y="2770632"/>
            <a:ext cx="1325880" cy="329184"/>
          </a:xfrm>
          <a:prstGeom prst="rect">
            <a:avLst/>
          </a:prstGeom>
          <a:noFill/>
        </p:spPr>
        <p:txBody>
          <a:bodyPr wrap="square" lIns="9144" tIns="0" rIns="9144" bIns="0" anchor="t">
            <a:spAutoFit/>
          </a:bodyPr>
          <a:lstStyle/>
          <a:p>
            <a:pPr algn="l">
              <a:spcBef>
                <a:spcPts val="0"/>
              </a:spcBef>
              <a:spcAft>
                <a:spcPts val="0"/>
              </a:spcAft>
            </a:pPr>
            <a:r>
              <a:rPr sz="1120" b="1" dirty="0">
                <a:solidFill>
                  <a:srgbClr val="172033"/>
                </a:solidFill>
                <a:latin typeface="Aptos"/>
              </a:rPr>
              <a:t>450 train/class</a:t>
            </a:r>
          </a:p>
          <a:p>
            <a:pPr algn="l">
              <a:spcBef>
                <a:spcPts val="0"/>
              </a:spcBef>
              <a:spcAft>
                <a:spcPts val="0"/>
              </a:spcAft>
            </a:pPr>
            <a:r>
              <a:rPr sz="1120" b="1" dirty="0">
                <a:solidFill>
                  <a:srgbClr val="172033"/>
                </a:solidFill>
                <a:latin typeface="Aptos"/>
              </a:rPr>
              <a:t>50 </a:t>
            </a:r>
            <a:r>
              <a:rPr sz="1120" b="1" dirty="0" err="1">
                <a:solidFill>
                  <a:srgbClr val="172033"/>
                </a:solidFill>
                <a:latin typeface="Aptos"/>
              </a:rPr>
              <a:t>val</a:t>
            </a:r>
            <a:r>
              <a:rPr sz="1120" b="1" dirty="0">
                <a:solidFill>
                  <a:srgbClr val="172033"/>
                </a:solidFill>
                <a:latin typeface="Aptos"/>
              </a:rPr>
              <a:t>/class</a:t>
            </a:r>
          </a:p>
        </p:txBody>
      </p:sp>
      <p:sp>
        <p:nvSpPr>
          <p:cNvPr id="29" name="Rounded Rectangle 28"/>
          <p:cNvSpPr/>
          <p:nvPr/>
        </p:nvSpPr>
        <p:spPr>
          <a:xfrm>
            <a:off x="8065008" y="2267712"/>
            <a:ext cx="1508760" cy="822960"/>
          </a:xfrm>
          <a:prstGeom prst="roundRect">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193024" y="2377440"/>
            <a:ext cx="1252728" cy="137160"/>
          </a:xfrm>
          <a:prstGeom prst="rect">
            <a:avLst/>
          </a:prstGeom>
          <a:noFill/>
        </p:spPr>
        <p:txBody>
          <a:bodyPr wrap="none" lIns="0" tIns="0" rIns="0" bIns="0" anchor="t">
            <a:spAutoFit/>
          </a:bodyPr>
          <a:lstStyle/>
          <a:p>
            <a:pPr algn="l"/>
            <a:r>
              <a:rPr sz="720" b="1">
                <a:solidFill>
                  <a:srgbClr val="5B6577"/>
                </a:solidFill>
                <a:latin typeface="Aptos"/>
              </a:rPr>
              <a:t>OFFICIAL TEST</a:t>
            </a:r>
          </a:p>
        </p:txBody>
      </p:sp>
      <p:sp>
        <p:nvSpPr>
          <p:cNvPr id="31" name="TextBox 30"/>
          <p:cNvSpPr txBox="1"/>
          <p:nvPr/>
        </p:nvSpPr>
        <p:spPr>
          <a:xfrm>
            <a:off x="8193024" y="2542032"/>
            <a:ext cx="1252728" cy="256032"/>
          </a:xfrm>
          <a:prstGeom prst="rect">
            <a:avLst/>
          </a:prstGeom>
          <a:noFill/>
        </p:spPr>
        <p:txBody>
          <a:bodyPr wrap="none" lIns="0" tIns="0" rIns="0" bIns="0" anchor="t">
            <a:spAutoFit/>
          </a:bodyPr>
          <a:lstStyle/>
          <a:p>
            <a:pPr algn="l"/>
            <a:r>
              <a:rPr sz="1650" b="1">
                <a:solidFill>
                  <a:srgbClr val="D7792D"/>
                </a:solidFill>
                <a:latin typeface="Aptos"/>
              </a:rPr>
              <a:t>10k</a:t>
            </a:r>
          </a:p>
        </p:txBody>
      </p:sp>
      <p:sp>
        <p:nvSpPr>
          <p:cNvPr id="32" name="TextBox 31"/>
          <p:cNvSpPr txBox="1"/>
          <p:nvPr/>
        </p:nvSpPr>
        <p:spPr>
          <a:xfrm>
            <a:off x="8193024" y="2862072"/>
            <a:ext cx="1252728" cy="128016"/>
          </a:xfrm>
          <a:prstGeom prst="rect">
            <a:avLst/>
          </a:prstGeom>
          <a:noFill/>
        </p:spPr>
        <p:txBody>
          <a:bodyPr wrap="none" lIns="0" tIns="0" rIns="0" bIns="0" anchor="t">
            <a:spAutoFit/>
          </a:bodyPr>
          <a:lstStyle/>
          <a:p>
            <a:pPr algn="l"/>
            <a:r>
              <a:rPr sz="710" b="0">
                <a:solidFill>
                  <a:srgbClr val="5B6577"/>
                </a:solidFill>
                <a:latin typeface="Aptos"/>
              </a:rPr>
              <a:t>held out</a:t>
            </a:r>
          </a:p>
        </p:txBody>
      </p:sp>
      <p:sp>
        <p:nvSpPr>
          <p:cNvPr id="33" name="Rounded Rectangle 32"/>
          <p:cNvSpPr/>
          <p:nvPr/>
        </p:nvSpPr>
        <p:spPr>
          <a:xfrm>
            <a:off x="9729216" y="2267712"/>
            <a:ext cx="1508760" cy="822960"/>
          </a:xfrm>
          <a:prstGeom prst="roundRect">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857232" y="2377440"/>
            <a:ext cx="1252728" cy="137160"/>
          </a:xfrm>
          <a:prstGeom prst="rect">
            <a:avLst/>
          </a:prstGeom>
          <a:noFill/>
        </p:spPr>
        <p:txBody>
          <a:bodyPr wrap="none" lIns="0" tIns="0" rIns="0" bIns="0" anchor="t">
            <a:spAutoFit/>
          </a:bodyPr>
          <a:lstStyle/>
          <a:p>
            <a:pPr algn="l"/>
            <a:r>
              <a:rPr sz="720" b="1">
                <a:solidFill>
                  <a:srgbClr val="5B6577"/>
                </a:solidFill>
                <a:latin typeface="Aptos"/>
              </a:rPr>
              <a:t>BASE BATCH</a:t>
            </a:r>
          </a:p>
        </p:txBody>
      </p:sp>
      <p:sp>
        <p:nvSpPr>
          <p:cNvPr id="35" name="TextBox 34"/>
          <p:cNvSpPr txBox="1"/>
          <p:nvPr/>
        </p:nvSpPr>
        <p:spPr>
          <a:xfrm>
            <a:off x="9857232" y="2542032"/>
            <a:ext cx="1252728" cy="256032"/>
          </a:xfrm>
          <a:prstGeom prst="rect">
            <a:avLst/>
          </a:prstGeom>
          <a:noFill/>
        </p:spPr>
        <p:txBody>
          <a:bodyPr wrap="none" lIns="0" tIns="0" rIns="0" bIns="0" anchor="t">
            <a:spAutoFit/>
          </a:bodyPr>
          <a:lstStyle/>
          <a:p>
            <a:pPr algn="l"/>
            <a:r>
              <a:rPr sz="1650" b="1">
                <a:solidFill>
                  <a:srgbClr val="D7792D"/>
                </a:solidFill>
                <a:latin typeface="Aptos"/>
              </a:rPr>
              <a:t>32</a:t>
            </a:r>
          </a:p>
        </p:txBody>
      </p:sp>
      <p:sp>
        <p:nvSpPr>
          <p:cNvPr id="36" name="TextBox 35"/>
          <p:cNvSpPr txBox="1"/>
          <p:nvPr/>
        </p:nvSpPr>
        <p:spPr>
          <a:xfrm>
            <a:off x="9857232" y="2862072"/>
            <a:ext cx="1252728" cy="128016"/>
          </a:xfrm>
          <a:prstGeom prst="rect">
            <a:avLst/>
          </a:prstGeom>
          <a:noFill/>
        </p:spPr>
        <p:txBody>
          <a:bodyPr wrap="none" lIns="0" tIns="0" rIns="0" bIns="0" anchor="t">
            <a:spAutoFit/>
          </a:bodyPr>
          <a:lstStyle/>
          <a:p>
            <a:pPr algn="l"/>
            <a:r>
              <a:rPr sz="710" b="0">
                <a:solidFill>
                  <a:srgbClr val="5B6577"/>
                </a:solidFill>
                <a:latin typeface="Aptos"/>
              </a:rPr>
              <a:t>adaptive → 256</a:t>
            </a:r>
          </a:p>
        </p:txBody>
      </p:sp>
      <p:sp>
        <p:nvSpPr>
          <p:cNvPr id="37" name="Rounded Rectangle 36"/>
          <p:cNvSpPr/>
          <p:nvPr/>
        </p:nvSpPr>
        <p:spPr>
          <a:xfrm>
            <a:off x="685800" y="3273552"/>
            <a:ext cx="4837176" cy="1572768"/>
          </a:xfrm>
          <a:prstGeom prst="roundRect">
            <a:avLst/>
          </a:prstGeom>
          <a:solidFill>
            <a:srgbClr val="F4F7FA"/>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32104" y="3429000"/>
            <a:ext cx="2103120" cy="182880"/>
          </a:xfrm>
          <a:prstGeom prst="rect">
            <a:avLst/>
          </a:prstGeom>
          <a:noFill/>
        </p:spPr>
        <p:txBody>
          <a:bodyPr wrap="none" lIns="0" tIns="0" rIns="0" bIns="0" anchor="t">
            <a:spAutoFit/>
          </a:bodyPr>
          <a:lstStyle/>
          <a:p>
            <a:pPr algn="l"/>
            <a:r>
              <a:rPr sz="1050" b="1">
                <a:solidFill>
                  <a:srgbClr val="172033"/>
                </a:solidFill>
                <a:latin typeface="Aptos"/>
              </a:rPr>
              <a:t>Data pipeline</a:t>
            </a:r>
          </a:p>
        </p:txBody>
      </p:sp>
      <p:sp>
        <p:nvSpPr>
          <p:cNvPr id="39" name="Oval 38"/>
          <p:cNvSpPr/>
          <p:nvPr/>
        </p:nvSpPr>
        <p:spPr>
          <a:xfrm>
            <a:off x="832104" y="3781044"/>
            <a:ext cx="73152" cy="73152"/>
          </a:xfrm>
          <a:prstGeom prst="ellipse">
            <a:avLst/>
          </a:prstGeom>
          <a:solidFill>
            <a:srgbClr val="315A8A"/>
          </a:solidFill>
          <a:ln>
            <a:solidFill>
              <a:srgbClr val="315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78408" y="3730752"/>
            <a:ext cx="4352544" cy="274320"/>
          </a:xfrm>
          <a:prstGeom prst="rect">
            <a:avLst/>
          </a:prstGeom>
          <a:noFill/>
        </p:spPr>
        <p:txBody>
          <a:bodyPr wrap="none" lIns="0" tIns="0" rIns="0" bIns="0" anchor="t">
            <a:spAutoFit/>
          </a:bodyPr>
          <a:lstStyle/>
          <a:p>
            <a:pPr algn="l"/>
            <a:r>
              <a:rPr sz="869" b="0">
                <a:solidFill>
                  <a:srgbClr val="172033"/>
                </a:solidFill>
                <a:latin typeface="Aptos"/>
              </a:rPr>
              <a:t>32×32 RGB input; dataset-specific normalization</a:t>
            </a:r>
          </a:p>
        </p:txBody>
      </p:sp>
      <p:sp>
        <p:nvSpPr>
          <p:cNvPr id="41" name="Oval 40"/>
          <p:cNvSpPr/>
          <p:nvPr/>
        </p:nvSpPr>
        <p:spPr>
          <a:xfrm>
            <a:off x="832104" y="4101083"/>
            <a:ext cx="73152" cy="73152"/>
          </a:xfrm>
          <a:prstGeom prst="ellipse">
            <a:avLst/>
          </a:prstGeom>
          <a:solidFill>
            <a:srgbClr val="315A8A"/>
          </a:solidFill>
          <a:ln>
            <a:solidFill>
              <a:srgbClr val="315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78408" y="4050791"/>
            <a:ext cx="4352544" cy="274320"/>
          </a:xfrm>
          <a:prstGeom prst="rect">
            <a:avLst/>
          </a:prstGeom>
          <a:noFill/>
        </p:spPr>
        <p:txBody>
          <a:bodyPr wrap="none" lIns="0" tIns="0" rIns="0" bIns="0" anchor="t">
            <a:spAutoFit/>
          </a:bodyPr>
          <a:lstStyle/>
          <a:p>
            <a:pPr algn="l"/>
            <a:r>
              <a:rPr sz="869" b="0">
                <a:solidFill>
                  <a:srgbClr val="172033"/>
                </a:solidFill>
                <a:latin typeface="Aptos"/>
              </a:rPr>
              <a:t>Training: random crop (padding 4) + horizontal flip</a:t>
            </a:r>
          </a:p>
        </p:txBody>
      </p:sp>
      <p:sp>
        <p:nvSpPr>
          <p:cNvPr id="43" name="Oval 42"/>
          <p:cNvSpPr/>
          <p:nvPr/>
        </p:nvSpPr>
        <p:spPr>
          <a:xfrm>
            <a:off x="832104" y="4421124"/>
            <a:ext cx="73152" cy="73152"/>
          </a:xfrm>
          <a:prstGeom prst="ellipse">
            <a:avLst/>
          </a:prstGeom>
          <a:solidFill>
            <a:srgbClr val="315A8A"/>
          </a:solidFill>
          <a:ln>
            <a:solidFill>
              <a:srgbClr val="315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78408" y="4370832"/>
            <a:ext cx="4352544" cy="274320"/>
          </a:xfrm>
          <a:prstGeom prst="rect">
            <a:avLst/>
          </a:prstGeom>
          <a:noFill/>
        </p:spPr>
        <p:txBody>
          <a:bodyPr wrap="none" lIns="0" tIns="0" rIns="0" bIns="0" anchor="t">
            <a:spAutoFit/>
          </a:bodyPr>
          <a:lstStyle/>
          <a:p>
            <a:pPr algn="l"/>
            <a:r>
              <a:rPr sz="869" b="0">
                <a:solidFill>
                  <a:srgbClr val="172033"/>
                </a:solidFill>
                <a:latin typeface="Aptos"/>
              </a:rPr>
              <a:t>Validation/test: deterministic transforms; no random augmentation</a:t>
            </a:r>
          </a:p>
        </p:txBody>
      </p:sp>
      <p:sp>
        <p:nvSpPr>
          <p:cNvPr id="45" name="Rounded Rectangle 44"/>
          <p:cNvSpPr/>
          <p:nvPr/>
        </p:nvSpPr>
        <p:spPr>
          <a:xfrm>
            <a:off x="6400800" y="3273552"/>
            <a:ext cx="4837176" cy="1572768"/>
          </a:xfrm>
          <a:prstGeom prst="roundRect">
            <a:avLst/>
          </a:prstGeom>
          <a:solidFill>
            <a:srgbClr val="F4F7FA"/>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547104" y="3429000"/>
            <a:ext cx="2103120" cy="182880"/>
          </a:xfrm>
          <a:prstGeom prst="rect">
            <a:avLst/>
          </a:prstGeom>
          <a:noFill/>
        </p:spPr>
        <p:txBody>
          <a:bodyPr wrap="none" lIns="0" tIns="0" rIns="0" bIns="0" anchor="t">
            <a:spAutoFit/>
          </a:bodyPr>
          <a:lstStyle/>
          <a:p>
            <a:pPr algn="l"/>
            <a:r>
              <a:rPr sz="1050" b="1">
                <a:solidFill>
                  <a:srgbClr val="172033"/>
                </a:solidFill>
                <a:latin typeface="Aptos"/>
              </a:rPr>
              <a:t>Data pipeline</a:t>
            </a:r>
          </a:p>
        </p:txBody>
      </p:sp>
      <p:sp>
        <p:nvSpPr>
          <p:cNvPr id="47" name="Oval 46"/>
          <p:cNvSpPr/>
          <p:nvPr/>
        </p:nvSpPr>
        <p:spPr>
          <a:xfrm>
            <a:off x="6547104" y="3781044"/>
            <a:ext cx="73152" cy="73152"/>
          </a:xfrm>
          <a:prstGeom prst="ellipse">
            <a:avLst/>
          </a:prstGeom>
          <a:solidFill>
            <a:srgbClr val="D7792D"/>
          </a:solidFill>
          <a:ln>
            <a:solidFill>
              <a:srgbClr val="D779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693408" y="3730752"/>
            <a:ext cx="4352544" cy="274320"/>
          </a:xfrm>
          <a:prstGeom prst="rect">
            <a:avLst/>
          </a:prstGeom>
          <a:noFill/>
        </p:spPr>
        <p:txBody>
          <a:bodyPr wrap="none" lIns="0" tIns="0" rIns="0" bIns="0" anchor="t">
            <a:spAutoFit/>
          </a:bodyPr>
          <a:lstStyle/>
          <a:p>
            <a:pPr algn="l"/>
            <a:r>
              <a:rPr sz="869" b="0">
                <a:solidFill>
                  <a:srgbClr val="172033"/>
                </a:solidFill>
                <a:latin typeface="Aptos"/>
              </a:rPr>
              <a:t>32×32 RGB input; dataset-specific normalization</a:t>
            </a:r>
          </a:p>
        </p:txBody>
      </p:sp>
      <p:sp>
        <p:nvSpPr>
          <p:cNvPr id="49" name="Oval 48"/>
          <p:cNvSpPr/>
          <p:nvPr/>
        </p:nvSpPr>
        <p:spPr>
          <a:xfrm>
            <a:off x="6547104" y="4101083"/>
            <a:ext cx="73152" cy="73152"/>
          </a:xfrm>
          <a:prstGeom prst="ellipse">
            <a:avLst/>
          </a:prstGeom>
          <a:solidFill>
            <a:srgbClr val="D7792D"/>
          </a:solidFill>
          <a:ln>
            <a:solidFill>
              <a:srgbClr val="D779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693408" y="4050791"/>
            <a:ext cx="4352544" cy="274320"/>
          </a:xfrm>
          <a:prstGeom prst="rect">
            <a:avLst/>
          </a:prstGeom>
          <a:noFill/>
        </p:spPr>
        <p:txBody>
          <a:bodyPr wrap="none" lIns="0" tIns="0" rIns="0" bIns="0" anchor="t">
            <a:spAutoFit/>
          </a:bodyPr>
          <a:lstStyle/>
          <a:p>
            <a:pPr algn="l"/>
            <a:r>
              <a:rPr sz="869" b="0">
                <a:solidFill>
                  <a:srgbClr val="172033"/>
                </a:solidFill>
                <a:latin typeface="Aptos"/>
              </a:rPr>
              <a:t>Training: random crop (padding 4) + horizontal flip</a:t>
            </a:r>
          </a:p>
        </p:txBody>
      </p:sp>
      <p:sp>
        <p:nvSpPr>
          <p:cNvPr id="51" name="Oval 50"/>
          <p:cNvSpPr/>
          <p:nvPr/>
        </p:nvSpPr>
        <p:spPr>
          <a:xfrm>
            <a:off x="6547104" y="4421124"/>
            <a:ext cx="73152" cy="73152"/>
          </a:xfrm>
          <a:prstGeom prst="ellipse">
            <a:avLst/>
          </a:prstGeom>
          <a:solidFill>
            <a:srgbClr val="D7792D"/>
          </a:solidFill>
          <a:ln>
            <a:solidFill>
              <a:srgbClr val="D779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693408" y="4370832"/>
            <a:ext cx="4352544" cy="274320"/>
          </a:xfrm>
          <a:prstGeom prst="rect">
            <a:avLst/>
          </a:prstGeom>
          <a:noFill/>
        </p:spPr>
        <p:txBody>
          <a:bodyPr wrap="none" lIns="0" tIns="0" rIns="0" bIns="0" anchor="t">
            <a:spAutoFit/>
          </a:bodyPr>
          <a:lstStyle/>
          <a:p>
            <a:pPr algn="l"/>
            <a:r>
              <a:rPr sz="869" b="0">
                <a:solidFill>
                  <a:srgbClr val="172033"/>
                </a:solidFill>
                <a:latin typeface="Aptos"/>
              </a:rPr>
              <a:t>Validation/test: deterministic transforms; no random augmentation</a:t>
            </a:r>
          </a:p>
        </p:txBody>
      </p:sp>
      <p:sp>
        <p:nvSpPr>
          <p:cNvPr id="53" name="Rounded Rectangle 52"/>
          <p:cNvSpPr/>
          <p:nvPr/>
        </p:nvSpPr>
        <p:spPr>
          <a:xfrm>
            <a:off x="731520" y="5129784"/>
            <a:ext cx="10652760" cy="713232"/>
          </a:xfrm>
          <a:prstGeom prst="roundRect">
            <a:avLst/>
          </a:prstGeom>
          <a:solidFill>
            <a:srgbClr val="E8F5F4"/>
          </a:solidFill>
          <a:ln w="12700">
            <a:solidFill>
              <a:srgbClr val="E8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932688" y="5248656"/>
            <a:ext cx="1901952" cy="164592"/>
          </a:xfrm>
          <a:prstGeom prst="rect">
            <a:avLst/>
          </a:prstGeom>
          <a:noFill/>
        </p:spPr>
        <p:txBody>
          <a:bodyPr wrap="none" lIns="0" tIns="0" rIns="0" bIns="0" anchor="t">
            <a:spAutoFit/>
          </a:bodyPr>
          <a:lstStyle/>
          <a:p>
            <a:pPr algn="l"/>
            <a:r>
              <a:rPr sz="910" b="1">
                <a:solidFill>
                  <a:srgbClr val="0F8B8D"/>
                </a:solidFill>
                <a:latin typeface="Aptos"/>
              </a:rPr>
              <a:t>Shared training controls</a:t>
            </a:r>
          </a:p>
        </p:txBody>
      </p:sp>
      <p:sp>
        <p:nvSpPr>
          <p:cNvPr id="55" name="TextBox 54"/>
          <p:cNvSpPr txBox="1"/>
          <p:nvPr/>
        </p:nvSpPr>
        <p:spPr>
          <a:xfrm>
            <a:off x="2761488" y="5239512"/>
            <a:ext cx="8275320" cy="182880"/>
          </a:xfrm>
          <a:prstGeom prst="rect">
            <a:avLst/>
          </a:prstGeom>
          <a:noFill/>
        </p:spPr>
        <p:txBody>
          <a:bodyPr wrap="none" lIns="0" tIns="0" rIns="0" bIns="0" anchor="t">
            <a:spAutoFit/>
          </a:bodyPr>
          <a:lstStyle/>
          <a:p>
            <a:pPr algn="l"/>
            <a:r>
              <a:rPr sz="844" b="0">
                <a:solidFill>
                  <a:srgbClr val="172033"/>
                </a:solidFill>
                <a:latin typeface="Aptos"/>
              </a:rPr>
              <a:t>DeeperCNNWide • GroupNorm(8) • SGD • momentum 0.9 • weight decay 1e−3 • reference LR 0.01 • dropout 0.2 • seed 42</a:t>
            </a:r>
          </a:p>
        </p:txBody>
      </p:sp>
      <p:sp>
        <p:nvSpPr>
          <p:cNvPr id="56" name="TextBox 55"/>
          <p:cNvSpPr txBox="1"/>
          <p:nvPr/>
        </p:nvSpPr>
        <p:spPr>
          <a:xfrm>
            <a:off x="932688" y="5532120"/>
            <a:ext cx="10149840" cy="164592"/>
          </a:xfrm>
          <a:prstGeom prst="rect">
            <a:avLst/>
          </a:prstGeom>
          <a:noFill/>
        </p:spPr>
        <p:txBody>
          <a:bodyPr wrap="none" lIns="0" tIns="0" rIns="0" bIns="0" anchor="t">
            <a:spAutoFit/>
          </a:bodyPr>
          <a:lstStyle/>
          <a:p>
            <a:pPr algn="l"/>
            <a:r>
              <a:rPr sz="830" b="1">
                <a:solidFill>
                  <a:srgbClr val="5B6577"/>
                </a:solidFill>
                <a:latin typeface="Aptos"/>
              </a:rPr>
              <a:t>Model selection uses validation loss. The official test split is excluded from controller feedback and checkpoint selection.</a:t>
            </a:r>
          </a:p>
        </p:txBody>
      </p:sp>
      <p:sp>
        <p:nvSpPr>
          <p:cNvPr id="57" name="TextBox 56"/>
          <p:cNvSpPr txBox="1"/>
          <p:nvPr/>
        </p:nvSpPr>
        <p:spPr>
          <a:xfrm>
            <a:off x="749808" y="5870448"/>
            <a:ext cx="10652760" cy="347472"/>
          </a:xfrm>
          <a:prstGeom prst="rect">
            <a:avLst/>
          </a:prstGeom>
          <a:noFill/>
        </p:spPr>
        <p:txBody>
          <a:bodyPr wrap="square" lIns="0" tIns="0" rIns="0" bIns="0" anchor="t">
            <a:spAutoFit/>
          </a:bodyPr>
          <a:lstStyle/>
          <a:p>
            <a:pPr algn="ctr"/>
            <a:r>
              <a:rPr sz="720" b="0">
                <a:solidFill>
                  <a:srgbClr val="5B6577"/>
                </a:solidFill>
                <a:latin typeface="Aptos"/>
              </a:rPr>
              <a:t>Per-class split: CIFAR-10 uses 2,000 training + 500 validation images per class; CIFAR-100 uses 450 training + 50 validation images per class. CIFAR-100 is also a harder 100-class task with a longer training budget.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_clean_infographic_slide_with_a_white_light_backg_1_batch_1.png"/>
          <p:cNvPicPr>
            <a:picLocks noChangeAspect="1"/>
          </p:cNvPicPr>
          <p:nvPr/>
        </p:nvPicPr>
        <p:blipFill>
          <a:blip r:embed="rId3"/>
          <a:stretch>
            <a:fillRect/>
          </a:stretch>
        </p:blipFill>
        <p:spPr>
          <a:xfrm>
            <a:off x="0" y="0"/>
            <a:ext cx="12192000" cy="6858000"/>
          </a:xfrm>
          <a:prstGeom prst="rect">
            <a:avLst/>
          </a:prstGeom>
        </p:spPr>
      </p:pic>
      <p:sp>
        <p:nvSpPr>
          <p:cNvPr id="3" name="Rounded Rectangle 2"/>
          <p:cNvSpPr/>
          <p:nvPr/>
        </p:nvSpPr>
        <p:spPr>
          <a:xfrm>
            <a:off x="7909560" y="1033271"/>
            <a:ext cx="3657600" cy="274320"/>
          </a:xfrm>
          <a:prstGeom prst="roundRect">
            <a:avLst>
              <a:gd name="adj" fmla="val 12000"/>
            </a:avLst>
          </a:prstGeom>
          <a:solidFill>
            <a:srgbClr val="E8F5F4"/>
          </a:solidFill>
          <a:ln w="10160">
            <a:solidFill>
              <a:srgbClr val="0F8B8D"/>
            </a:solidFill>
          </a:ln>
        </p:spPr>
        <p:style>
          <a:lnRef idx="1">
            <a:schemeClr val="accent1"/>
          </a:lnRef>
          <a:fillRef idx="3">
            <a:schemeClr val="accent1"/>
          </a:fillRef>
          <a:effectRef idx="2">
            <a:schemeClr val="accent1"/>
          </a:effectRef>
          <a:fontRef idx="minor">
            <a:schemeClr val="lt1"/>
          </a:fontRef>
        </p:style>
        <p:txBody>
          <a:bodyPr wrap="square" lIns="27432" tIns="9144" rIns="27432" bIns="9144" rtlCol="0" anchor="ctr"/>
          <a:lstStyle/>
          <a:p>
            <a:pPr algn="ctr"/>
            <a:r>
              <a:rPr sz="810" b="1">
                <a:solidFill>
                  <a:srgbClr val="0F8B8D"/>
                </a:solidFill>
                <a:latin typeface="Aptos"/>
              </a:rPr>
              <a:t>Current: 12 conv layers   •   Earlier archive: 6 conv layers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Box 1"/>
          <p:cNvSpPr txBox="1"/>
          <p:nvPr/>
        </p:nvSpPr>
        <p:spPr>
          <a:xfrm>
            <a:off x="566928" y="347472"/>
            <a:ext cx="10789920" cy="411480"/>
          </a:xfrm>
          <a:prstGeom prst="rect">
            <a:avLst/>
          </a:prstGeom>
          <a:noFill/>
        </p:spPr>
        <p:txBody>
          <a:bodyPr wrap="square" lIns="36576" tIns="36576" rIns="36576" bIns="36576" anchor="t">
            <a:spAutoFit/>
          </a:bodyPr>
          <a:lstStyle/>
          <a:p>
            <a:pPr algn="l"/>
            <a:r>
              <a:rPr sz="2400" b="1">
                <a:solidFill>
                  <a:srgbClr val="172033"/>
                </a:solidFill>
                <a:latin typeface="Aptos Display"/>
              </a:rPr>
              <a:t>Adaptive batch-size controller design</a:t>
            </a:r>
          </a:p>
        </p:txBody>
      </p:sp>
      <p:sp>
        <p:nvSpPr>
          <p:cNvPr id="3" name="TextBox 2"/>
          <p:cNvSpPr txBox="1"/>
          <p:nvPr/>
        </p:nvSpPr>
        <p:spPr>
          <a:xfrm>
            <a:off x="585216" y="832104"/>
            <a:ext cx="10744200" cy="301752"/>
          </a:xfrm>
          <a:prstGeom prst="rect">
            <a:avLst/>
          </a:prstGeom>
          <a:noFill/>
        </p:spPr>
        <p:txBody>
          <a:bodyPr wrap="square" lIns="36576" tIns="36576" rIns="36576" bIns="36576" anchor="t">
            <a:spAutoFit/>
          </a:bodyPr>
          <a:lstStyle/>
          <a:p>
            <a:pPr algn="l"/>
            <a:r>
              <a:rPr sz="1050" b="0">
                <a:solidFill>
                  <a:srgbClr val="5B6577"/>
                </a:solidFill>
                <a:latin typeface="Aptos"/>
              </a:rPr>
              <a:t>Gradient-norm stability + validation plateau determine when the next batch grows.</a:t>
            </a:r>
          </a:p>
        </p:txBody>
      </p:sp>
      <p:sp>
        <p:nvSpPr>
          <p:cNvPr id="4" name="Rounded Rectangle 3"/>
          <p:cNvSpPr/>
          <p:nvPr/>
        </p:nvSpPr>
        <p:spPr>
          <a:xfrm>
            <a:off x="585216" y="1225296"/>
            <a:ext cx="1600200" cy="256032"/>
          </a:xfrm>
          <a:prstGeom prst="roundRect">
            <a:avLst>
              <a:gd name="adj" fmla="val 8000"/>
            </a:avLst>
          </a:prstGeom>
          <a:solidFill>
            <a:srgbClr val="E8F5F4"/>
          </a:solidFill>
          <a:ln w="12700">
            <a:solidFill>
              <a:srgbClr val="E8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67512" y="1271016"/>
            <a:ext cx="1435608" cy="128016"/>
          </a:xfrm>
          <a:prstGeom prst="rect">
            <a:avLst/>
          </a:prstGeom>
          <a:noFill/>
        </p:spPr>
        <p:txBody>
          <a:bodyPr wrap="square" lIns="0" tIns="0" rIns="0" bIns="0" anchor="ctr">
            <a:spAutoFit/>
          </a:bodyPr>
          <a:lstStyle/>
          <a:p>
            <a:pPr algn="ctr"/>
            <a:r>
              <a:rPr sz="730" b="1">
                <a:solidFill>
                  <a:srgbClr val="0F8B8D"/>
                </a:solidFill>
                <a:latin typeface="Aptos"/>
              </a:rPr>
              <a:t>BATCH CONTROLLER</a:t>
            </a:r>
          </a:p>
        </p:txBody>
      </p:sp>
      <p:sp>
        <p:nvSpPr>
          <p:cNvPr id="6" name="TextBox 5"/>
          <p:cNvSpPr txBox="1"/>
          <p:nvPr/>
        </p:nvSpPr>
        <p:spPr>
          <a:xfrm>
            <a:off x="11384280" y="6446520"/>
            <a:ext cx="320040" cy="182880"/>
          </a:xfrm>
          <a:prstGeom prst="rect">
            <a:avLst/>
          </a:prstGeom>
          <a:noFill/>
        </p:spPr>
        <p:txBody>
          <a:bodyPr wrap="square" lIns="36576" tIns="36576" rIns="36576" bIns="36576" anchor="t">
            <a:spAutoFit/>
          </a:bodyPr>
          <a:lstStyle/>
          <a:p>
            <a:r>
              <a:rPr sz="800">
                <a:solidFill>
                  <a:srgbClr val="5B6577"/>
                </a:solidFill>
                <a:latin typeface="Aptos"/>
              </a:rPr>
              <a:t>8</a:t>
            </a:r>
          </a:p>
        </p:txBody>
      </p:sp>
      <p:sp>
        <p:nvSpPr>
          <p:cNvPr id="7" name="TextBox 6"/>
          <p:cNvSpPr txBox="1"/>
          <p:nvPr/>
        </p:nvSpPr>
        <p:spPr>
          <a:xfrm>
            <a:off x="493776" y="6455664"/>
            <a:ext cx="2926080" cy="146304"/>
          </a:xfrm>
          <a:prstGeom prst="rect">
            <a:avLst/>
          </a:prstGeom>
          <a:noFill/>
        </p:spPr>
        <p:txBody>
          <a:bodyPr wrap="square" lIns="36576" tIns="36576" rIns="36576" bIns="36576" anchor="t">
            <a:spAutoFit/>
          </a:bodyPr>
          <a:lstStyle/>
          <a:p>
            <a:pPr algn="l"/>
            <a:r>
              <a:rPr sz="730" b="0">
                <a:solidFill>
                  <a:srgbClr val="7E8796"/>
                </a:solidFill>
                <a:latin typeface="Aptos"/>
              </a:rPr>
              <a:t>Adaptive Batch Size + Learning Rate • Midterm</a:t>
            </a:r>
          </a:p>
        </p:txBody>
      </p:sp>
      <p:sp>
        <p:nvSpPr>
          <p:cNvPr id="8" name="Rounded Rectangle 7"/>
          <p:cNvSpPr/>
          <p:nvPr/>
        </p:nvSpPr>
        <p:spPr>
          <a:xfrm>
            <a:off x="640080" y="1664208"/>
            <a:ext cx="5321808" cy="4242816"/>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0392" y="1847088"/>
            <a:ext cx="4480560" cy="201168"/>
          </a:xfrm>
          <a:prstGeom prst="rect">
            <a:avLst/>
          </a:prstGeom>
          <a:noFill/>
        </p:spPr>
        <p:txBody>
          <a:bodyPr wrap="square" lIns="36576" tIns="36576" rIns="36576" bIns="36576" anchor="t">
            <a:spAutoFit/>
          </a:bodyPr>
          <a:lstStyle/>
          <a:p>
            <a:pPr algn="l"/>
            <a:r>
              <a:rPr sz="1100" b="1">
                <a:solidFill>
                  <a:srgbClr val="315A8A"/>
                </a:solidFill>
                <a:latin typeface="Aptos"/>
              </a:rPr>
              <a:t>1  Measure minibatch gradient magnitude</a:t>
            </a:r>
          </a:p>
        </p:txBody>
      </p:sp>
      <p:pic>
        <p:nvPicPr>
          <p:cNvPr id="10" name="Picture 9" descr="gradnorm.png"/>
          <p:cNvPicPr>
            <a:picLocks noChangeAspect="1"/>
          </p:cNvPicPr>
          <p:nvPr/>
        </p:nvPicPr>
        <p:blipFill>
          <a:blip r:embed="rId3"/>
          <a:stretch>
            <a:fillRect/>
          </a:stretch>
        </p:blipFill>
        <p:spPr>
          <a:xfrm>
            <a:off x="1033271" y="2084831"/>
            <a:ext cx="3854415" cy="632888"/>
          </a:xfrm>
          <a:prstGeom prst="rect">
            <a:avLst/>
          </a:prstGeom>
        </p:spPr>
      </p:pic>
      <p:sp>
        <p:nvSpPr>
          <p:cNvPr id="11" name="TextBox 10"/>
          <p:cNvSpPr txBox="1"/>
          <p:nvPr/>
        </p:nvSpPr>
        <p:spPr>
          <a:xfrm>
            <a:off x="987552" y="2688336"/>
            <a:ext cx="4526280" cy="274320"/>
          </a:xfrm>
          <a:prstGeom prst="rect">
            <a:avLst/>
          </a:prstGeom>
          <a:noFill/>
        </p:spPr>
        <p:txBody>
          <a:bodyPr wrap="square" lIns="36576" tIns="36576" rIns="36576" bIns="36576" anchor="t">
            <a:spAutoFit/>
          </a:bodyPr>
          <a:lstStyle/>
          <a:p>
            <a:pPr algn="l"/>
            <a:r>
              <a:rPr sz="860" b="0">
                <a:solidFill>
                  <a:srgbClr val="5B6577"/>
                </a:solidFill>
                <a:latin typeface="Aptos"/>
              </a:rPr>
              <a:t>One global gradient-norm value is recorded for each optimizer update.</a:t>
            </a:r>
          </a:p>
        </p:txBody>
      </p:sp>
      <p:sp>
        <p:nvSpPr>
          <p:cNvPr id="12" name="TextBox 11"/>
          <p:cNvSpPr txBox="1"/>
          <p:nvPr/>
        </p:nvSpPr>
        <p:spPr>
          <a:xfrm>
            <a:off x="850392" y="3090672"/>
            <a:ext cx="4480560" cy="201168"/>
          </a:xfrm>
          <a:prstGeom prst="rect">
            <a:avLst/>
          </a:prstGeom>
          <a:noFill/>
        </p:spPr>
        <p:txBody>
          <a:bodyPr wrap="square" lIns="36576" tIns="36576" rIns="36576" bIns="36576" anchor="t">
            <a:spAutoFit/>
          </a:bodyPr>
          <a:lstStyle/>
          <a:p>
            <a:pPr algn="l"/>
            <a:r>
              <a:rPr sz="1100" b="1">
                <a:solidFill>
                  <a:srgbClr val="0F8B8D"/>
                </a:solidFill>
                <a:latin typeface="Aptos"/>
              </a:rPr>
              <a:t>2  Convert the epoch to a stability signal</a:t>
            </a:r>
          </a:p>
        </p:txBody>
      </p:sp>
      <p:pic>
        <p:nvPicPr>
          <p:cNvPr id="13" name="Picture 12" descr="cv.png"/>
          <p:cNvPicPr>
            <a:picLocks noChangeAspect="1"/>
          </p:cNvPicPr>
          <p:nvPr/>
        </p:nvPicPr>
        <p:blipFill>
          <a:blip r:embed="rId4"/>
          <a:stretch>
            <a:fillRect/>
          </a:stretch>
        </p:blipFill>
        <p:spPr>
          <a:xfrm>
            <a:off x="1033271" y="3346704"/>
            <a:ext cx="4315968" cy="525253"/>
          </a:xfrm>
          <a:prstGeom prst="rect">
            <a:avLst/>
          </a:prstGeom>
        </p:spPr>
      </p:pic>
      <p:sp>
        <p:nvSpPr>
          <p:cNvPr id="14" name="TextBox 13"/>
          <p:cNvSpPr txBox="1"/>
          <p:nvPr/>
        </p:nvSpPr>
        <p:spPr>
          <a:xfrm>
            <a:off x="987552" y="3931920"/>
            <a:ext cx="4526280" cy="310896"/>
          </a:xfrm>
          <a:prstGeom prst="rect">
            <a:avLst/>
          </a:prstGeom>
          <a:noFill/>
        </p:spPr>
        <p:txBody>
          <a:bodyPr wrap="square" lIns="36576" tIns="36576" rIns="36576" bIns="36576" anchor="t">
            <a:spAutoFit/>
          </a:bodyPr>
          <a:lstStyle/>
          <a:p>
            <a:pPr algn="l"/>
            <a:r>
              <a:rPr sz="860" b="0">
                <a:solidFill>
                  <a:srgbClr val="5B6577"/>
                </a:solidFill>
                <a:latin typeface="Aptos"/>
              </a:rPr>
              <a:t>Lower CV means the minibatch gradient magnitudes were more stable during that epoch.</a:t>
            </a:r>
          </a:p>
        </p:txBody>
      </p:sp>
      <p:sp>
        <p:nvSpPr>
          <p:cNvPr id="15" name="TextBox 14"/>
          <p:cNvSpPr txBox="1"/>
          <p:nvPr/>
        </p:nvSpPr>
        <p:spPr>
          <a:xfrm>
            <a:off x="850392" y="4379976"/>
            <a:ext cx="4480560" cy="201168"/>
          </a:xfrm>
          <a:prstGeom prst="rect">
            <a:avLst/>
          </a:prstGeom>
          <a:noFill/>
        </p:spPr>
        <p:txBody>
          <a:bodyPr wrap="square" lIns="36576" tIns="36576" rIns="36576" bIns="36576" anchor="t">
            <a:spAutoFit/>
          </a:bodyPr>
          <a:lstStyle/>
          <a:p>
            <a:pPr algn="l"/>
            <a:r>
              <a:rPr sz="1100" b="1">
                <a:solidFill>
                  <a:srgbClr val="3D8F68"/>
                </a:solidFill>
                <a:latin typeface="Aptos"/>
              </a:rPr>
              <a:t>3  Smooth over a short history</a:t>
            </a:r>
          </a:p>
        </p:txBody>
      </p:sp>
      <p:pic>
        <p:nvPicPr>
          <p:cNvPr id="16" name="Picture 15" descr="rolling.png"/>
          <p:cNvPicPr>
            <a:picLocks noChangeAspect="1"/>
          </p:cNvPicPr>
          <p:nvPr/>
        </p:nvPicPr>
        <p:blipFill>
          <a:blip r:embed="rId5"/>
          <a:stretch>
            <a:fillRect/>
          </a:stretch>
        </p:blipFill>
        <p:spPr>
          <a:xfrm>
            <a:off x="1093797" y="4560162"/>
            <a:ext cx="4160520" cy="691187"/>
          </a:xfrm>
          <a:prstGeom prst="rect">
            <a:avLst/>
          </a:prstGeom>
        </p:spPr>
      </p:pic>
      <p:sp>
        <p:nvSpPr>
          <p:cNvPr id="17" name="TextBox 16"/>
          <p:cNvSpPr txBox="1"/>
          <p:nvPr/>
        </p:nvSpPr>
        <p:spPr>
          <a:xfrm>
            <a:off x="987552" y="5230368"/>
            <a:ext cx="4526280" cy="256032"/>
          </a:xfrm>
          <a:prstGeom prst="rect">
            <a:avLst/>
          </a:prstGeom>
          <a:noFill/>
        </p:spPr>
        <p:txBody>
          <a:bodyPr wrap="square" lIns="36576" tIns="36576" rIns="36576" bIns="36576" anchor="t">
            <a:spAutoFit/>
          </a:bodyPr>
          <a:lstStyle/>
          <a:p>
            <a:pPr algn="l"/>
            <a:r>
              <a:rPr sz="869" b="1">
                <a:solidFill>
                  <a:srgbClr val="172033"/>
                </a:solidFill>
                <a:latin typeface="Aptos"/>
              </a:rPr>
              <a:t>Current midterm window: w = 3 epochs.  Stability threshold: 0.25.</a:t>
            </a:r>
          </a:p>
        </p:txBody>
      </p:sp>
      <p:sp>
        <p:nvSpPr>
          <p:cNvPr id="18" name="TextBox 17"/>
          <p:cNvSpPr txBox="1"/>
          <p:nvPr/>
        </p:nvSpPr>
        <p:spPr>
          <a:xfrm>
            <a:off x="987552" y="5541264"/>
            <a:ext cx="4526280" cy="256032"/>
          </a:xfrm>
          <a:prstGeom prst="rect">
            <a:avLst/>
          </a:prstGeom>
          <a:noFill/>
        </p:spPr>
        <p:txBody>
          <a:bodyPr wrap="square" lIns="36576" tIns="36576" rIns="36576" bIns="36576" anchor="t">
            <a:spAutoFit/>
          </a:bodyPr>
          <a:lstStyle/>
          <a:p>
            <a:pPr algn="l"/>
            <a:r>
              <a:rPr sz="780" b="1">
                <a:solidFill>
                  <a:srgbClr val="B84B4B"/>
                </a:solidFill>
                <a:latin typeface="Aptos"/>
              </a:rPr>
              <a:t>Terminology: this is gradient-norm stability / gradient-norm CV — not the formal gradient noise scale.</a:t>
            </a:r>
          </a:p>
        </p:txBody>
      </p:sp>
      <p:sp>
        <p:nvSpPr>
          <p:cNvPr id="19" name="Rounded Rectangle 18"/>
          <p:cNvSpPr/>
          <p:nvPr/>
        </p:nvSpPr>
        <p:spPr>
          <a:xfrm>
            <a:off x="6199632" y="1664208"/>
            <a:ext cx="5321808" cy="4242816"/>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0" y="1847088"/>
            <a:ext cx="4526280" cy="201168"/>
          </a:xfrm>
          <a:prstGeom prst="rect">
            <a:avLst/>
          </a:prstGeom>
          <a:noFill/>
        </p:spPr>
        <p:txBody>
          <a:bodyPr wrap="square" lIns="36576" tIns="36576" rIns="36576" bIns="36576" anchor="t">
            <a:spAutoFit/>
          </a:bodyPr>
          <a:lstStyle/>
          <a:p>
            <a:pPr algn="l"/>
            <a:r>
              <a:rPr sz="1100" b="1">
                <a:solidFill>
                  <a:srgbClr val="D7792D"/>
                </a:solidFill>
                <a:latin typeface="Aptos"/>
              </a:rPr>
              <a:t>4  Require a validation plateau</a:t>
            </a:r>
          </a:p>
        </p:txBody>
      </p:sp>
      <p:sp>
        <p:nvSpPr>
          <p:cNvPr id="21" name="TextBox 20"/>
          <p:cNvSpPr txBox="1"/>
          <p:nvPr/>
        </p:nvSpPr>
        <p:spPr>
          <a:xfrm>
            <a:off x="6419088" y="2176272"/>
            <a:ext cx="1627632" cy="164592"/>
          </a:xfrm>
          <a:prstGeom prst="rect">
            <a:avLst/>
          </a:prstGeom>
          <a:noFill/>
        </p:spPr>
        <p:txBody>
          <a:bodyPr wrap="square" lIns="36576" tIns="36576" rIns="36576" bIns="36576" anchor="t">
            <a:spAutoFit/>
          </a:bodyPr>
          <a:lstStyle/>
          <a:p>
            <a:pPr algn="l"/>
            <a:r>
              <a:rPr sz="819" b="1">
                <a:solidFill>
                  <a:srgbClr val="5B6577"/>
                </a:solidFill>
                <a:latin typeface="Aptos"/>
              </a:rPr>
              <a:t>Significant improvement:</a:t>
            </a:r>
          </a:p>
        </p:txBody>
      </p:sp>
      <p:sp>
        <p:nvSpPr>
          <p:cNvPr id="22" name="TextBox 21"/>
          <p:cNvSpPr txBox="1"/>
          <p:nvPr/>
        </p:nvSpPr>
        <p:spPr>
          <a:xfrm>
            <a:off x="7973568" y="2148840"/>
            <a:ext cx="3063240" cy="219456"/>
          </a:xfrm>
          <a:prstGeom prst="rect">
            <a:avLst/>
          </a:prstGeom>
          <a:noFill/>
        </p:spPr>
        <p:txBody>
          <a:bodyPr wrap="square" lIns="36576" tIns="36576" rIns="36576" bIns="36576" anchor="t">
            <a:spAutoFit/>
          </a:bodyPr>
          <a:lstStyle/>
          <a:p>
            <a:pPr algn="l"/>
            <a:r>
              <a:rPr sz="1000" b="1">
                <a:solidFill>
                  <a:srgbClr val="172033"/>
                </a:solidFill>
                <a:latin typeface="Aptos"/>
              </a:rPr>
              <a:t>Lₜ &lt; L_best − Δ,  with  Δ = 0.01</a:t>
            </a:r>
          </a:p>
        </p:txBody>
      </p:sp>
      <p:sp>
        <p:nvSpPr>
          <p:cNvPr id="23" name="TextBox 22"/>
          <p:cNvSpPr txBox="1"/>
          <p:nvPr/>
        </p:nvSpPr>
        <p:spPr>
          <a:xfrm>
            <a:off x="6419088" y="2487168"/>
            <a:ext cx="4736592" cy="475488"/>
          </a:xfrm>
          <a:prstGeom prst="rect">
            <a:avLst/>
          </a:prstGeom>
          <a:noFill/>
        </p:spPr>
        <p:txBody>
          <a:bodyPr wrap="square" lIns="36576" tIns="36576" rIns="36576" bIns="36576" anchor="t">
            <a:spAutoFit/>
          </a:bodyPr>
          <a:lstStyle/>
          <a:p>
            <a:pPr algn="l"/>
            <a:r>
              <a:rPr sz="869" b="0">
                <a:solidFill>
                  <a:srgbClr val="5B6577"/>
                </a:solidFill>
                <a:latin typeface="Aptos"/>
              </a:rPr>
              <a:t>If meaningful improvement does not occur for the plateau patience window, the validation signal is considered plateaued.</a:t>
            </a:r>
          </a:p>
        </p:txBody>
      </p:sp>
      <p:sp>
        <p:nvSpPr>
          <p:cNvPr id="24" name="TextBox 23"/>
          <p:cNvSpPr txBox="1"/>
          <p:nvPr/>
        </p:nvSpPr>
        <p:spPr>
          <a:xfrm>
            <a:off x="6400800" y="3090672"/>
            <a:ext cx="4526280" cy="201168"/>
          </a:xfrm>
          <a:prstGeom prst="rect">
            <a:avLst/>
          </a:prstGeom>
          <a:noFill/>
        </p:spPr>
        <p:txBody>
          <a:bodyPr wrap="square" lIns="36576" tIns="36576" rIns="36576" bIns="36576" anchor="t">
            <a:spAutoFit/>
          </a:bodyPr>
          <a:lstStyle/>
          <a:p>
            <a:pPr algn="l"/>
            <a:r>
              <a:rPr sz="1100" b="1">
                <a:solidFill>
                  <a:srgbClr val="8066A9"/>
                </a:solidFill>
                <a:latin typeface="Aptos"/>
              </a:rPr>
              <a:t>5  Grow only when both conditions agree</a:t>
            </a:r>
          </a:p>
        </p:txBody>
      </p:sp>
      <p:pic>
        <p:nvPicPr>
          <p:cNvPr id="25" name="Picture 24" descr="batchdecision.png"/>
          <p:cNvPicPr>
            <a:picLocks noChangeAspect="1"/>
          </p:cNvPicPr>
          <p:nvPr/>
        </p:nvPicPr>
        <p:blipFill>
          <a:blip r:embed="rId6"/>
          <a:stretch>
            <a:fillRect/>
          </a:stretch>
        </p:blipFill>
        <p:spPr>
          <a:xfrm>
            <a:off x="6565392" y="3337560"/>
            <a:ext cx="4617720" cy="561976"/>
          </a:xfrm>
          <a:prstGeom prst="rect">
            <a:avLst/>
          </a:prstGeom>
        </p:spPr>
      </p:pic>
      <p:sp>
        <p:nvSpPr>
          <p:cNvPr id="26" name="TextBox 25"/>
          <p:cNvSpPr txBox="1"/>
          <p:nvPr/>
        </p:nvSpPr>
        <p:spPr>
          <a:xfrm>
            <a:off x="6565392" y="4069080"/>
            <a:ext cx="4617720" cy="201168"/>
          </a:xfrm>
          <a:prstGeom prst="rect">
            <a:avLst/>
          </a:prstGeom>
          <a:noFill/>
        </p:spPr>
        <p:txBody>
          <a:bodyPr wrap="square" lIns="0" tIns="0" rIns="0" bIns="0" anchor="t">
            <a:spAutoFit/>
          </a:bodyPr>
          <a:lstStyle/>
          <a:p>
            <a:pPr algn="ctr"/>
            <a:r>
              <a:rPr sz="900" b="1">
                <a:solidFill>
                  <a:srgbClr val="172033"/>
                </a:solidFill>
                <a:latin typeface="Aptos"/>
              </a:rPr>
              <a:t>only if: plateau  AND  Sₜ ≤ 0.25; otherwise keep Bₜ</a:t>
            </a:r>
          </a:p>
        </p:txBody>
      </p:sp>
      <p:sp>
        <p:nvSpPr>
          <p:cNvPr id="27" name="TextBox 26"/>
          <p:cNvSpPr txBox="1"/>
          <p:nvPr/>
        </p:nvSpPr>
        <p:spPr>
          <a:xfrm>
            <a:off x="6437376" y="4727448"/>
            <a:ext cx="1554480" cy="164592"/>
          </a:xfrm>
          <a:prstGeom prst="rect">
            <a:avLst/>
          </a:prstGeom>
          <a:noFill/>
        </p:spPr>
        <p:txBody>
          <a:bodyPr wrap="square" lIns="36576" tIns="36576" rIns="36576" bIns="36576" anchor="t">
            <a:spAutoFit/>
          </a:bodyPr>
          <a:lstStyle/>
          <a:p>
            <a:pPr algn="l"/>
            <a:r>
              <a:rPr sz="840" b="1">
                <a:solidFill>
                  <a:srgbClr val="5B6577"/>
                </a:solidFill>
                <a:latin typeface="Aptos"/>
              </a:rPr>
              <a:t>Allowed batch ladder</a:t>
            </a:r>
          </a:p>
        </p:txBody>
      </p:sp>
      <p:sp>
        <p:nvSpPr>
          <p:cNvPr id="28" name="Rounded Rectangle 27"/>
          <p:cNvSpPr/>
          <p:nvPr/>
        </p:nvSpPr>
        <p:spPr>
          <a:xfrm>
            <a:off x="6473952" y="5020056"/>
            <a:ext cx="914400" cy="484632"/>
          </a:xfrm>
          <a:prstGeom prst="roundRect">
            <a:avLst>
              <a:gd name="adj" fmla="val 8000"/>
            </a:avLst>
          </a:prstGeom>
          <a:solidFill>
            <a:srgbClr val="315A8A"/>
          </a:solidFill>
          <a:ln w="12700">
            <a:solidFill>
              <a:srgbClr val="315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73952" y="5138928"/>
            <a:ext cx="914400" cy="164592"/>
          </a:xfrm>
          <a:prstGeom prst="rect">
            <a:avLst/>
          </a:prstGeom>
          <a:noFill/>
        </p:spPr>
        <p:txBody>
          <a:bodyPr wrap="square" lIns="0" tIns="0" rIns="0" bIns="0" anchor="t">
            <a:spAutoFit/>
          </a:bodyPr>
          <a:lstStyle/>
          <a:p>
            <a:pPr algn="ctr"/>
            <a:r>
              <a:rPr sz="1000" b="1">
                <a:solidFill>
                  <a:srgbClr val="FFFFFF"/>
                </a:solidFill>
                <a:latin typeface="Aptos"/>
              </a:rPr>
              <a:t>32</a:t>
            </a:r>
          </a:p>
        </p:txBody>
      </p:sp>
      <p:sp>
        <p:nvSpPr>
          <p:cNvPr id="30" name="TextBox 29"/>
          <p:cNvSpPr txBox="1"/>
          <p:nvPr/>
        </p:nvSpPr>
        <p:spPr>
          <a:xfrm>
            <a:off x="7360920" y="5120640"/>
            <a:ext cx="228600" cy="182880"/>
          </a:xfrm>
          <a:prstGeom prst="rect">
            <a:avLst/>
          </a:prstGeom>
          <a:noFill/>
        </p:spPr>
        <p:txBody>
          <a:bodyPr wrap="square" lIns="36576" tIns="36576" rIns="36576" bIns="36576" anchor="t">
            <a:spAutoFit/>
          </a:bodyPr>
          <a:lstStyle/>
          <a:p>
            <a:pPr algn="ctr"/>
            <a:r>
              <a:rPr sz="1100" b="1">
                <a:solidFill>
                  <a:srgbClr val="5B6577"/>
                </a:solidFill>
                <a:latin typeface="Aptos"/>
              </a:rPr>
              <a:t>→</a:t>
            </a:r>
          </a:p>
        </p:txBody>
      </p:sp>
      <p:sp>
        <p:nvSpPr>
          <p:cNvPr id="31" name="Rounded Rectangle 30"/>
          <p:cNvSpPr/>
          <p:nvPr/>
        </p:nvSpPr>
        <p:spPr>
          <a:xfrm>
            <a:off x="7589520" y="5020056"/>
            <a:ext cx="914400" cy="484632"/>
          </a:xfrm>
          <a:prstGeom prst="roundRect">
            <a:avLst>
              <a:gd name="adj" fmla="val 8000"/>
            </a:avLst>
          </a:prstGeom>
          <a:solidFill>
            <a:srgbClr val="0F8B8D"/>
          </a:solidFill>
          <a:ln w="12700">
            <a:solidFill>
              <a:srgbClr val="0F8B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589520" y="5138928"/>
            <a:ext cx="914400" cy="164592"/>
          </a:xfrm>
          <a:prstGeom prst="rect">
            <a:avLst/>
          </a:prstGeom>
          <a:noFill/>
        </p:spPr>
        <p:txBody>
          <a:bodyPr wrap="square" lIns="0" tIns="0" rIns="0" bIns="0" anchor="t">
            <a:spAutoFit/>
          </a:bodyPr>
          <a:lstStyle/>
          <a:p>
            <a:pPr algn="ctr"/>
            <a:r>
              <a:rPr sz="1000" b="1">
                <a:solidFill>
                  <a:srgbClr val="FFFFFF"/>
                </a:solidFill>
                <a:latin typeface="Aptos"/>
              </a:rPr>
              <a:t>64</a:t>
            </a:r>
          </a:p>
        </p:txBody>
      </p:sp>
      <p:sp>
        <p:nvSpPr>
          <p:cNvPr id="33" name="TextBox 32"/>
          <p:cNvSpPr txBox="1"/>
          <p:nvPr/>
        </p:nvSpPr>
        <p:spPr>
          <a:xfrm>
            <a:off x="8476488" y="5120640"/>
            <a:ext cx="228600" cy="182880"/>
          </a:xfrm>
          <a:prstGeom prst="rect">
            <a:avLst/>
          </a:prstGeom>
          <a:noFill/>
        </p:spPr>
        <p:txBody>
          <a:bodyPr wrap="square" lIns="36576" tIns="36576" rIns="36576" bIns="36576" anchor="t">
            <a:spAutoFit/>
          </a:bodyPr>
          <a:lstStyle/>
          <a:p>
            <a:pPr algn="ctr"/>
            <a:r>
              <a:rPr sz="1100" b="1">
                <a:solidFill>
                  <a:srgbClr val="5B6577"/>
                </a:solidFill>
                <a:latin typeface="Aptos"/>
              </a:rPr>
              <a:t>→</a:t>
            </a:r>
          </a:p>
        </p:txBody>
      </p:sp>
      <p:sp>
        <p:nvSpPr>
          <p:cNvPr id="34" name="Rounded Rectangle 33"/>
          <p:cNvSpPr/>
          <p:nvPr/>
        </p:nvSpPr>
        <p:spPr>
          <a:xfrm>
            <a:off x="8705088" y="5020056"/>
            <a:ext cx="914400" cy="484632"/>
          </a:xfrm>
          <a:prstGeom prst="roundRect">
            <a:avLst>
              <a:gd name="adj" fmla="val 8000"/>
            </a:avLst>
          </a:prstGeom>
          <a:solidFill>
            <a:srgbClr val="3D8F68"/>
          </a:solidFill>
          <a:ln w="12700">
            <a:solidFill>
              <a:srgbClr val="3D8F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705088" y="5138928"/>
            <a:ext cx="914400" cy="164592"/>
          </a:xfrm>
          <a:prstGeom prst="rect">
            <a:avLst/>
          </a:prstGeom>
          <a:noFill/>
        </p:spPr>
        <p:txBody>
          <a:bodyPr wrap="square" lIns="0" tIns="0" rIns="0" bIns="0" anchor="t">
            <a:spAutoFit/>
          </a:bodyPr>
          <a:lstStyle/>
          <a:p>
            <a:pPr algn="ctr"/>
            <a:r>
              <a:rPr sz="1000" b="1">
                <a:solidFill>
                  <a:srgbClr val="FFFFFF"/>
                </a:solidFill>
                <a:latin typeface="Aptos"/>
              </a:rPr>
              <a:t>128</a:t>
            </a:r>
          </a:p>
        </p:txBody>
      </p:sp>
      <p:sp>
        <p:nvSpPr>
          <p:cNvPr id="36" name="TextBox 35"/>
          <p:cNvSpPr txBox="1"/>
          <p:nvPr/>
        </p:nvSpPr>
        <p:spPr>
          <a:xfrm>
            <a:off x="9592056" y="5120640"/>
            <a:ext cx="228600" cy="182880"/>
          </a:xfrm>
          <a:prstGeom prst="rect">
            <a:avLst/>
          </a:prstGeom>
          <a:noFill/>
        </p:spPr>
        <p:txBody>
          <a:bodyPr wrap="square" lIns="36576" tIns="36576" rIns="36576" bIns="36576" anchor="t">
            <a:spAutoFit/>
          </a:bodyPr>
          <a:lstStyle/>
          <a:p>
            <a:pPr algn="ctr"/>
            <a:r>
              <a:rPr sz="1100" b="1">
                <a:solidFill>
                  <a:srgbClr val="5B6577"/>
                </a:solidFill>
                <a:latin typeface="Aptos"/>
              </a:rPr>
              <a:t>→</a:t>
            </a:r>
          </a:p>
        </p:txBody>
      </p:sp>
      <p:sp>
        <p:nvSpPr>
          <p:cNvPr id="37" name="Rounded Rectangle 36"/>
          <p:cNvSpPr/>
          <p:nvPr/>
        </p:nvSpPr>
        <p:spPr>
          <a:xfrm>
            <a:off x="9820656" y="5020056"/>
            <a:ext cx="914400" cy="484632"/>
          </a:xfrm>
          <a:prstGeom prst="roundRect">
            <a:avLst>
              <a:gd name="adj" fmla="val 8000"/>
            </a:avLst>
          </a:prstGeom>
          <a:solidFill>
            <a:srgbClr val="8066A9"/>
          </a:solidFill>
          <a:ln w="12700">
            <a:solidFill>
              <a:srgbClr val="8066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820656" y="5138928"/>
            <a:ext cx="914400" cy="164592"/>
          </a:xfrm>
          <a:prstGeom prst="rect">
            <a:avLst/>
          </a:prstGeom>
          <a:noFill/>
        </p:spPr>
        <p:txBody>
          <a:bodyPr wrap="square" lIns="0" tIns="0" rIns="0" bIns="0" anchor="t">
            <a:spAutoFit/>
          </a:bodyPr>
          <a:lstStyle/>
          <a:p>
            <a:pPr algn="ctr"/>
            <a:r>
              <a:rPr sz="1000" b="1">
                <a:solidFill>
                  <a:srgbClr val="FFFFFF"/>
                </a:solidFill>
                <a:latin typeface="Aptos"/>
              </a:rPr>
              <a:t>256</a:t>
            </a:r>
          </a:p>
        </p:txBody>
      </p:sp>
      <p:sp>
        <p:nvSpPr>
          <p:cNvPr id="39" name="TextBox 38"/>
          <p:cNvSpPr txBox="1"/>
          <p:nvPr/>
        </p:nvSpPr>
        <p:spPr>
          <a:xfrm>
            <a:off x="6437376" y="5577840"/>
            <a:ext cx="4663440" cy="219456"/>
          </a:xfrm>
          <a:prstGeom prst="rect">
            <a:avLst/>
          </a:prstGeom>
          <a:noFill/>
        </p:spPr>
        <p:txBody>
          <a:bodyPr wrap="square" lIns="36576" tIns="36576" rIns="36576" bIns="36576" anchor="t">
            <a:spAutoFit/>
          </a:bodyPr>
          <a:lstStyle/>
          <a:p>
            <a:pPr algn="l"/>
            <a:r>
              <a:rPr sz="790" b="0">
                <a:solidFill>
                  <a:srgbClr val="5B6577"/>
                </a:solidFill>
                <a:latin typeface="Aptos"/>
              </a:rPr>
              <a:t>Cooldown = 2 epochs after a batch change; the current suite uses grow-only adaptation.</a:t>
            </a:r>
          </a:p>
        </p:txBody>
      </p:sp>
      <p:sp>
        <p:nvSpPr>
          <p:cNvPr id="40" name="Rounded Rectangle 39"/>
          <p:cNvSpPr/>
          <p:nvPr/>
        </p:nvSpPr>
        <p:spPr>
          <a:xfrm>
            <a:off x="868680" y="5989320"/>
            <a:ext cx="10424160" cy="310896"/>
          </a:xfrm>
          <a:prstGeom prst="roundRect">
            <a:avLst>
              <a:gd name="adj" fmla="val 8000"/>
            </a:avLst>
          </a:prstGeom>
          <a:solidFill>
            <a:srgbClr val="E8F5F4"/>
          </a:solidFill>
          <a:ln w="12700">
            <a:solidFill>
              <a:srgbClr val="E8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87552" y="6062472"/>
            <a:ext cx="10168128" cy="164592"/>
          </a:xfrm>
          <a:prstGeom prst="rect">
            <a:avLst/>
          </a:prstGeom>
          <a:noFill/>
        </p:spPr>
        <p:txBody>
          <a:bodyPr wrap="square" lIns="0" tIns="0" rIns="0" bIns="0" anchor="t">
            <a:spAutoFit/>
          </a:bodyPr>
          <a:lstStyle/>
          <a:p>
            <a:pPr algn="ctr"/>
            <a:r>
              <a:rPr sz="869" b="1">
                <a:solidFill>
                  <a:srgbClr val="0F8B8D"/>
                </a:solidFill>
                <a:latin typeface="Aptos"/>
              </a:rPr>
              <a:t>Decision summary:  validation plateau  +  rolling gradient stability ≤ 0.25  ⇒  select the next larger batch for the following epoch.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Box 1"/>
          <p:cNvSpPr txBox="1"/>
          <p:nvPr/>
        </p:nvSpPr>
        <p:spPr>
          <a:xfrm>
            <a:off x="566928" y="347472"/>
            <a:ext cx="10789920" cy="411480"/>
          </a:xfrm>
          <a:prstGeom prst="rect">
            <a:avLst/>
          </a:prstGeom>
          <a:noFill/>
        </p:spPr>
        <p:txBody>
          <a:bodyPr wrap="square" lIns="36576" tIns="36576" rIns="36576" bIns="36576" anchor="t">
            <a:spAutoFit/>
          </a:bodyPr>
          <a:lstStyle/>
          <a:p>
            <a:pPr algn="l"/>
            <a:r>
              <a:rPr sz="2400" b="1">
                <a:solidFill>
                  <a:srgbClr val="172033"/>
                </a:solidFill>
                <a:latin typeface="Aptos Display"/>
              </a:rPr>
              <a:t>Adaptive learning-rate controller design</a:t>
            </a:r>
          </a:p>
        </p:txBody>
      </p:sp>
      <p:sp>
        <p:nvSpPr>
          <p:cNvPr id="3" name="TextBox 2"/>
          <p:cNvSpPr txBox="1"/>
          <p:nvPr/>
        </p:nvSpPr>
        <p:spPr>
          <a:xfrm>
            <a:off x="585216" y="832104"/>
            <a:ext cx="10744200" cy="301752"/>
          </a:xfrm>
          <a:prstGeom prst="rect">
            <a:avLst/>
          </a:prstGeom>
          <a:noFill/>
        </p:spPr>
        <p:txBody>
          <a:bodyPr wrap="square" lIns="36576" tIns="36576" rIns="36576" bIns="36576" anchor="t">
            <a:spAutoFit/>
          </a:bodyPr>
          <a:lstStyle/>
          <a:p>
            <a:pPr algn="l"/>
            <a:r>
              <a:rPr sz="1050" b="0">
                <a:solidFill>
                  <a:srgbClr val="5B6577"/>
                </a:solidFill>
                <a:latin typeface="Aptos"/>
              </a:rPr>
              <a:t>Batch-aware LR scaling + validation decay; E4 computes the next LR from the next selected batch.</a:t>
            </a:r>
          </a:p>
        </p:txBody>
      </p:sp>
      <p:sp>
        <p:nvSpPr>
          <p:cNvPr id="4" name="Rounded Rectangle 3"/>
          <p:cNvSpPr/>
          <p:nvPr/>
        </p:nvSpPr>
        <p:spPr>
          <a:xfrm>
            <a:off x="585216" y="1225296"/>
            <a:ext cx="1600200" cy="256032"/>
          </a:xfrm>
          <a:prstGeom prst="roundRect">
            <a:avLst>
              <a:gd name="adj" fmla="val 8000"/>
            </a:avLst>
          </a:prstGeom>
          <a:solidFill>
            <a:srgbClr val="E8F5F4"/>
          </a:solidFill>
          <a:ln w="12700">
            <a:solidFill>
              <a:srgbClr val="E8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67512" y="1271016"/>
            <a:ext cx="1435608" cy="128016"/>
          </a:xfrm>
          <a:prstGeom prst="rect">
            <a:avLst/>
          </a:prstGeom>
          <a:noFill/>
        </p:spPr>
        <p:txBody>
          <a:bodyPr wrap="square" lIns="0" tIns="0" rIns="0" bIns="0" anchor="ctr">
            <a:spAutoFit/>
          </a:bodyPr>
          <a:lstStyle/>
          <a:p>
            <a:pPr algn="ctr"/>
            <a:r>
              <a:rPr sz="730" b="1">
                <a:solidFill>
                  <a:srgbClr val="0F8B8D"/>
                </a:solidFill>
                <a:latin typeface="Aptos"/>
              </a:rPr>
              <a:t>LR CONTROLLER</a:t>
            </a:r>
          </a:p>
        </p:txBody>
      </p:sp>
      <p:sp>
        <p:nvSpPr>
          <p:cNvPr id="6" name="TextBox 5"/>
          <p:cNvSpPr txBox="1"/>
          <p:nvPr/>
        </p:nvSpPr>
        <p:spPr>
          <a:xfrm>
            <a:off x="11384280" y="6446520"/>
            <a:ext cx="320040" cy="182880"/>
          </a:xfrm>
          <a:prstGeom prst="rect">
            <a:avLst/>
          </a:prstGeom>
          <a:noFill/>
        </p:spPr>
        <p:txBody>
          <a:bodyPr wrap="square" lIns="36576" tIns="36576" rIns="36576" bIns="36576" anchor="t">
            <a:spAutoFit/>
          </a:bodyPr>
          <a:lstStyle/>
          <a:p>
            <a:r>
              <a:rPr sz="800">
                <a:solidFill>
                  <a:srgbClr val="5B6577"/>
                </a:solidFill>
                <a:latin typeface="Aptos"/>
              </a:rPr>
              <a:t>9</a:t>
            </a:r>
          </a:p>
        </p:txBody>
      </p:sp>
      <p:sp>
        <p:nvSpPr>
          <p:cNvPr id="7" name="TextBox 6"/>
          <p:cNvSpPr txBox="1"/>
          <p:nvPr/>
        </p:nvSpPr>
        <p:spPr>
          <a:xfrm>
            <a:off x="493776" y="6455664"/>
            <a:ext cx="2926080" cy="146304"/>
          </a:xfrm>
          <a:prstGeom prst="rect">
            <a:avLst/>
          </a:prstGeom>
          <a:noFill/>
        </p:spPr>
        <p:txBody>
          <a:bodyPr wrap="square" lIns="36576" tIns="36576" rIns="36576" bIns="36576" anchor="t">
            <a:spAutoFit/>
          </a:bodyPr>
          <a:lstStyle/>
          <a:p>
            <a:pPr algn="l"/>
            <a:r>
              <a:rPr sz="730" b="0">
                <a:solidFill>
                  <a:srgbClr val="7E8796"/>
                </a:solidFill>
                <a:latin typeface="Aptos"/>
              </a:rPr>
              <a:t>Adaptive Batch Size + Learning Rate • Midterm</a:t>
            </a:r>
          </a:p>
        </p:txBody>
      </p:sp>
      <p:sp>
        <p:nvSpPr>
          <p:cNvPr id="8" name="Rounded Rectangle 7"/>
          <p:cNvSpPr/>
          <p:nvPr/>
        </p:nvSpPr>
        <p:spPr>
          <a:xfrm>
            <a:off x="640080" y="1664208"/>
            <a:ext cx="5321808" cy="4169663"/>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0392" y="1847088"/>
            <a:ext cx="4389120" cy="201168"/>
          </a:xfrm>
          <a:prstGeom prst="rect">
            <a:avLst/>
          </a:prstGeom>
          <a:noFill/>
        </p:spPr>
        <p:txBody>
          <a:bodyPr wrap="square" lIns="36576" tIns="36576" rIns="36576" bIns="36576" anchor="t">
            <a:spAutoFit/>
          </a:bodyPr>
          <a:lstStyle/>
          <a:p>
            <a:pPr algn="l"/>
            <a:r>
              <a:rPr sz="1100" b="1">
                <a:solidFill>
                  <a:srgbClr val="315A8A"/>
                </a:solidFill>
                <a:latin typeface="Aptos"/>
              </a:rPr>
              <a:t>1  Batch-aware LR scaling</a:t>
            </a:r>
          </a:p>
        </p:txBody>
      </p:sp>
      <p:pic>
        <p:nvPicPr>
          <p:cNvPr id="10" name="Picture 9" descr="lrbase.png"/>
          <p:cNvPicPr>
            <a:picLocks noChangeAspect="1"/>
          </p:cNvPicPr>
          <p:nvPr/>
        </p:nvPicPr>
        <p:blipFill>
          <a:blip r:embed="rId3"/>
          <a:stretch>
            <a:fillRect/>
          </a:stretch>
        </p:blipFill>
        <p:spPr>
          <a:xfrm>
            <a:off x="941832" y="2103120"/>
            <a:ext cx="4617720" cy="561976"/>
          </a:xfrm>
          <a:prstGeom prst="rect">
            <a:avLst/>
          </a:prstGeom>
        </p:spPr>
      </p:pic>
      <p:sp>
        <p:nvSpPr>
          <p:cNvPr id="11" name="TextBox 10"/>
          <p:cNvSpPr txBox="1"/>
          <p:nvPr/>
        </p:nvSpPr>
        <p:spPr>
          <a:xfrm>
            <a:off x="914400" y="2697480"/>
            <a:ext cx="4663440" cy="201168"/>
          </a:xfrm>
          <a:prstGeom prst="rect">
            <a:avLst/>
          </a:prstGeom>
          <a:noFill/>
        </p:spPr>
        <p:txBody>
          <a:bodyPr wrap="square" lIns="36576" tIns="36576" rIns="36576" bIns="36576" anchor="t">
            <a:spAutoFit/>
          </a:bodyPr>
          <a:lstStyle/>
          <a:p>
            <a:pPr algn="l"/>
            <a:r>
              <a:rPr sz="850" b="1">
                <a:solidFill>
                  <a:srgbClr val="172033"/>
                </a:solidFill>
                <a:latin typeface="Aptos"/>
              </a:rPr>
              <a:t>Current midterm parameters: reference LR = 0.01 • reference batch = 32 • alpha = 0.2</a:t>
            </a:r>
          </a:p>
        </p:txBody>
      </p:sp>
      <p:sp>
        <p:nvSpPr>
          <p:cNvPr id="12" name="TextBox 11"/>
          <p:cNvSpPr txBox="1"/>
          <p:nvPr/>
        </p:nvSpPr>
        <p:spPr>
          <a:xfrm>
            <a:off x="914400" y="2980944"/>
            <a:ext cx="4663440" cy="347472"/>
          </a:xfrm>
          <a:prstGeom prst="rect">
            <a:avLst/>
          </a:prstGeom>
          <a:noFill/>
        </p:spPr>
        <p:txBody>
          <a:bodyPr wrap="square" lIns="36576" tIns="36576" rIns="36576" bIns="36576" anchor="t">
            <a:spAutoFit/>
          </a:bodyPr>
          <a:lstStyle/>
          <a:p>
            <a:pPr algn="l"/>
            <a:r>
              <a:rPr sz="830" b="0">
                <a:solidFill>
                  <a:srgbClr val="5B6577"/>
                </a:solidFill>
                <a:latin typeface="Aptos"/>
              </a:rPr>
              <a:t>Sublinear scaling raises the LR as batch size grows, but less aggressively than the linear scaling rule.</a:t>
            </a:r>
          </a:p>
        </p:txBody>
      </p:sp>
      <p:sp>
        <p:nvSpPr>
          <p:cNvPr id="13" name="Rounded Rectangle 12"/>
          <p:cNvSpPr/>
          <p:nvPr/>
        </p:nvSpPr>
        <p:spPr>
          <a:xfrm>
            <a:off x="841248" y="3511296"/>
            <a:ext cx="1078992" cy="786384"/>
          </a:xfrm>
          <a:prstGeom prst="roundRect">
            <a:avLst>
              <a:gd name="adj" fmla="val 8000"/>
            </a:avLst>
          </a:prstGeom>
          <a:solidFill>
            <a:srgbClr val="F8FAFC"/>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8" y="3630168"/>
            <a:ext cx="1078992" cy="146304"/>
          </a:xfrm>
          <a:prstGeom prst="rect">
            <a:avLst/>
          </a:prstGeom>
          <a:noFill/>
        </p:spPr>
        <p:txBody>
          <a:bodyPr wrap="square" lIns="0" tIns="0" rIns="0" bIns="0" anchor="t">
            <a:spAutoFit/>
          </a:bodyPr>
          <a:lstStyle/>
          <a:p>
            <a:pPr algn="ctr"/>
            <a:r>
              <a:rPr sz="780" b="1">
                <a:solidFill>
                  <a:srgbClr val="315A8A"/>
                </a:solidFill>
                <a:latin typeface="Aptos"/>
              </a:rPr>
              <a:t>B=32</a:t>
            </a:r>
          </a:p>
        </p:txBody>
      </p:sp>
      <p:sp>
        <p:nvSpPr>
          <p:cNvPr id="15" name="TextBox 14"/>
          <p:cNvSpPr txBox="1"/>
          <p:nvPr/>
        </p:nvSpPr>
        <p:spPr>
          <a:xfrm>
            <a:off x="841248" y="3931920"/>
            <a:ext cx="1078992" cy="164592"/>
          </a:xfrm>
          <a:prstGeom prst="rect">
            <a:avLst/>
          </a:prstGeom>
          <a:noFill/>
        </p:spPr>
        <p:txBody>
          <a:bodyPr wrap="square" lIns="0" tIns="0" rIns="0" bIns="0" anchor="t">
            <a:spAutoFit/>
          </a:bodyPr>
          <a:lstStyle/>
          <a:p>
            <a:pPr algn="ctr"/>
            <a:r>
              <a:rPr sz="1000" b="1">
                <a:solidFill>
                  <a:srgbClr val="172033"/>
                </a:solidFill>
                <a:latin typeface="Aptos"/>
              </a:rPr>
              <a:t>0.01000</a:t>
            </a:r>
          </a:p>
        </p:txBody>
      </p:sp>
      <p:sp>
        <p:nvSpPr>
          <p:cNvPr id="16" name="Rounded Rectangle 15"/>
          <p:cNvSpPr/>
          <p:nvPr/>
        </p:nvSpPr>
        <p:spPr>
          <a:xfrm>
            <a:off x="2066544" y="3511296"/>
            <a:ext cx="1078992" cy="786384"/>
          </a:xfrm>
          <a:prstGeom prst="roundRect">
            <a:avLst>
              <a:gd name="adj" fmla="val 8000"/>
            </a:avLst>
          </a:prstGeom>
          <a:solidFill>
            <a:srgbClr val="F8FAFC"/>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066544" y="3630168"/>
            <a:ext cx="1078992" cy="146304"/>
          </a:xfrm>
          <a:prstGeom prst="rect">
            <a:avLst/>
          </a:prstGeom>
          <a:noFill/>
        </p:spPr>
        <p:txBody>
          <a:bodyPr wrap="square" lIns="0" tIns="0" rIns="0" bIns="0" anchor="t">
            <a:spAutoFit/>
          </a:bodyPr>
          <a:lstStyle/>
          <a:p>
            <a:pPr algn="ctr"/>
            <a:r>
              <a:rPr sz="780" b="1">
                <a:solidFill>
                  <a:srgbClr val="0F8B8D"/>
                </a:solidFill>
                <a:latin typeface="Aptos"/>
              </a:rPr>
              <a:t>B=64</a:t>
            </a:r>
          </a:p>
        </p:txBody>
      </p:sp>
      <p:sp>
        <p:nvSpPr>
          <p:cNvPr id="18" name="TextBox 17"/>
          <p:cNvSpPr txBox="1"/>
          <p:nvPr/>
        </p:nvSpPr>
        <p:spPr>
          <a:xfrm>
            <a:off x="2066544" y="3931920"/>
            <a:ext cx="1078992" cy="164592"/>
          </a:xfrm>
          <a:prstGeom prst="rect">
            <a:avLst/>
          </a:prstGeom>
          <a:noFill/>
        </p:spPr>
        <p:txBody>
          <a:bodyPr wrap="square" lIns="0" tIns="0" rIns="0" bIns="0" anchor="t">
            <a:spAutoFit/>
          </a:bodyPr>
          <a:lstStyle/>
          <a:p>
            <a:pPr algn="ctr"/>
            <a:r>
              <a:rPr sz="1000" b="1">
                <a:solidFill>
                  <a:srgbClr val="172033"/>
                </a:solidFill>
                <a:latin typeface="Aptos"/>
              </a:rPr>
              <a:t>0.01149</a:t>
            </a:r>
          </a:p>
        </p:txBody>
      </p:sp>
      <p:sp>
        <p:nvSpPr>
          <p:cNvPr id="19" name="Rounded Rectangle 18"/>
          <p:cNvSpPr/>
          <p:nvPr/>
        </p:nvSpPr>
        <p:spPr>
          <a:xfrm>
            <a:off x="3291840" y="3511296"/>
            <a:ext cx="1078992" cy="786384"/>
          </a:xfrm>
          <a:prstGeom prst="roundRect">
            <a:avLst>
              <a:gd name="adj" fmla="val 8000"/>
            </a:avLst>
          </a:prstGeom>
          <a:solidFill>
            <a:srgbClr val="F8FAFC"/>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291840" y="3630168"/>
            <a:ext cx="1078992" cy="146304"/>
          </a:xfrm>
          <a:prstGeom prst="rect">
            <a:avLst/>
          </a:prstGeom>
          <a:noFill/>
        </p:spPr>
        <p:txBody>
          <a:bodyPr wrap="square" lIns="0" tIns="0" rIns="0" bIns="0" anchor="t">
            <a:spAutoFit/>
          </a:bodyPr>
          <a:lstStyle/>
          <a:p>
            <a:pPr algn="ctr"/>
            <a:r>
              <a:rPr sz="780" b="1">
                <a:solidFill>
                  <a:srgbClr val="3D8F68"/>
                </a:solidFill>
                <a:latin typeface="Aptos"/>
              </a:rPr>
              <a:t>B=128</a:t>
            </a:r>
          </a:p>
        </p:txBody>
      </p:sp>
      <p:sp>
        <p:nvSpPr>
          <p:cNvPr id="21" name="TextBox 20"/>
          <p:cNvSpPr txBox="1"/>
          <p:nvPr/>
        </p:nvSpPr>
        <p:spPr>
          <a:xfrm>
            <a:off x="3291840" y="3931920"/>
            <a:ext cx="1078992" cy="164592"/>
          </a:xfrm>
          <a:prstGeom prst="rect">
            <a:avLst/>
          </a:prstGeom>
          <a:noFill/>
        </p:spPr>
        <p:txBody>
          <a:bodyPr wrap="square" lIns="0" tIns="0" rIns="0" bIns="0" anchor="t">
            <a:spAutoFit/>
          </a:bodyPr>
          <a:lstStyle/>
          <a:p>
            <a:pPr algn="ctr"/>
            <a:r>
              <a:rPr sz="1000" b="1">
                <a:solidFill>
                  <a:srgbClr val="172033"/>
                </a:solidFill>
                <a:latin typeface="Aptos"/>
              </a:rPr>
              <a:t>0.01320</a:t>
            </a:r>
          </a:p>
        </p:txBody>
      </p:sp>
      <p:sp>
        <p:nvSpPr>
          <p:cNvPr id="22" name="Rounded Rectangle 21"/>
          <p:cNvSpPr/>
          <p:nvPr/>
        </p:nvSpPr>
        <p:spPr>
          <a:xfrm>
            <a:off x="4517136" y="3511296"/>
            <a:ext cx="1078992" cy="786384"/>
          </a:xfrm>
          <a:prstGeom prst="roundRect">
            <a:avLst>
              <a:gd name="adj" fmla="val 8000"/>
            </a:avLst>
          </a:prstGeom>
          <a:solidFill>
            <a:srgbClr val="F8FAFC"/>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17136" y="3630168"/>
            <a:ext cx="1078992" cy="146304"/>
          </a:xfrm>
          <a:prstGeom prst="rect">
            <a:avLst/>
          </a:prstGeom>
          <a:noFill/>
        </p:spPr>
        <p:txBody>
          <a:bodyPr wrap="square" lIns="0" tIns="0" rIns="0" bIns="0" anchor="t">
            <a:spAutoFit/>
          </a:bodyPr>
          <a:lstStyle/>
          <a:p>
            <a:pPr algn="ctr"/>
            <a:r>
              <a:rPr sz="780" b="1">
                <a:solidFill>
                  <a:srgbClr val="8066A9"/>
                </a:solidFill>
                <a:latin typeface="Aptos"/>
              </a:rPr>
              <a:t>B=256</a:t>
            </a:r>
          </a:p>
        </p:txBody>
      </p:sp>
      <p:sp>
        <p:nvSpPr>
          <p:cNvPr id="24" name="TextBox 23"/>
          <p:cNvSpPr txBox="1"/>
          <p:nvPr/>
        </p:nvSpPr>
        <p:spPr>
          <a:xfrm>
            <a:off x="4517136" y="3931920"/>
            <a:ext cx="1078992" cy="164592"/>
          </a:xfrm>
          <a:prstGeom prst="rect">
            <a:avLst/>
          </a:prstGeom>
          <a:noFill/>
        </p:spPr>
        <p:txBody>
          <a:bodyPr wrap="square" lIns="0" tIns="0" rIns="0" bIns="0" anchor="t">
            <a:spAutoFit/>
          </a:bodyPr>
          <a:lstStyle/>
          <a:p>
            <a:pPr algn="ctr"/>
            <a:r>
              <a:rPr sz="1000" b="1">
                <a:solidFill>
                  <a:srgbClr val="172033"/>
                </a:solidFill>
                <a:latin typeface="Aptos"/>
              </a:rPr>
              <a:t>0.01516</a:t>
            </a:r>
          </a:p>
        </p:txBody>
      </p:sp>
      <p:sp>
        <p:nvSpPr>
          <p:cNvPr id="25" name="TextBox 24"/>
          <p:cNvSpPr txBox="1"/>
          <p:nvPr/>
        </p:nvSpPr>
        <p:spPr>
          <a:xfrm>
            <a:off x="1371600" y="4425696"/>
            <a:ext cx="3840480" cy="164592"/>
          </a:xfrm>
          <a:prstGeom prst="rect">
            <a:avLst/>
          </a:prstGeom>
          <a:noFill/>
        </p:spPr>
        <p:txBody>
          <a:bodyPr wrap="square" lIns="36576" tIns="36576" rIns="36576" bIns="36576" anchor="t">
            <a:spAutoFit/>
          </a:bodyPr>
          <a:lstStyle/>
          <a:p>
            <a:pPr algn="ctr"/>
            <a:r>
              <a:rPr sz="770" b="0">
                <a:solidFill>
                  <a:srgbClr val="5B6577"/>
                </a:solidFill>
                <a:latin typeface="Aptos"/>
              </a:rPr>
              <a:t>Base LR before validation-driven decay</a:t>
            </a:r>
          </a:p>
        </p:txBody>
      </p:sp>
      <p:sp>
        <p:nvSpPr>
          <p:cNvPr id="26" name="TextBox 25"/>
          <p:cNvSpPr txBox="1"/>
          <p:nvPr/>
        </p:nvSpPr>
        <p:spPr>
          <a:xfrm>
            <a:off x="914400" y="4800600"/>
            <a:ext cx="4663440" cy="438912"/>
          </a:xfrm>
          <a:prstGeom prst="rect">
            <a:avLst/>
          </a:prstGeom>
          <a:noFill/>
        </p:spPr>
        <p:txBody>
          <a:bodyPr wrap="square" lIns="36576" tIns="36576" rIns="36576" bIns="36576" anchor="t">
            <a:spAutoFit/>
          </a:bodyPr>
          <a:lstStyle/>
          <a:p>
            <a:pPr algn="l"/>
            <a:r>
              <a:rPr sz="840" b="0">
                <a:solidFill>
                  <a:srgbClr val="5B6577"/>
                </a:solidFill>
                <a:latin typeface="Aptos"/>
              </a:rPr>
              <a:t>These values explain the 0.0100 → 0.01149 → 0.01320 → 0.01516 growth seen in E4 before decay events.</a:t>
            </a:r>
          </a:p>
        </p:txBody>
      </p:sp>
      <p:sp>
        <p:nvSpPr>
          <p:cNvPr id="27" name="Rounded Rectangle 26"/>
          <p:cNvSpPr/>
          <p:nvPr/>
        </p:nvSpPr>
        <p:spPr>
          <a:xfrm>
            <a:off x="6199632" y="1664208"/>
            <a:ext cx="5321808" cy="4169663"/>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1847088"/>
            <a:ext cx="4526280" cy="201168"/>
          </a:xfrm>
          <a:prstGeom prst="rect">
            <a:avLst/>
          </a:prstGeom>
          <a:noFill/>
        </p:spPr>
        <p:txBody>
          <a:bodyPr wrap="square" lIns="36576" tIns="36576" rIns="36576" bIns="36576" anchor="t">
            <a:spAutoFit/>
          </a:bodyPr>
          <a:lstStyle/>
          <a:p>
            <a:pPr algn="l"/>
            <a:r>
              <a:rPr sz="1100" b="1">
                <a:solidFill>
                  <a:srgbClr val="D7792D"/>
                </a:solidFill>
                <a:latin typeface="Aptos"/>
              </a:rPr>
              <a:t>2  Validation-driven decay multiplier</a:t>
            </a:r>
          </a:p>
        </p:txBody>
      </p:sp>
      <p:sp>
        <p:nvSpPr>
          <p:cNvPr id="29" name="TextBox 28"/>
          <p:cNvSpPr txBox="1"/>
          <p:nvPr/>
        </p:nvSpPr>
        <p:spPr>
          <a:xfrm>
            <a:off x="6428232" y="2194560"/>
            <a:ext cx="4681728" cy="493776"/>
          </a:xfrm>
          <a:prstGeom prst="rect">
            <a:avLst/>
          </a:prstGeom>
          <a:noFill/>
        </p:spPr>
        <p:txBody>
          <a:bodyPr wrap="square" lIns="36576" tIns="36576" rIns="36576" bIns="36576" anchor="t">
            <a:spAutoFit/>
          </a:bodyPr>
          <a:lstStyle/>
          <a:p>
            <a:pPr algn="l"/>
            <a:r>
              <a:rPr sz="860" b="0">
                <a:solidFill>
                  <a:srgbClr val="5B6577"/>
                </a:solidFill>
                <a:latin typeface="Aptos"/>
              </a:rPr>
              <a:t>Validation outcomes are classified as improvement, worsening, or plateau. Consecutive feedback conditions drive a persistent decay multiplier.</a:t>
            </a:r>
          </a:p>
        </p:txBody>
      </p:sp>
      <p:pic>
        <p:nvPicPr>
          <p:cNvPr id="30" name="Picture 29" descr="decay.png"/>
          <p:cNvPicPr>
            <a:picLocks noChangeAspect="1"/>
          </p:cNvPicPr>
          <p:nvPr/>
        </p:nvPicPr>
        <p:blipFill>
          <a:blip r:embed="rId4"/>
          <a:stretch>
            <a:fillRect/>
          </a:stretch>
        </p:blipFill>
        <p:spPr>
          <a:xfrm>
            <a:off x="6537960" y="2743200"/>
            <a:ext cx="4663440" cy="567540"/>
          </a:xfrm>
          <a:prstGeom prst="rect">
            <a:avLst/>
          </a:prstGeom>
        </p:spPr>
      </p:pic>
      <p:sp>
        <p:nvSpPr>
          <p:cNvPr id="31" name="TextBox 30"/>
          <p:cNvSpPr txBox="1"/>
          <p:nvPr/>
        </p:nvSpPr>
        <p:spPr>
          <a:xfrm>
            <a:off x="6492240" y="3182112"/>
            <a:ext cx="4663440" cy="164592"/>
          </a:xfrm>
          <a:prstGeom prst="rect">
            <a:avLst/>
          </a:prstGeom>
          <a:noFill/>
        </p:spPr>
        <p:txBody>
          <a:bodyPr wrap="square" lIns="0" tIns="0" rIns="0" bIns="0" anchor="t">
            <a:spAutoFit/>
          </a:bodyPr>
          <a:lstStyle/>
          <a:p>
            <a:pPr algn="ctr"/>
            <a:r>
              <a:rPr sz="800" b="1">
                <a:solidFill>
                  <a:srgbClr val="5B6577"/>
                </a:solidFill>
                <a:latin typeface="Aptos"/>
              </a:rPr>
              <a:t>when plateau/worsening feedback reaches its patience threshold</a:t>
            </a:r>
          </a:p>
        </p:txBody>
      </p:sp>
      <p:sp>
        <p:nvSpPr>
          <p:cNvPr id="32" name="TextBox 31"/>
          <p:cNvSpPr txBox="1"/>
          <p:nvPr/>
        </p:nvSpPr>
        <p:spPr>
          <a:xfrm>
            <a:off x="6419088" y="3410712"/>
            <a:ext cx="4700016" cy="237744"/>
          </a:xfrm>
          <a:prstGeom prst="rect">
            <a:avLst/>
          </a:prstGeom>
          <a:noFill/>
        </p:spPr>
        <p:txBody>
          <a:bodyPr wrap="square" lIns="36576" tIns="36576" rIns="36576" bIns="36576" anchor="t">
            <a:spAutoFit/>
          </a:bodyPr>
          <a:lstStyle/>
          <a:p>
            <a:pPr algn="l"/>
            <a:r>
              <a:rPr sz="869" b="1">
                <a:solidFill>
                  <a:srgbClr val="172033"/>
                </a:solidFill>
                <a:latin typeface="Aptos"/>
              </a:rPr>
              <a:t>Current suite: decay factor = 0.5 • cooldown = 2 • no warmup • LR floor = 1e−5</a:t>
            </a:r>
          </a:p>
        </p:txBody>
      </p:sp>
      <p:sp>
        <p:nvSpPr>
          <p:cNvPr id="33" name="TextBox 32"/>
          <p:cNvSpPr txBox="1"/>
          <p:nvPr/>
        </p:nvSpPr>
        <p:spPr>
          <a:xfrm>
            <a:off x="6400800" y="3931920"/>
            <a:ext cx="4526280" cy="201168"/>
          </a:xfrm>
          <a:prstGeom prst="rect">
            <a:avLst/>
          </a:prstGeom>
          <a:noFill/>
        </p:spPr>
        <p:txBody>
          <a:bodyPr wrap="square" lIns="36576" tIns="36576" rIns="36576" bIns="36576" anchor="t">
            <a:spAutoFit/>
          </a:bodyPr>
          <a:lstStyle/>
          <a:p>
            <a:pPr algn="l"/>
            <a:r>
              <a:rPr sz="1100" b="1">
                <a:solidFill>
                  <a:srgbClr val="8066A9"/>
                </a:solidFill>
                <a:latin typeface="Aptos"/>
              </a:rPr>
              <a:t>3  E4 uses the next batch size</a:t>
            </a:r>
          </a:p>
        </p:txBody>
      </p:sp>
      <p:pic>
        <p:nvPicPr>
          <p:cNvPr id="34" name="Picture 33" descr="lrcoupled.png"/>
          <p:cNvPicPr>
            <a:picLocks noChangeAspect="1"/>
          </p:cNvPicPr>
          <p:nvPr/>
        </p:nvPicPr>
        <p:blipFill>
          <a:blip r:embed="rId5"/>
          <a:stretch>
            <a:fillRect/>
          </a:stretch>
        </p:blipFill>
        <p:spPr>
          <a:xfrm>
            <a:off x="6446520" y="4187952"/>
            <a:ext cx="4800600" cy="584232"/>
          </a:xfrm>
          <a:prstGeom prst="rect">
            <a:avLst/>
          </a:prstGeom>
        </p:spPr>
      </p:pic>
      <p:sp>
        <p:nvSpPr>
          <p:cNvPr id="35" name="TextBox 34"/>
          <p:cNvSpPr txBox="1"/>
          <p:nvPr/>
        </p:nvSpPr>
        <p:spPr>
          <a:xfrm>
            <a:off x="6419088" y="4864608"/>
            <a:ext cx="4700016" cy="384048"/>
          </a:xfrm>
          <a:prstGeom prst="rect">
            <a:avLst/>
          </a:prstGeom>
          <a:noFill/>
        </p:spPr>
        <p:txBody>
          <a:bodyPr wrap="square" lIns="36576" tIns="36576" rIns="36576" bIns="36576" anchor="t">
            <a:spAutoFit/>
          </a:bodyPr>
          <a:lstStyle/>
          <a:p>
            <a:pPr algn="l"/>
            <a:r>
              <a:rPr sz="840" b="0">
                <a:solidFill>
                  <a:srgbClr val="5B6577"/>
                </a:solidFill>
                <a:latin typeface="Aptos"/>
              </a:rPr>
              <a:t>All prior decay events stay in dₜ; batch growth can still raise the base LR while preserving that decay history.</a:t>
            </a:r>
          </a:p>
        </p:txBody>
      </p:sp>
      <p:sp>
        <p:nvSpPr>
          <p:cNvPr id="36" name="Rounded Rectangle 35"/>
          <p:cNvSpPr/>
          <p:nvPr/>
        </p:nvSpPr>
        <p:spPr>
          <a:xfrm>
            <a:off x="868680" y="5925312"/>
            <a:ext cx="10424160" cy="402336"/>
          </a:xfrm>
          <a:prstGeom prst="roundRect">
            <a:avLst>
              <a:gd name="adj" fmla="val 8000"/>
            </a:avLst>
          </a:prstGeom>
          <a:solidFill>
            <a:srgbClr val="E8F5F4"/>
          </a:solidFill>
          <a:ln w="12700">
            <a:solidFill>
              <a:srgbClr val="E8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69264" y="6025896"/>
            <a:ext cx="1508760" cy="164592"/>
          </a:xfrm>
          <a:prstGeom prst="rect">
            <a:avLst/>
          </a:prstGeom>
          <a:noFill/>
        </p:spPr>
        <p:txBody>
          <a:bodyPr wrap="square" lIns="0" tIns="0" rIns="0" bIns="0" anchor="t">
            <a:spAutoFit/>
          </a:bodyPr>
          <a:lstStyle/>
          <a:p>
            <a:pPr algn="ctr"/>
            <a:r>
              <a:rPr sz="810" b="1">
                <a:solidFill>
                  <a:srgbClr val="D7792D"/>
                </a:solidFill>
                <a:latin typeface="Aptos"/>
              </a:rPr>
              <a:t>Validation feedback</a:t>
            </a:r>
          </a:p>
        </p:txBody>
      </p:sp>
      <p:sp>
        <p:nvSpPr>
          <p:cNvPr id="38" name="TextBox 37"/>
          <p:cNvSpPr txBox="1"/>
          <p:nvPr/>
        </p:nvSpPr>
        <p:spPr>
          <a:xfrm>
            <a:off x="2496312" y="5998464"/>
            <a:ext cx="292608" cy="182880"/>
          </a:xfrm>
          <a:prstGeom prst="rect">
            <a:avLst/>
          </a:prstGeom>
          <a:noFill/>
        </p:spPr>
        <p:txBody>
          <a:bodyPr wrap="square" lIns="0" tIns="0" rIns="0" bIns="0" anchor="t">
            <a:spAutoFit/>
          </a:bodyPr>
          <a:lstStyle/>
          <a:p>
            <a:pPr algn="ctr"/>
            <a:r>
              <a:rPr sz="1100" b="1">
                <a:solidFill>
                  <a:srgbClr val="5B6577"/>
                </a:solidFill>
                <a:latin typeface="Aptos"/>
              </a:rPr>
              <a:t>→</a:t>
            </a:r>
          </a:p>
        </p:txBody>
      </p:sp>
      <p:sp>
        <p:nvSpPr>
          <p:cNvPr id="39" name="TextBox 38"/>
          <p:cNvSpPr txBox="1"/>
          <p:nvPr/>
        </p:nvSpPr>
        <p:spPr>
          <a:xfrm>
            <a:off x="2907792" y="6025896"/>
            <a:ext cx="1508760" cy="164592"/>
          </a:xfrm>
          <a:prstGeom prst="rect">
            <a:avLst/>
          </a:prstGeom>
          <a:noFill/>
        </p:spPr>
        <p:txBody>
          <a:bodyPr wrap="square" lIns="0" tIns="0" rIns="0" bIns="0" anchor="t">
            <a:spAutoFit/>
          </a:bodyPr>
          <a:lstStyle/>
          <a:p>
            <a:pPr algn="ctr"/>
            <a:r>
              <a:rPr sz="810" b="1">
                <a:solidFill>
                  <a:srgbClr val="D7792D"/>
                </a:solidFill>
                <a:latin typeface="Aptos"/>
              </a:rPr>
              <a:t>update decay</a:t>
            </a:r>
          </a:p>
        </p:txBody>
      </p:sp>
      <p:sp>
        <p:nvSpPr>
          <p:cNvPr id="40" name="TextBox 39"/>
          <p:cNvSpPr txBox="1"/>
          <p:nvPr/>
        </p:nvSpPr>
        <p:spPr>
          <a:xfrm>
            <a:off x="4434840" y="5998464"/>
            <a:ext cx="292608" cy="182880"/>
          </a:xfrm>
          <a:prstGeom prst="rect">
            <a:avLst/>
          </a:prstGeom>
          <a:noFill/>
        </p:spPr>
        <p:txBody>
          <a:bodyPr wrap="square" lIns="0" tIns="0" rIns="0" bIns="0" anchor="t">
            <a:spAutoFit/>
          </a:bodyPr>
          <a:lstStyle/>
          <a:p>
            <a:pPr algn="ctr"/>
            <a:r>
              <a:rPr sz="1100" b="1">
                <a:solidFill>
                  <a:srgbClr val="5B6577"/>
                </a:solidFill>
                <a:latin typeface="Aptos"/>
              </a:rPr>
              <a:t>→</a:t>
            </a:r>
          </a:p>
        </p:txBody>
      </p:sp>
      <p:sp>
        <p:nvSpPr>
          <p:cNvPr id="41" name="TextBox 40"/>
          <p:cNvSpPr txBox="1"/>
          <p:nvPr/>
        </p:nvSpPr>
        <p:spPr>
          <a:xfrm>
            <a:off x="4645152" y="6025896"/>
            <a:ext cx="1508760" cy="164592"/>
          </a:xfrm>
          <a:prstGeom prst="rect">
            <a:avLst/>
          </a:prstGeom>
          <a:noFill/>
        </p:spPr>
        <p:txBody>
          <a:bodyPr wrap="square" lIns="0" tIns="0" rIns="0" bIns="0" anchor="t">
            <a:spAutoFit/>
          </a:bodyPr>
          <a:lstStyle/>
          <a:p>
            <a:pPr algn="ctr"/>
            <a:r>
              <a:rPr sz="810" b="1">
                <a:solidFill>
                  <a:srgbClr val="0F8B8D"/>
                </a:solidFill>
                <a:latin typeface="Aptos"/>
              </a:rPr>
              <a:t>select next batch</a:t>
            </a:r>
          </a:p>
        </p:txBody>
      </p:sp>
      <p:sp>
        <p:nvSpPr>
          <p:cNvPr id="42" name="TextBox 41"/>
          <p:cNvSpPr txBox="1"/>
          <p:nvPr/>
        </p:nvSpPr>
        <p:spPr>
          <a:xfrm>
            <a:off x="6172200" y="5998464"/>
            <a:ext cx="292608" cy="182880"/>
          </a:xfrm>
          <a:prstGeom prst="rect">
            <a:avLst/>
          </a:prstGeom>
          <a:noFill/>
        </p:spPr>
        <p:txBody>
          <a:bodyPr wrap="square" lIns="0" tIns="0" rIns="0" bIns="0" anchor="t">
            <a:spAutoFit/>
          </a:bodyPr>
          <a:lstStyle/>
          <a:p>
            <a:pPr algn="ctr"/>
            <a:r>
              <a:rPr sz="1100" b="1">
                <a:solidFill>
                  <a:srgbClr val="5B6577"/>
                </a:solidFill>
                <a:latin typeface="Aptos"/>
              </a:rPr>
              <a:t>→</a:t>
            </a:r>
          </a:p>
        </p:txBody>
      </p:sp>
      <p:sp>
        <p:nvSpPr>
          <p:cNvPr id="43" name="TextBox 42"/>
          <p:cNvSpPr txBox="1"/>
          <p:nvPr/>
        </p:nvSpPr>
        <p:spPr>
          <a:xfrm>
            <a:off x="6419088" y="6025896"/>
            <a:ext cx="1508760" cy="164592"/>
          </a:xfrm>
          <a:prstGeom prst="rect">
            <a:avLst/>
          </a:prstGeom>
          <a:noFill/>
        </p:spPr>
        <p:txBody>
          <a:bodyPr wrap="square" lIns="0" tIns="0" rIns="0" bIns="0" anchor="t">
            <a:spAutoFit/>
          </a:bodyPr>
          <a:lstStyle/>
          <a:p>
            <a:pPr algn="ctr"/>
            <a:r>
              <a:rPr sz="810" b="1">
                <a:solidFill>
                  <a:srgbClr val="8066A9"/>
                </a:solidFill>
                <a:latin typeface="Aptos"/>
              </a:rPr>
              <a:t>compute next LR</a:t>
            </a:r>
          </a:p>
        </p:txBody>
      </p:sp>
      <p:sp>
        <p:nvSpPr>
          <p:cNvPr id="44" name="TextBox 43"/>
          <p:cNvSpPr txBox="1"/>
          <p:nvPr/>
        </p:nvSpPr>
        <p:spPr>
          <a:xfrm>
            <a:off x="7946136" y="5998464"/>
            <a:ext cx="292608" cy="182880"/>
          </a:xfrm>
          <a:prstGeom prst="rect">
            <a:avLst/>
          </a:prstGeom>
          <a:noFill/>
        </p:spPr>
        <p:txBody>
          <a:bodyPr wrap="square" lIns="0" tIns="0" rIns="0" bIns="0" anchor="t">
            <a:spAutoFit/>
          </a:bodyPr>
          <a:lstStyle/>
          <a:p>
            <a:pPr algn="ctr"/>
            <a:r>
              <a:rPr sz="1100" b="1">
                <a:solidFill>
                  <a:srgbClr val="5B6577"/>
                </a:solidFill>
                <a:latin typeface="Aptos"/>
              </a:rPr>
              <a:t>→</a:t>
            </a:r>
          </a:p>
        </p:txBody>
      </p:sp>
      <p:sp>
        <p:nvSpPr>
          <p:cNvPr id="45" name="TextBox 44"/>
          <p:cNvSpPr txBox="1"/>
          <p:nvPr/>
        </p:nvSpPr>
        <p:spPr>
          <a:xfrm>
            <a:off x="8394192" y="6025896"/>
            <a:ext cx="1508760" cy="164592"/>
          </a:xfrm>
          <a:prstGeom prst="rect">
            <a:avLst/>
          </a:prstGeom>
          <a:noFill/>
        </p:spPr>
        <p:txBody>
          <a:bodyPr wrap="square" lIns="0" tIns="0" rIns="0" bIns="0" anchor="t">
            <a:spAutoFit/>
          </a:bodyPr>
          <a:lstStyle/>
          <a:p>
            <a:pPr algn="ctr"/>
            <a:r>
              <a:rPr sz="810" b="1">
                <a:solidFill>
                  <a:srgbClr val="315A8A"/>
                </a:solidFill>
                <a:latin typeface="Aptos"/>
              </a:rPr>
              <a:t>train next epoch</a:t>
            </a:r>
          </a:p>
        </p:txBody>
      </p:sp>
      <p:sp>
        <p:nvSpPr>
          <p:cNvPr id="46" name="TextBox 45"/>
          <p:cNvSpPr txBox="1"/>
          <p:nvPr/>
        </p:nvSpPr>
        <p:spPr>
          <a:xfrm>
            <a:off x="8924544" y="6199632"/>
            <a:ext cx="2176272" cy="164592"/>
          </a:xfrm>
          <a:prstGeom prst="rect">
            <a:avLst/>
          </a:prstGeom>
          <a:noFill/>
        </p:spPr>
        <p:txBody>
          <a:bodyPr wrap="square" lIns="0" tIns="0" rIns="0" bIns="0" anchor="t">
            <a:spAutoFit/>
          </a:bodyPr>
          <a:lstStyle/>
          <a:p>
            <a:pPr algn="r"/>
            <a:r>
              <a:rPr sz="700" b="1">
                <a:solidFill>
                  <a:srgbClr val="B84B4B"/>
                </a:solidFill>
                <a:latin typeface="Aptos"/>
              </a:rPr>
              <a:t>E4 coupling: use next batch — not current batch — for the next LR.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Box 1"/>
          <p:cNvSpPr txBox="1"/>
          <p:nvPr/>
        </p:nvSpPr>
        <p:spPr>
          <a:xfrm>
            <a:off x="566928" y="347472"/>
            <a:ext cx="10789920" cy="411480"/>
          </a:xfrm>
          <a:prstGeom prst="rect">
            <a:avLst/>
          </a:prstGeom>
          <a:noFill/>
        </p:spPr>
        <p:txBody>
          <a:bodyPr wrap="square" lIns="36576" tIns="36576" rIns="36576" bIns="36576" anchor="t">
            <a:spAutoFit/>
          </a:bodyPr>
          <a:lstStyle/>
          <a:p>
            <a:pPr algn="l"/>
            <a:r>
              <a:rPr sz="2400" b="1">
                <a:solidFill>
                  <a:srgbClr val="172033"/>
                </a:solidFill>
                <a:latin typeface="Aptos Display"/>
              </a:rPr>
              <a:t>Adaptive controller logic — same rules, different trajectories</a:t>
            </a:r>
          </a:p>
        </p:txBody>
      </p:sp>
      <p:sp>
        <p:nvSpPr>
          <p:cNvPr id="3" name="TextBox 2"/>
          <p:cNvSpPr txBox="1"/>
          <p:nvPr/>
        </p:nvSpPr>
        <p:spPr>
          <a:xfrm>
            <a:off x="585216" y="832104"/>
            <a:ext cx="10744200" cy="301752"/>
          </a:xfrm>
          <a:prstGeom prst="rect">
            <a:avLst/>
          </a:prstGeom>
          <a:noFill/>
        </p:spPr>
        <p:txBody>
          <a:bodyPr wrap="square" lIns="36576" tIns="36576" rIns="36576" bIns="36576" anchor="t">
            <a:spAutoFit/>
          </a:bodyPr>
          <a:lstStyle/>
          <a:p>
            <a:pPr algn="l"/>
            <a:r>
              <a:rPr sz="1050" b="0">
                <a:solidFill>
                  <a:srgbClr val="5B6577"/>
                </a:solidFill>
                <a:latin typeface="Aptos"/>
              </a:rPr>
              <a:t>The control policy is held constant; the dataset determines when its triggers fire.</a:t>
            </a:r>
          </a:p>
        </p:txBody>
      </p:sp>
      <p:sp>
        <p:nvSpPr>
          <p:cNvPr id="4" name="Rounded Rectangle 3"/>
          <p:cNvSpPr/>
          <p:nvPr/>
        </p:nvSpPr>
        <p:spPr>
          <a:xfrm>
            <a:off x="585216" y="1225296"/>
            <a:ext cx="1417320" cy="256032"/>
          </a:xfrm>
          <a:prstGeom prst="roundRect">
            <a:avLst>
              <a:gd name="adj" fmla="val 8000"/>
            </a:avLst>
          </a:prstGeom>
          <a:solidFill>
            <a:srgbClr val="E8F5F4"/>
          </a:solidFill>
          <a:ln w="12700">
            <a:solidFill>
              <a:srgbClr val="E8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67512" y="1271016"/>
            <a:ext cx="1234440" cy="128016"/>
          </a:xfrm>
          <a:prstGeom prst="rect">
            <a:avLst/>
          </a:prstGeom>
          <a:noFill/>
        </p:spPr>
        <p:txBody>
          <a:bodyPr wrap="square" lIns="0" tIns="0" rIns="0" bIns="0" anchor="ctr">
            <a:spAutoFit/>
          </a:bodyPr>
          <a:lstStyle/>
          <a:p>
            <a:pPr algn="ctr"/>
            <a:r>
              <a:rPr sz="760" b="1">
                <a:solidFill>
                  <a:srgbClr val="0F8B8D"/>
                </a:solidFill>
                <a:latin typeface="Aptos"/>
              </a:rPr>
              <a:t>METHOD</a:t>
            </a:r>
          </a:p>
        </p:txBody>
      </p:sp>
      <p:sp>
        <p:nvSpPr>
          <p:cNvPr id="6" name="TextBox 5"/>
          <p:cNvSpPr txBox="1"/>
          <p:nvPr/>
        </p:nvSpPr>
        <p:spPr>
          <a:xfrm>
            <a:off x="11384280" y="6446520"/>
            <a:ext cx="320040" cy="182880"/>
          </a:xfrm>
          <a:prstGeom prst="rect">
            <a:avLst/>
          </a:prstGeom>
          <a:noFill/>
        </p:spPr>
        <p:txBody>
          <a:bodyPr wrap="square" lIns="36576" tIns="36576" rIns="36576" bIns="36576" anchor="t">
            <a:spAutoFit/>
          </a:bodyPr>
          <a:lstStyle/>
          <a:p>
            <a:r>
              <a:rPr sz="800">
                <a:solidFill>
                  <a:srgbClr val="5B6577"/>
                </a:solidFill>
                <a:latin typeface="Aptos"/>
              </a:rPr>
              <a:t>10</a:t>
            </a:r>
          </a:p>
        </p:txBody>
      </p:sp>
      <p:sp>
        <p:nvSpPr>
          <p:cNvPr id="7" name="Rectangle 6"/>
          <p:cNvSpPr/>
          <p:nvPr/>
        </p:nvSpPr>
        <p:spPr>
          <a:xfrm>
            <a:off x="6044184" y="1527048"/>
            <a:ext cx="18288" cy="4553712"/>
          </a:xfrm>
          <a:prstGeom prst="rect">
            <a:avLst/>
          </a:prstGeom>
          <a:solidFill>
            <a:srgbClr val="D8E0E8"/>
          </a:solidFill>
          <a:ln>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76072" y="1572768"/>
            <a:ext cx="5230368" cy="475488"/>
          </a:xfrm>
          <a:prstGeom prst="roundRect">
            <a:avLst>
              <a:gd name="adj" fmla="val 8000"/>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300216" y="1572768"/>
            <a:ext cx="5285232" cy="475488"/>
          </a:xfrm>
          <a:prstGeom prst="roundRect">
            <a:avLst>
              <a:gd name="adj" fmla="val 8000"/>
            </a:avLst>
          </a:prstGeom>
          <a:solidFill>
            <a:srgbClr val="FCF4EB"/>
          </a:solidFill>
          <a:ln w="12700">
            <a:solidFill>
              <a:srgbClr val="FCF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664208"/>
            <a:ext cx="1645920" cy="201168"/>
          </a:xfrm>
          <a:prstGeom prst="rect">
            <a:avLst/>
          </a:prstGeom>
          <a:noFill/>
        </p:spPr>
        <p:txBody>
          <a:bodyPr wrap="square" lIns="36576" tIns="36576" rIns="36576" bIns="36576" anchor="t">
            <a:spAutoFit/>
          </a:bodyPr>
          <a:lstStyle/>
          <a:p>
            <a:pPr algn="l"/>
            <a:r>
              <a:rPr sz="1700" b="1">
                <a:solidFill>
                  <a:srgbClr val="315A8A"/>
                </a:solidFill>
                <a:latin typeface="Aptos"/>
              </a:rPr>
              <a:t>CIFAR-10</a:t>
            </a:r>
          </a:p>
        </p:txBody>
      </p:sp>
      <p:sp>
        <p:nvSpPr>
          <p:cNvPr id="11" name="TextBox 10"/>
          <p:cNvSpPr txBox="1"/>
          <p:nvPr/>
        </p:nvSpPr>
        <p:spPr>
          <a:xfrm>
            <a:off x="2176272" y="1691640"/>
            <a:ext cx="3429000" cy="227755"/>
          </a:xfrm>
          <a:prstGeom prst="rect">
            <a:avLst/>
          </a:prstGeom>
          <a:noFill/>
        </p:spPr>
        <p:txBody>
          <a:bodyPr wrap="square" lIns="36576" tIns="36576" rIns="36576" bIns="36576" anchor="t">
            <a:spAutoFit/>
          </a:bodyPr>
          <a:lstStyle/>
          <a:p>
            <a:pPr algn="r"/>
            <a:r>
              <a:rPr sz="1000" b="1" dirty="0">
                <a:solidFill>
                  <a:srgbClr val="5B6577"/>
                </a:solidFill>
                <a:latin typeface="Aptos"/>
              </a:rPr>
              <a:t>80-epoch trajectory</a:t>
            </a:r>
          </a:p>
        </p:txBody>
      </p:sp>
      <p:sp>
        <p:nvSpPr>
          <p:cNvPr id="12" name="TextBox 11"/>
          <p:cNvSpPr txBox="1"/>
          <p:nvPr/>
        </p:nvSpPr>
        <p:spPr>
          <a:xfrm>
            <a:off x="6473952" y="1664208"/>
            <a:ext cx="1828800" cy="201168"/>
          </a:xfrm>
          <a:prstGeom prst="rect">
            <a:avLst/>
          </a:prstGeom>
          <a:noFill/>
        </p:spPr>
        <p:txBody>
          <a:bodyPr wrap="square" lIns="36576" tIns="36576" rIns="36576" bIns="36576" anchor="t">
            <a:spAutoFit/>
          </a:bodyPr>
          <a:lstStyle/>
          <a:p>
            <a:pPr algn="l"/>
            <a:r>
              <a:rPr sz="1700" b="1">
                <a:solidFill>
                  <a:srgbClr val="D7792D"/>
                </a:solidFill>
                <a:latin typeface="Aptos"/>
              </a:rPr>
              <a:t>CIFAR-100</a:t>
            </a:r>
          </a:p>
        </p:txBody>
      </p:sp>
      <p:sp>
        <p:nvSpPr>
          <p:cNvPr id="13" name="TextBox 12"/>
          <p:cNvSpPr txBox="1"/>
          <p:nvPr/>
        </p:nvSpPr>
        <p:spPr>
          <a:xfrm>
            <a:off x="8275320" y="1691640"/>
            <a:ext cx="3054096" cy="227755"/>
          </a:xfrm>
          <a:prstGeom prst="rect">
            <a:avLst/>
          </a:prstGeom>
          <a:noFill/>
        </p:spPr>
        <p:txBody>
          <a:bodyPr wrap="square" lIns="36576" tIns="36576" rIns="36576" bIns="36576" anchor="t">
            <a:spAutoFit/>
          </a:bodyPr>
          <a:lstStyle/>
          <a:p>
            <a:pPr algn="r"/>
            <a:r>
              <a:rPr sz="1000" b="1" dirty="0">
                <a:solidFill>
                  <a:srgbClr val="5B6577"/>
                </a:solidFill>
                <a:latin typeface="Aptos"/>
              </a:rPr>
              <a:t>120-epoch trajectory</a:t>
            </a:r>
          </a:p>
        </p:txBody>
      </p:sp>
      <p:sp>
        <p:nvSpPr>
          <p:cNvPr id="14" name="Rounded Rectangle 13"/>
          <p:cNvSpPr/>
          <p:nvPr/>
        </p:nvSpPr>
        <p:spPr>
          <a:xfrm>
            <a:off x="713232" y="2249424"/>
            <a:ext cx="4800600" cy="1371600"/>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9536" y="2386584"/>
            <a:ext cx="1828800" cy="201168"/>
          </a:xfrm>
          <a:prstGeom prst="rect">
            <a:avLst/>
          </a:prstGeom>
          <a:noFill/>
        </p:spPr>
        <p:txBody>
          <a:bodyPr wrap="square" lIns="36576" tIns="36576" rIns="36576" bIns="36576" anchor="t">
            <a:spAutoFit/>
          </a:bodyPr>
          <a:lstStyle/>
          <a:p>
            <a:pPr algn="l"/>
            <a:r>
              <a:rPr sz="1100" b="1">
                <a:solidFill>
                  <a:srgbClr val="172033"/>
                </a:solidFill>
                <a:latin typeface="Aptos"/>
              </a:rPr>
              <a:t>Batch controller</a:t>
            </a:r>
          </a:p>
        </p:txBody>
      </p:sp>
      <p:sp>
        <p:nvSpPr>
          <p:cNvPr id="16" name="TextBox 15"/>
          <p:cNvSpPr txBox="1"/>
          <p:nvPr/>
        </p:nvSpPr>
        <p:spPr>
          <a:xfrm>
            <a:off x="859536" y="2688336"/>
            <a:ext cx="164592" cy="201168"/>
          </a:xfrm>
          <a:prstGeom prst="rect">
            <a:avLst/>
          </a:prstGeom>
          <a:noFill/>
        </p:spPr>
        <p:txBody>
          <a:bodyPr wrap="square" lIns="36576" tIns="36576" rIns="36576" bIns="36576" anchor="t">
            <a:spAutoFit/>
          </a:bodyPr>
          <a:lstStyle/>
          <a:p>
            <a:pPr algn="l"/>
            <a:r>
              <a:rPr sz="1170" b="1">
                <a:solidFill>
                  <a:srgbClr val="315A8A"/>
                </a:solidFill>
                <a:latin typeface="Aptos"/>
              </a:rPr>
              <a:t>•</a:t>
            </a:r>
          </a:p>
        </p:txBody>
      </p:sp>
      <p:sp>
        <p:nvSpPr>
          <p:cNvPr id="17" name="TextBox 16"/>
          <p:cNvSpPr txBox="1"/>
          <p:nvPr/>
        </p:nvSpPr>
        <p:spPr>
          <a:xfrm>
            <a:off x="1042416" y="2688336"/>
            <a:ext cx="4187952" cy="310896"/>
          </a:xfrm>
          <a:prstGeom prst="rect">
            <a:avLst/>
          </a:prstGeom>
          <a:noFill/>
        </p:spPr>
        <p:txBody>
          <a:bodyPr wrap="square" lIns="36576" tIns="36576" rIns="36576" bIns="36576" anchor="t">
            <a:spAutoFit/>
          </a:bodyPr>
          <a:lstStyle/>
          <a:p>
            <a:pPr algn="l"/>
            <a:r>
              <a:rPr sz="869" b="0">
                <a:solidFill>
                  <a:srgbClr val="172033"/>
                </a:solidFill>
                <a:latin typeface="Aptos"/>
              </a:rPr>
              <a:t>3-epoch rolling mean of within-epoch gradient-norm CV</a:t>
            </a:r>
          </a:p>
        </p:txBody>
      </p:sp>
      <p:sp>
        <p:nvSpPr>
          <p:cNvPr id="18" name="TextBox 17"/>
          <p:cNvSpPr txBox="1"/>
          <p:nvPr/>
        </p:nvSpPr>
        <p:spPr>
          <a:xfrm>
            <a:off x="859536" y="3017520"/>
            <a:ext cx="164592" cy="201168"/>
          </a:xfrm>
          <a:prstGeom prst="rect">
            <a:avLst/>
          </a:prstGeom>
          <a:noFill/>
        </p:spPr>
        <p:txBody>
          <a:bodyPr wrap="square" lIns="36576" tIns="36576" rIns="36576" bIns="36576" anchor="t">
            <a:spAutoFit/>
          </a:bodyPr>
          <a:lstStyle/>
          <a:p>
            <a:pPr algn="l"/>
            <a:r>
              <a:rPr sz="1170" b="1">
                <a:solidFill>
                  <a:srgbClr val="315A8A"/>
                </a:solidFill>
                <a:latin typeface="Aptos"/>
              </a:rPr>
              <a:t>•</a:t>
            </a:r>
          </a:p>
        </p:txBody>
      </p:sp>
      <p:sp>
        <p:nvSpPr>
          <p:cNvPr id="19" name="TextBox 18"/>
          <p:cNvSpPr txBox="1"/>
          <p:nvPr/>
        </p:nvSpPr>
        <p:spPr>
          <a:xfrm>
            <a:off x="1042416" y="3017520"/>
            <a:ext cx="4187952" cy="310896"/>
          </a:xfrm>
          <a:prstGeom prst="rect">
            <a:avLst/>
          </a:prstGeom>
          <a:noFill/>
        </p:spPr>
        <p:txBody>
          <a:bodyPr wrap="square" lIns="36576" tIns="36576" rIns="36576" bIns="36576" anchor="t">
            <a:spAutoFit/>
          </a:bodyPr>
          <a:lstStyle/>
          <a:p>
            <a:pPr algn="l"/>
            <a:r>
              <a:rPr sz="869" b="0">
                <a:solidFill>
                  <a:srgbClr val="172033"/>
                </a:solidFill>
                <a:latin typeface="Aptos"/>
              </a:rPr>
              <a:t>Grow when validation plateaus and CV ≤ 0.25; cooldown = 2</a:t>
            </a:r>
          </a:p>
        </p:txBody>
      </p:sp>
      <p:sp>
        <p:nvSpPr>
          <p:cNvPr id="20" name="Rounded Rectangle 19"/>
          <p:cNvSpPr/>
          <p:nvPr/>
        </p:nvSpPr>
        <p:spPr>
          <a:xfrm>
            <a:off x="713232" y="3776472"/>
            <a:ext cx="4800600" cy="1353312"/>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59536" y="3913632"/>
            <a:ext cx="2194560" cy="201168"/>
          </a:xfrm>
          <a:prstGeom prst="rect">
            <a:avLst/>
          </a:prstGeom>
          <a:noFill/>
        </p:spPr>
        <p:txBody>
          <a:bodyPr wrap="square" lIns="36576" tIns="36576" rIns="36576" bIns="36576" anchor="t">
            <a:spAutoFit/>
          </a:bodyPr>
          <a:lstStyle/>
          <a:p>
            <a:pPr algn="l"/>
            <a:r>
              <a:rPr sz="1100" b="1">
                <a:solidFill>
                  <a:srgbClr val="172033"/>
                </a:solidFill>
                <a:latin typeface="Aptos"/>
              </a:rPr>
              <a:t>Learning-rate controller</a:t>
            </a:r>
          </a:p>
        </p:txBody>
      </p:sp>
      <p:sp>
        <p:nvSpPr>
          <p:cNvPr id="22" name="TextBox 21"/>
          <p:cNvSpPr txBox="1"/>
          <p:nvPr/>
        </p:nvSpPr>
        <p:spPr>
          <a:xfrm>
            <a:off x="859536" y="4224528"/>
            <a:ext cx="164592" cy="201168"/>
          </a:xfrm>
          <a:prstGeom prst="rect">
            <a:avLst/>
          </a:prstGeom>
          <a:noFill/>
        </p:spPr>
        <p:txBody>
          <a:bodyPr wrap="square" lIns="36576" tIns="36576" rIns="36576" bIns="36576" anchor="t">
            <a:spAutoFit/>
          </a:bodyPr>
          <a:lstStyle/>
          <a:p>
            <a:pPr algn="l"/>
            <a:r>
              <a:rPr sz="1170" b="1">
                <a:solidFill>
                  <a:srgbClr val="315A8A"/>
                </a:solidFill>
                <a:latin typeface="Aptos"/>
              </a:rPr>
              <a:t>•</a:t>
            </a:r>
          </a:p>
        </p:txBody>
      </p:sp>
      <p:sp>
        <p:nvSpPr>
          <p:cNvPr id="23" name="TextBox 22"/>
          <p:cNvSpPr txBox="1"/>
          <p:nvPr/>
        </p:nvSpPr>
        <p:spPr>
          <a:xfrm>
            <a:off x="1042416" y="4224528"/>
            <a:ext cx="4187952" cy="310896"/>
          </a:xfrm>
          <a:prstGeom prst="rect">
            <a:avLst/>
          </a:prstGeom>
          <a:noFill/>
        </p:spPr>
        <p:txBody>
          <a:bodyPr wrap="square" lIns="36576" tIns="36576" rIns="36576" bIns="36576" anchor="t">
            <a:spAutoFit/>
          </a:bodyPr>
          <a:lstStyle/>
          <a:p>
            <a:pPr algn="l"/>
            <a:r>
              <a:rPr sz="869" b="0">
                <a:solidFill>
                  <a:srgbClr val="172033"/>
                </a:solidFill>
                <a:latin typeface="Aptos"/>
              </a:rPr>
              <a:t>LR base = 0.01 × (B/32)^0.2</a:t>
            </a:r>
          </a:p>
        </p:txBody>
      </p:sp>
      <p:sp>
        <p:nvSpPr>
          <p:cNvPr id="24" name="TextBox 23"/>
          <p:cNvSpPr txBox="1"/>
          <p:nvPr/>
        </p:nvSpPr>
        <p:spPr>
          <a:xfrm>
            <a:off x="859536" y="4553712"/>
            <a:ext cx="164592" cy="201168"/>
          </a:xfrm>
          <a:prstGeom prst="rect">
            <a:avLst/>
          </a:prstGeom>
          <a:noFill/>
        </p:spPr>
        <p:txBody>
          <a:bodyPr wrap="square" lIns="36576" tIns="36576" rIns="36576" bIns="36576" anchor="t">
            <a:spAutoFit/>
          </a:bodyPr>
          <a:lstStyle/>
          <a:p>
            <a:pPr algn="l"/>
            <a:r>
              <a:rPr sz="1170" b="1">
                <a:solidFill>
                  <a:srgbClr val="315A8A"/>
                </a:solidFill>
                <a:latin typeface="Aptos"/>
              </a:rPr>
              <a:t>•</a:t>
            </a:r>
          </a:p>
        </p:txBody>
      </p:sp>
      <p:sp>
        <p:nvSpPr>
          <p:cNvPr id="25" name="TextBox 24"/>
          <p:cNvSpPr txBox="1"/>
          <p:nvPr/>
        </p:nvSpPr>
        <p:spPr>
          <a:xfrm>
            <a:off x="1042416" y="4553712"/>
            <a:ext cx="4187952" cy="310896"/>
          </a:xfrm>
          <a:prstGeom prst="rect">
            <a:avLst/>
          </a:prstGeom>
          <a:noFill/>
        </p:spPr>
        <p:txBody>
          <a:bodyPr wrap="square" lIns="36576" tIns="36576" rIns="36576" bIns="36576" anchor="t">
            <a:spAutoFit/>
          </a:bodyPr>
          <a:lstStyle/>
          <a:p>
            <a:pPr algn="l"/>
            <a:r>
              <a:rPr sz="869" b="0">
                <a:solidFill>
                  <a:srgbClr val="172033"/>
                </a:solidFill>
                <a:latin typeface="Aptos"/>
              </a:rPr>
              <a:t>After plateau/worsening patience triggers: decay multiplier × 0.5</a:t>
            </a:r>
          </a:p>
        </p:txBody>
      </p:sp>
      <p:sp>
        <p:nvSpPr>
          <p:cNvPr id="26" name="Rounded Rectangle 25"/>
          <p:cNvSpPr/>
          <p:nvPr/>
        </p:nvSpPr>
        <p:spPr>
          <a:xfrm>
            <a:off x="6428232" y="2249424"/>
            <a:ext cx="4800600" cy="1371600"/>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74536" y="2386584"/>
            <a:ext cx="1828800" cy="201168"/>
          </a:xfrm>
          <a:prstGeom prst="rect">
            <a:avLst/>
          </a:prstGeom>
          <a:noFill/>
        </p:spPr>
        <p:txBody>
          <a:bodyPr wrap="square" lIns="36576" tIns="36576" rIns="36576" bIns="36576" anchor="t">
            <a:spAutoFit/>
          </a:bodyPr>
          <a:lstStyle/>
          <a:p>
            <a:pPr algn="l"/>
            <a:r>
              <a:rPr sz="1100" b="1">
                <a:solidFill>
                  <a:srgbClr val="172033"/>
                </a:solidFill>
                <a:latin typeface="Aptos"/>
              </a:rPr>
              <a:t>Batch controller</a:t>
            </a:r>
          </a:p>
        </p:txBody>
      </p:sp>
      <p:sp>
        <p:nvSpPr>
          <p:cNvPr id="28" name="TextBox 27"/>
          <p:cNvSpPr txBox="1"/>
          <p:nvPr/>
        </p:nvSpPr>
        <p:spPr>
          <a:xfrm>
            <a:off x="6574536" y="2688336"/>
            <a:ext cx="164592" cy="201168"/>
          </a:xfrm>
          <a:prstGeom prst="rect">
            <a:avLst/>
          </a:prstGeom>
          <a:noFill/>
        </p:spPr>
        <p:txBody>
          <a:bodyPr wrap="square" lIns="36576" tIns="36576" rIns="36576" bIns="36576" anchor="t">
            <a:spAutoFit/>
          </a:bodyPr>
          <a:lstStyle/>
          <a:p>
            <a:pPr algn="l"/>
            <a:r>
              <a:rPr sz="1170" b="1">
                <a:solidFill>
                  <a:srgbClr val="D7792D"/>
                </a:solidFill>
                <a:latin typeface="Aptos"/>
              </a:rPr>
              <a:t>•</a:t>
            </a:r>
          </a:p>
        </p:txBody>
      </p:sp>
      <p:sp>
        <p:nvSpPr>
          <p:cNvPr id="29" name="TextBox 28"/>
          <p:cNvSpPr txBox="1"/>
          <p:nvPr/>
        </p:nvSpPr>
        <p:spPr>
          <a:xfrm>
            <a:off x="6757416" y="2688336"/>
            <a:ext cx="4187952" cy="310896"/>
          </a:xfrm>
          <a:prstGeom prst="rect">
            <a:avLst/>
          </a:prstGeom>
          <a:noFill/>
        </p:spPr>
        <p:txBody>
          <a:bodyPr wrap="square" lIns="36576" tIns="36576" rIns="36576" bIns="36576" anchor="t">
            <a:spAutoFit/>
          </a:bodyPr>
          <a:lstStyle/>
          <a:p>
            <a:pPr algn="l"/>
            <a:r>
              <a:rPr sz="869" b="0">
                <a:solidFill>
                  <a:srgbClr val="172033"/>
                </a:solidFill>
                <a:latin typeface="Aptos"/>
              </a:rPr>
              <a:t>3-epoch rolling mean of within-epoch gradient-norm CV</a:t>
            </a:r>
          </a:p>
        </p:txBody>
      </p:sp>
      <p:sp>
        <p:nvSpPr>
          <p:cNvPr id="30" name="TextBox 29"/>
          <p:cNvSpPr txBox="1"/>
          <p:nvPr/>
        </p:nvSpPr>
        <p:spPr>
          <a:xfrm>
            <a:off x="6574536" y="3017520"/>
            <a:ext cx="164592" cy="201168"/>
          </a:xfrm>
          <a:prstGeom prst="rect">
            <a:avLst/>
          </a:prstGeom>
          <a:noFill/>
        </p:spPr>
        <p:txBody>
          <a:bodyPr wrap="square" lIns="36576" tIns="36576" rIns="36576" bIns="36576" anchor="t">
            <a:spAutoFit/>
          </a:bodyPr>
          <a:lstStyle/>
          <a:p>
            <a:pPr algn="l"/>
            <a:r>
              <a:rPr sz="1170" b="1">
                <a:solidFill>
                  <a:srgbClr val="D7792D"/>
                </a:solidFill>
                <a:latin typeface="Aptos"/>
              </a:rPr>
              <a:t>•</a:t>
            </a:r>
          </a:p>
        </p:txBody>
      </p:sp>
      <p:sp>
        <p:nvSpPr>
          <p:cNvPr id="31" name="TextBox 30"/>
          <p:cNvSpPr txBox="1"/>
          <p:nvPr/>
        </p:nvSpPr>
        <p:spPr>
          <a:xfrm>
            <a:off x="6757416" y="3017520"/>
            <a:ext cx="4187952" cy="310896"/>
          </a:xfrm>
          <a:prstGeom prst="rect">
            <a:avLst/>
          </a:prstGeom>
          <a:noFill/>
        </p:spPr>
        <p:txBody>
          <a:bodyPr wrap="square" lIns="36576" tIns="36576" rIns="36576" bIns="36576" anchor="t">
            <a:spAutoFit/>
          </a:bodyPr>
          <a:lstStyle/>
          <a:p>
            <a:pPr algn="l"/>
            <a:r>
              <a:rPr sz="869" b="0">
                <a:solidFill>
                  <a:srgbClr val="172033"/>
                </a:solidFill>
                <a:latin typeface="Aptos"/>
              </a:rPr>
              <a:t>Grow when validation plateaus and CV ≤ 0.25; cooldown = 2</a:t>
            </a:r>
          </a:p>
        </p:txBody>
      </p:sp>
      <p:sp>
        <p:nvSpPr>
          <p:cNvPr id="32" name="Rounded Rectangle 31"/>
          <p:cNvSpPr/>
          <p:nvPr/>
        </p:nvSpPr>
        <p:spPr>
          <a:xfrm>
            <a:off x="6428232" y="3776472"/>
            <a:ext cx="4800600" cy="1353312"/>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574536" y="3913632"/>
            <a:ext cx="2194560" cy="201168"/>
          </a:xfrm>
          <a:prstGeom prst="rect">
            <a:avLst/>
          </a:prstGeom>
          <a:noFill/>
        </p:spPr>
        <p:txBody>
          <a:bodyPr wrap="square" lIns="36576" tIns="36576" rIns="36576" bIns="36576" anchor="t">
            <a:spAutoFit/>
          </a:bodyPr>
          <a:lstStyle/>
          <a:p>
            <a:pPr algn="l"/>
            <a:r>
              <a:rPr sz="1100" b="1">
                <a:solidFill>
                  <a:srgbClr val="172033"/>
                </a:solidFill>
                <a:latin typeface="Aptos"/>
              </a:rPr>
              <a:t>Learning-rate controller</a:t>
            </a:r>
          </a:p>
        </p:txBody>
      </p:sp>
      <p:sp>
        <p:nvSpPr>
          <p:cNvPr id="34" name="TextBox 33"/>
          <p:cNvSpPr txBox="1"/>
          <p:nvPr/>
        </p:nvSpPr>
        <p:spPr>
          <a:xfrm>
            <a:off x="6574536" y="4224528"/>
            <a:ext cx="164592" cy="201168"/>
          </a:xfrm>
          <a:prstGeom prst="rect">
            <a:avLst/>
          </a:prstGeom>
          <a:noFill/>
        </p:spPr>
        <p:txBody>
          <a:bodyPr wrap="square" lIns="36576" tIns="36576" rIns="36576" bIns="36576" anchor="t">
            <a:spAutoFit/>
          </a:bodyPr>
          <a:lstStyle/>
          <a:p>
            <a:pPr algn="l"/>
            <a:r>
              <a:rPr sz="1170" b="1">
                <a:solidFill>
                  <a:srgbClr val="D7792D"/>
                </a:solidFill>
                <a:latin typeface="Aptos"/>
              </a:rPr>
              <a:t>•</a:t>
            </a:r>
          </a:p>
        </p:txBody>
      </p:sp>
      <p:sp>
        <p:nvSpPr>
          <p:cNvPr id="35" name="TextBox 34"/>
          <p:cNvSpPr txBox="1"/>
          <p:nvPr/>
        </p:nvSpPr>
        <p:spPr>
          <a:xfrm>
            <a:off x="6757416" y="4224528"/>
            <a:ext cx="4187952" cy="310896"/>
          </a:xfrm>
          <a:prstGeom prst="rect">
            <a:avLst/>
          </a:prstGeom>
          <a:noFill/>
        </p:spPr>
        <p:txBody>
          <a:bodyPr wrap="square" lIns="36576" tIns="36576" rIns="36576" bIns="36576" anchor="t">
            <a:spAutoFit/>
          </a:bodyPr>
          <a:lstStyle/>
          <a:p>
            <a:pPr algn="l"/>
            <a:r>
              <a:rPr sz="869" b="0">
                <a:solidFill>
                  <a:srgbClr val="172033"/>
                </a:solidFill>
                <a:latin typeface="Aptos"/>
              </a:rPr>
              <a:t>LR base = 0.01 × (B/32)^0.2</a:t>
            </a:r>
          </a:p>
        </p:txBody>
      </p:sp>
      <p:sp>
        <p:nvSpPr>
          <p:cNvPr id="36" name="TextBox 35"/>
          <p:cNvSpPr txBox="1"/>
          <p:nvPr/>
        </p:nvSpPr>
        <p:spPr>
          <a:xfrm>
            <a:off x="6574536" y="4553712"/>
            <a:ext cx="164592" cy="201168"/>
          </a:xfrm>
          <a:prstGeom prst="rect">
            <a:avLst/>
          </a:prstGeom>
          <a:noFill/>
        </p:spPr>
        <p:txBody>
          <a:bodyPr wrap="square" lIns="36576" tIns="36576" rIns="36576" bIns="36576" anchor="t">
            <a:spAutoFit/>
          </a:bodyPr>
          <a:lstStyle/>
          <a:p>
            <a:pPr algn="l"/>
            <a:r>
              <a:rPr sz="1170" b="1">
                <a:solidFill>
                  <a:srgbClr val="D7792D"/>
                </a:solidFill>
                <a:latin typeface="Aptos"/>
              </a:rPr>
              <a:t>•</a:t>
            </a:r>
          </a:p>
        </p:txBody>
      </p:sp>
      <p:sp>
        <p:nvSpPr>
          <p:cNvPr id="37" name="TextBox 36"/>
          <p:cNvSpPr txBox="1"/>
          <p:nvPr/>
        </p:nvSpPr>
        <p:spPr>
          <a:xfrm>
            <a:off x="6757416" y="4553712"/>
            <a:ext cx="4187952" cy="310896"/>
          </a:xfrm>
          <a:prstGeom prst="rect">
            <a:avLst/>
          </a:prstGeom>
          <a:noFill/>
        </p:spPr>
        <p:txBody>
          <a:bodyPr wrap="square" lIns="36576" tIns="36576" rIns="36576" bIns="36576" anchor="t">
            <a:spAutoFit/>
          </a:bodyPr>
          <a:lstStyle/>
          <a:p>
            <a:pPr algn="l"/>
            <a:r>
              <a:rPr sz="869" b="0">
                <a:solidFill>
                  <a:srgbClr val="172033"/>
                </a:solidFill>
                <a:latin typeface="Aptos"/>
              </a:rPr>
              <a:t>After plateau/worsening patience triggers: decay multiplier × 0.5</a:t>
            </a:r>
          </a:p>
        </p:txBody>
      </p:sp>
      <p:sp>
        <p:nvSpPr>
          <p:cNvPr id="38" name="TextBox 37"/>
          <p:cNvSpPr txBox="1"/>
          <p:nvPr/>
        </p:nvSpPr>
        <p:spPr>
          <a:xfrm>
            <a:off x="868680" y="5321808"/>
            <a:ext cx="1051560" cy="173736"/>
          </a:xfrm>
          <a:prstGeom prst="rect">
            <a:avLst/>
          </a:prstGeom>
          <a:noFill/>
        </p:spPr>
        <p:txBody>
          <a:bodyPr wrap="square" lIns="36576" tIns="36576" rIns="36576" bIns="36576" anchor="t">
            <a:spAutoFit/>
          </a:bodyPr>
          <a:lstStyle/>
          <a:p>
            <a:pPr algn="l"/>
            <a:r>
              <a:rPr sz="800" b="1">
                <a:solidFill>
                  <a:srgbClr val="315A8A"/>
                </a:solidFill>
                <a:latin typeface="Aptos"/>
              </a:rPr>
              <a:t>Observed E4</a:t>
            </a:r>
          </a:p>
        </p:txBody>
      </p:sp>
      <p:sp>
        <p:nvSpPr>
          <p:cNvPr id="39" name="TextBox 38"/>
          <p:cNvSpPr txBox="1"/>
          <p:nvPr/>
        </p:nvSpPr>
        <p:spPr>
          <a:xfrm>
            <a:off x="1828800" y="5285232"/>
            <a:ext cx="3474720" cy="438912"/>
          </a:xfrm>
          <a:prstGeom prst="rect">
            <a:avLst/>
          </a:prstGeom>
          <a:noFill/>
        </p:spPr>
        <p:txBody>
          <a:bodyPr wrap="square" lIns="36576" tIns="36576" rIns="36576" bIns="36576" anchor="t">
            <a:spAutoFit/>
          </a:bodyPr>
          <a:lstStyle/>
          <a:p>
            <a:pPr algn="l"/>
            <a:r>
              <a:rPr sz="919" b="1">
                <a:solidFill>
                  <a:srgbClr val="172033"/>
                </a:solidFill>
                <a:latin typeface="Aptos"/>
              </a:rPr>
              <a:t>B: 32 → 64 → 128 → 256
first growth after epoch 37</a:t>
            </a:r>
          </a:p>
        </p:txBody>
      </p:sp>
      <p:sp>
        <p:nvSpPr>
          <p:cNvPr id="40" name="TextBox 39"/>
          <p:cNvSpPr txBox="1"/>
          <p:nvPr/>
        </p:nvSpPr>
        <p:spPr>
          <a:xfrm>
            <a:off x="6583680" y="5321808"/>
            <a:ext cx="1051560" cy="173736"/>
          </a:xfrm>
          <a:prstGeom prst="rect">
            <a:avLst/>
          </a:prstGeom>
          <a:noFill/>
        </p:spPr>
        <p:txBody>
          <a:bodyPr wrap="square" lIns="36576" tIns="36576" rIns="36576" bIns="36576" anchor="t">
            <a:spAutoFit/>
          </a:bodyPr>
          <a:lstStyle/>
          <a:p>
            <a:pPr algn="l"/>
            <a:r>
              <a:rPr sz="800" b="1">
                <a:solidFill>
                  <a:srgbClr val="D7792D"/>
                </a:solidFill>
                <a:latin typeface="Aptos"/>
              </a:rPr>
              <a:t>Observed E4</a:t>
            </a:r>
          </a:p>
        </p:txBody>
      </p:sp>
      <p:sp>
        <p:nvSpPr>
          <p:cNvPr id="41" name="TextBox 40"/>
          <p:cNvSpPr txBox="1"/>
          <p:nvPr/>
        </p:nvSpPr>
        <p:spPr>
          <a:xfrm>
            <a:off x="7543800" y="5285232"/>
            <a:ext cx="3474720" cy="438912"/>
          </a:xfrm>
          <a:prstGeom prst="rect">
            <a:avLst/>
          </a:prstGeom>
          <a:noFill/>
        </p:spPr>
        <p:txBody>
          <a:bodyPr wrap="square" lIns="36576" tIns="36576" rIns="36576" bIns="36576" anchor="t">
            <a:spAutoFit/>
          </a:bodyPr>
          <a:lstStyle/>
          <a:p>
            <a:pPr algn="l"/>
            <a:r>
              <a:rPr sz="919" b="1">
                <a:solidFill>
                  <a:srgbClr val="172033"/>
                </a:solidFill>
                <a:latin typeface="Aptos"/>
              </a:rPr>
              <a:t>B: 32 → 64 → 128 → 256
first growth after epoch 27</a:t>
            </a:r>
          </a:p>
        </p:txBody>
      </p:sp>
      <p:sp>
        <p:nvSpPr>
          <p:cNvPr id="42" name="Rounded Rectangle 41"/>
          <p:cNvSpPr/>
          <p:nvPr/>
        </p:nvSpPr>
        <p:spPr>
          <a:xfrm>
            <a:off x="740664" y="5806440"/>
            <a:ext cx="10625328" cy="274320"/>
          </a:xfrm>
          <a:prstGeom prst="roundRect">
            <a:avLst>
              <a:gd name="adj" fmla="val 8000"/>
            </a:avLst>
          </a:prstGeom>
          <a:solidFill>
            <a:srgbClr val="E8F5F4"/>
          </a:solidFill>
          <a:ln w="12700">
            <a:solidFill>
              <a:srgbClr val="E8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60120" y="5861304"/>
            <a:ext cx="10195560" cy="146304"/>
          </a:xfrm>
          <a:prstGeom prst="rect">
            <a:avLst/>
          </a:prstGeom>
          <a:noFill/>
        </p:spPr>
        <p:txBody>
          <a:bodyPr wrap="square" lIns="36576" tIns="36576" rIns="36576" bIns="36576" anchor="t">
            <a:spAutoFit/>
          </a:bodyPr>
          <a:lstStyle/>
          <a:p>
            <a:pPr algn="ctr"/>
            <a:r>
              <a:rPr sz="840" b="1">
                <a:solidFill>
                  <a:srgbClr val="0F8B8D"/>
                </a:solidFill>
                <a:latin typeface="Aptos"/>
              </a:rPr>
              <a:t>E4 coupling is identical on both datasets: choose B_next first, then compute the LR using that next batch size.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Box 1"/>
          <p:cNvSpPr txBox="1"/>
          <p:nvPr/>
        </p:nvSpPr>
        <p:spPr>
          <a:xfrm>
            <a:off x="566928" y="347472"/>
            <a:ext cx="10789920" cy="411480"/>
          </a:xfrm>
          <a:prstGeom prst="rect">
            <a:avLst/>
          </a:prstGeom>
          <a:noFill/>
        </p:spPr>
        <p:txBody>
          <a:bodyPr wrap="square" lIns="36576" tIns="36576" rIns="36576" bIns="36576" anchor="t">
            <a:spAutoFit/>
          </a:bodyPr>
          <a:lstStyle/>
          <a:p>
            <a:pPr algn="l"/>
            <a:r>
              <a:rPr sz="2400" b="1">
                <a:solidFill>
                  <a:srgbClr val="172033"/>
                </a:solidFill>
                <a:latin typeface="Aptos Display"/>
              </a:rPr>
              <a:t>Validation-selected results — side-by-side</a:t>
            </a:r>
          </a:p>
        </p:txBody>
      </p:sp>
      <p:sp>
        <p:nvSpPr>
          <p:cNvPr id="3" name="TextBox 2"/>
          <p:cNvSpPr txBox="1"/>
          <p:nvPr/>
        </p:nvSpPr>
        <p:spPr>
          <a:xfrm>
            <a:off x="585216" y="832104"/>
            <a:ext cx="10744200" cy="301752"/>
          </a:xfrm>
          <a:prstGeom prst="rect">
            <a:avLst/>
          </a:prstGeom>
          <a:noFill/>
        </p:spPr>
        <p:txBody>
          <a:bodyPr wrap="square" lIns="36576" tIns="36576" rIns="36576" bIns="36576" anchor="t">
            <a:spAutoFit/>
          </a:bodyPr>
          <a:lstStyle/>
          <a:p>
            <a:pPr algn="l"/>
            <a:r>
              <a:rPr sz="1050" b="0">
                <a:solidFill>
                  <a:srgbClr val="5B6577"/>
                </a:solidFill>
                <a:latin typeface="Aptos"/>
              </a:rPr>
              <a:t>Both suites use the same E1–E4 definitions; best checkpoint = lowest validation loss.</a:t>
            </a:r>
          </a:p>
        </p:txBody>
      </p:sp>
      <p:sp>
        <p:nvSpPr>
          <p:cNvPr id="4" name="Rounded Rectangle 3"/>
          <p:cNvSpPr/>
          <p:nvPr/>
        </p:nvSpPr>
        <p:spPr>
          <a:xfrm>
            <a:off x="585216" y="1225296"/>
            <a:ext cx="1417320" cy="256032"/>
          </a:xfrm>
          <a:prstGeom prst="roundRect">
            <a:avLst>
              <a:gd name="adj" fmla="val 8000"/>
            </a:avLst>
          </a:prstGeom>
          <a:solidFill>
            <a:srgbClr val="E8F5F4"/>
          </a:solidFill>
          <a:ln w="12700">
            <a:solidFill>
              <a:srgbClr val="E8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67512" y="1271016"/>
            <a:ext cx="1234440" cy="128016"/>
          </a:xfrm>
          <a:prstGeom prst="rect">
            <a:avLst/>
          </a:prstGeom>
          <a:noFill/>
        </p:spPr>
        <p:txBody>
          <a:bodyPr wrap="square" lIns="0" tIns="0" rIns="0" bIns="0" anchor="ctr">
            <a:spAutoFit/>
          </a:bodyPr>
          <a:lstStyle/>
          <a:p>
            <a:pPr algn="ctr"/>
            <a:r>
              <a:rPr sz="760" b="1">
                <a:solidFill>
                  <a:srgbClr val="0F8B8D"/>
                </a:solidFill>
                <a:latin typeface="Aptos"/>
              </a:rPr>
              <a:t>RESULTS</a:t>
            </a:r>
          </a:p>
        </p:txBody>
      </p:sp>
      <p:sp>
        <p:nvSpPr>
          <p:cNvPr id="6" name="TextBox 5"/>
          <p:cNvSpPr txBox="1"/>
          <p:nvPr/>
        </p:nvSpPr>
        <p:spPr>
          <a:xfrm>
            <a:off x="11384280" y="6446520"/>
            <a:ext cx="320040" cy="182880"/>
          </a:xfrm>
          <a:prstGeom prst="rect">
            <a:avLst/>
          </a:prstGeom>
          <a:noFill/>
        </p:spPr>
        <p:txBody>
          <a:bodyPr wrap="square" lIns="36576" tIns="36576" rIns="36576" bIns="36576" anchor="t">
            <a:spAutoFit/>
          </a:bodyPr>
          <a:lstStyle/>
          <a:p>
            <a:r>
              <a:rPr sz="800">
                <a:solidFill>
                  <a:srgbClr val="5B6577"/>
                </a:solidFill>
                <a:latin typeface="Aptos"/>
              </a:rPr>
              <a:t>11</a:t>
            </a:r>
          </a:p>
        </p:txBody>
      </p:sp>
      <p:sp>
        <p:nvSpPr>
          <p:cNvPr id="7" name="Rectangle 6"/>
          <p:cNvSpPr/>
          <p:nvPr/>
        </p:nvSpPr>
        <p:spPr>
          <a:xfrm>
            <a:off x="6044184" y="1527048"/>
            <a:ext cx="18288" cy="4553712"/>
          </a:xfrm>
          <a:prstGeom prst="rect">
            <a:avLst/>
          </a:prstGeom>
          <a:solidFill>
            <a:srgbClr val="D8E0E8"/>
          </a:solidFill>
          <a:ln>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76072" y="1572768"/>
            <a:ext cx="5230368" cy="475488"/>
          </a:xfrm>
          <a:prstGeom prst="roundRect">
            <a:avLst>
              <a:gd name="adj" fmla="val 8000"/>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300216" y="1572768"/>
            <a:ext cx="5285232" cy="475488"/>
          </a:xfrm>
          <a:prstGeom prst="roundRect">
            <a:avLst>
              <a:gd name="adj" fmla="val 8000"/>
            </a:avLst>
          </a:prstGeom>
          <a:solidFill>
            <a:srgbClr val="FCF4EB"/>
          </a:solidFill>
          <a:ln w="12700">
            <a:solidFill>
              <a:srgbClr val="FCF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664208"/>
            <a:ext cx="1645920" cy="201168"/>
          </a:xfrm>
          <a:prstGeom prst="rect">
            <a:avLst/>
          </a:prstGeom>
          <a:noFill/>
        </p:spPr>
        <p:txBody>
          <a:bodyPr wrap="square" lIns="36576" tIns="36576" rIns="36576" bIns="36576" anchor="t">
            <a:spAutoFit/>
          </a:bodyPr>
          <a:lstStyle/>
          <a:p>
            <a:pPr algn="l"/>
            <a:r>
              <a:rPr sz="1700" b="1">
                <a:solidFill>
                  <a:srgbClr val="315A8A"/>
                </a:solidFill>
                <a:latin typeface="Aptos"/>
              </a:rPr>
              <a:t>CIFAR-10</a:t>
            </a:r>
          </a:p>
        </p:txBody>
      </p:sp>
      <p:sp>
        <p:nvSpPr>
          <p:cNvPr id="11" name="TextBox 10"/>
          <p:cNvSpPr txBox="1"/>
          <p:nvPr/>
        </p:nvSpPr>
        <p:spPr>
          <a:xfrm>
            <a:off x="2176272" y="1691640"/>
            <a:ext cx="3429000" cy="164592"/>
          </a:xfrm>
          <a:prstGeom prst="rect">
            <a:avLst/>
          </a:prstGeom>
          <a:noFill/>
        </p:spPr>
        <p:txBody>
          <a:bodyPr wrap="square" lIns="36576" tIns="36576" rIns="36576" bIns="36576" anchor="t">
            <a:spAutoFit/>
          </a:bodyPr>
          <a:lstStyle/>
          <a:p>
            <a:pPr algn="r"/>
            <a:r>
              <a:rPr sz="869" b="0">
                <a:solidFill>
                  <a:srgbClr val="5B6577"/>
                </a:solidFill>
                <a:latin typeface="Aptos"/>
              </a:rPr>
              <a:t>80 epochs</a:t>
            </a:r>
          </a:p>
        </p:txBody>
      </p:sp>
      <p:sp>
        <p:nvSpPr>
          <p:cNvPr id="12" name="TextBox 11"/>
          <p:cNvSpPr txBox="1"/>
          <p:nvPr/>
        </p:nvSpPr>
        <p:spPr>
          <a:xfrm>
            <a:off x="6473952" y="1664208"/>
            <a:ext cx="1828800" cy="201168"/>
          </a:xfrm>
          <a:prstGeom prst="rect">
            <a:avLst/>
          </a:prstGeom>
          <a:noFill/>
        </p:spPr>
        <p:txBody>
          <a:bodyPr wrap="square" lIns="36576" tIns="36576" rIns="36576" bIns="36576" anchor="t">
            <a:spAutoFit/>
          </a:bodyPr>
          <a:lstStyle/>
          <a:p>
            <a:pPr algn="l"/>
            <a:r>
              <a:rPr sz="1700" b="1">
                <a:solidFill>
                  <a:srgbClr val="D7792D"/>
                </a:solidFill>
                <a:latin typeface="Aptos"/>
              </a:rPr>
              <a:t>CIFAR-100</a:t>
            </a:r>
          </a:p>
        </p:txBody>
      </p:sp>
      <p:sp>
        <p:nvSpPr>
          <p:cNvPr id="13" name="TextBox 12"/>
          <p:cNvSpPr txBox="1"/>
          <p:nvPr/>
        </p:nvSpPr>
        <p:spPr>
          <a:xfrm>
            <a:off x="8275320" y="1691640"/>
            <a:ext cx="3054096" cy="164592"/>
          </a:xfrm>
          <a:prstGeom prst="rect">
            <a:avLst/>
          </a:prstGeom>
          <a:noFill/>
        </p:spPr>
        <p:txBody>
          <a:bodyPr wrap="square" lIns="36576" tIns="36576" rIns="36576" bIns="36576" anchor="t">
            <a:spAutoFit/>
          </a:bodyPr>
          <a:lstStyle/>
          <a:p>
            <a:pPr algn="r"/>
            <a:r>
              <a:rPr sz="869" b="0">
                <a:solidFill>
                  <a:srgbClr val="5B6577"/>
                </a:solidFill>
                <a:latin typeface="Aptos"/>
              </a:rPr>
              <a:t>120 epochs</a:t>
            </a:r>
          </a:p>
        </p:txBody>
      </p:sp>
      <p:sp>
        <p:nvSpPr>
          <p:cNvPr id="14" name="Rectangle 13"/>
          <p:cNvSpPr/>
          <p:nvPr/>
        </p:nvSpPr>
        <p:spPr>
          <a:xfrm>
            <a:off x="841248" y="3886200"/>
            <a:ext cx="4526280" cy="18288"/>
          </a:xfrm>
          <a:prstGeom prst="rect">
            <a:avLst/>
          </a:prstGeom>
          <a:solidFill>
            <a:srgbClr val="D8E0E8"/>
          </a:solidFill>
          <a:ln>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41248" y="2791520"/>
            <a:ext cx="1049274" cy="1094679"/>
          </a:xfrm>
          <a:prstGeom prst="rect">
            <a:avLst/>
          </a:prstGeom>
          <a:solidFill>
            <a:srgbClr val="315A8A"/>
          </a:solidFill>
          <a:ln>
            <a:solidFill>
              <a:srgbClr val="315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2553776"/>
            <a:ext cx="1085850" cy="182880"/>
          </a:xfrm>
          <a:prstGeom prst="rect">
            <a:avLst/>
          </a:prstGeom>
          <a:noFill/>
        </p:spPr>
        <p:txBody>
          <a:bodyPr wrap="square" lIns="36576" tIns="36576" rIns="36576" bIns="36576" anchor="t">
            <a:spAutoFit/>
          </a:bodyPr>
          <a:lstStyle/>
          <a:p>
            <a:pPr algn="ctr"/>
            <a:r>
              <a:rPr sz="760" b="1">
                <a:solidFill>
                  <a:srgbClr val="172033"/>
                </a:solidFill>
                <a:latin typeface="Aptos"/>
              </a:rPr>
              <a:t>82.88%</a:t>
            </a:r>
          </a:p>
        </p:txBody>
      </p:sp>
      <p:sp>
        <p:nvSpPr>
          <p:cNvPr id="17" name="TextBox 16"/>
          <p:cNvSpPr txBox="1"/>
          <p:nvPr/>
        </p:nvSpPr>
        <p:spPr>
          <a:xfrm>
            <a:off x="841248" y="3950207"/>
            <a:ext cx="1049274" cy="164592"/>
          </a:xfrm>
          <a:prstGeom prst="rect">
            <a:avLst/>
          </a:prstGeom>
          <a:noFill/>
        </p:spPr>
        <p:txBody>
          <a:bodyPr wrap="square" lIns="36576" tIns="36576" rIns="36576" bIns="36576" anchor="t">
            <a:spAutoFit/>
          </a:bodyPr>
          <a:lstStyle/>
          <a:p>
            <a:pPr algn="ctr"/>
            <a:r>
              <a:rPr sz="740" b="1">
                <a:solidFill>
                  <a:srgbClr val="5B6577"/>
                </a:solidFill>
                <a:latin typeface="Aptos"/>
              </a:rPr>
              <a:t>E1</a:t>
            </a:r>
          </a:p>
        </p:txBody>
      </p:sp>
      <p:sp>
        <p:nvSpPr>
          <p:cNvPr id="18" name="Rectangle 17"/>
          <p:cNvSpPr/>
          <p:nvPr/>
        </p:nvSpPr>
        <p:spPr>
          <a:xfrm>
            <a:off x="2000250" y="2763255"/>
            <a:ext cx="1049274" cy="1122944"/>
          </a:xfrm>
          <a:prstGeom prst="rect">
            <a:avLst/>
          </a:prstGeom>
          <a:solidFill>
            <a:srgbClr val="315A8A"/>
          </a:solidFill>
          <a:ln>
            <a:solidFill>
              <a:srgbClr val="315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981962" y="2525511"/>
            <a:ext cx="1085850" cy="182880"/>
          </a:xfrm>
          <a:prstGeom prst="rect">
            <a:avLst/>
          </a:prstGeom>
          <a:noFill/>
        </p:spPr>
        <p:txBody>
          <a:bodyPr wrap="square" lIns="36576" tIns="36576" rIns="36576" bIns="36576" anchor="t">
            <a:spAutoFit/>
          </a:bodyPr>
          <a:lstStyle/>
          <a:p>
            <a:pPr algn="ctr"/>
            <a:r>
              <a:rPr sz="760" b="1">
                <a:solidFill>
                  <a:srgbClr val="172033"/>
                </a:solidFill>
                <a:latin typeface="Aptos"/>
              </a:rPr>
              <a:t>85.02%</a:t>
            </a:r>
          </a:p>
        </p:txBody>
      </p:sp>
      <p:sp>
        <p:nvSpPr>
          <p:cNvPr id="20" name="TextBox 19"/>
          <p:cNvSpPr txBox="1"/>
          <p:nvPr/>
        </p:nvSpPr>
        <p:spPr>
          <a:xfrm>
            <a:off x="2000250" y="3950207"/>
            <a:ext cx="1049274" cy="164592"/>
          </a:xfrm>
          <a:prstGeom prst="rect">
            <a:avLst/>
          </a:prstGeom>
          <a:noFill/>
        </p:spPr>
        <p:txBody>
          <a:bodyPr wrap="square" lIns="36576" tIns="36576" rIns="36576" bIns="36576" anchor="t">
            <a:spAutoFit/>
          </a:bodyPr>
          <a:lstStyle/>
          <a:p>
            <a:pPr algn="ctr"/>
            <a:r>
              <a:rPr sz="740" b="1">
                <a:solidFill>
                  <a:srgbClr val="5B6577"/>
                </a:solidFill>
                <a:latin typeface="Aptos"/>
              </a:rPr>
              <a:t>E2</a:t>
            </a:r>
          </a:p>
        </p:txBody>
      </p:sp>
      <p:sp>
        <p:nvSpPr>
          <p:cNvPr id="21" name="Rectangle 20"/>
          <p:cNvSpPr/>
          <p:nvPr/>
        </p:nvSpPr>
        <p:spPr>
          <a:xfrm>
            <a:off x="3159252" y="2745821"/>
            <a:ext cx="1049274" cy="1140378"/>
          </a:xfrm>
          <a:prstGeom prst="rect">
            <a:avLst/>
          </a:prstGeom>
          <a:solidFill>
            <a:srgbClr val="315A8A"/>
          </a:solidFill>
          <a:ln>
            <a:solidFill>
              <a:srgbClr val="315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140964" y="2508077"/>
            <a:ext cx="1085850" cy="182880"/>
          </a:xfrm>
          <a:prstGeom prst="rect">
            <a:avLst/>
          </a:prstGeom>
          <a:noFill/>
        </p:spPr>
        <p:txBody>
          <a:bodyPr wrap="square" lIns="36576" tIns="36576" rIns="36576" bIns="36576" anchor="t">
            <a:spAutoFit/>
          </a:bodyPr>
          <a:lstStyle/>
          <a:p>
            <a:pPr algn="ctr"/>
            <a:r>
              <a:rPr sz="760" b="1">
                <a:solidFill>
                  <a:srgbClr val="172033"/>
                </a:solidFill>
                <a:latin typeface="Aptos"/>
              </a:rPr>
              <a:t>86.34%</a:t>
            </a:r>
          </a:p>
        </p:txBody>
      </p:sp>
      <p:sp>
        <p:nvSpPr>
          <p:cNvPr id="23" name="TextBox 22"/>
          <p:cNvSpPr txBox="1"/>
          <p:nvPr/>
        </p:nvSpPr>
        <p:spPr>
          <a:xfrm>
            <a:off x="3159252" y="3950207"/>
            <a:ext cx="1049274" cy="164592"/>
          </a:xfrm>
          <a:prstGeom prst="rect">
            <a:avLst/>
          </a:prstGeom>
          <a:noFill/>
        </p:spPr>
        <p:txBody>
          <a:bodyPr wrap="square" lIns="36576" tIns="36576" rIns="36576" bIns="36576" anchor="t">
            <a:spAutoFit/>
          </a:bodyPr>
          <a:lstStyle/>
          <a:p>
            <a:pPr algn="ctr"/>
            <a:r>
              <a:rPr sz="740" b="1">
                <a:solidFill>
                  <a:srgbClr val="5B6577"/>
                </a:solidFill>
                <a:latin typeface="Aptos"/>
              </a:rPr>
              <a:t>E3</a:t>
            </a:r>
          </a:p>
        </p:txBody>
      </p:sp>
      <p:sp>
        <p:nvSpPr>
          <p:cNvPr id="24" name="Rectangle 23"/>
          <p:cNvSpPr/>
          <p:nvPr/>
        </p:nvSpPr>
        <p:spPr>
          <a:xfrm>
            <a:off x="4318254" y="2777256"/>
            <a:ext cx="1049274" cy="1108943"/>
          </a:xfrm>
          <a:prstGeom prst="rect">
            <a:avLst/>
          </a:prstGeom>
          <a:solidFill>
            <a:srgbClr val="315A8A"/>
          </a:solidFill>
          <a:ln>
            <a:solidFill>
              <a:srgbClr val="315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299966" y="2539512"/>
            <a:ext cx="1085850" cy="182880"/>
          </a:xfrm>
          <a:prstGeom prst="rect">
            <a:avLst/>
          </a:prstGeom>
          <a:noFill/>
        </p:spPr>
        <p:txBody>
          <a:bodyPr wrap="square" lIns="36576" tIns="36576" rIns="36576" bIns="36576" anchor="t">
            <a:spAutoFit/>
          </a:bodyPr>
          <a:lstStyle/>
          <a:p>
            <a:pPr algn="ctr"/>
            <a:r>
              <a:rPr sz="760" b="1">
                <a:solidFill>
                  <a:srgbClr val="172033"/>
                </a:solidFill>
                <a:latin typeface="Aptos"/>
              </a:rPr>
              <a:t>83.96%</a:t>
            </a:r>
          </a:p>
        </p:txBody>
      </p:sp>
      <p:sp>
        <p:nvSpPr>
          <p:cNvPr id="26" name="TextBox 25"/>
          <p:cNvSpPr txBox="1"/>
          <p:nvPr/>
        </p:nvSpPr>
        <p:spPr>
          <a:xfrm>
            <a:off x="4318254" y="3950207"/>
            <a:ext cx="1049274" cy="164592"/>
          </a:xfrm>
          <a:prstGeom prst="rect">
            <a:avLst/>
          </a:prstGeom>
          <a:noFill/>
        </p:spPr>
        <p:txBody>
          <a:bodyPr wrap="square" lIns="36576" tIns="36576" rIns="36576" bIns="36576" anchor="t">
            <a:spAutoFit/>
          </a:bodyPr>
          <a:lstStyle/>
          <a:p>
            <a:pPr algn="ctr"/>
            <a:r>
              <a:rPr sz="740" b="1">
                <a:solidFill>
                  <a:srgbClr val="5B6577"/>
                </a:solidFill>
                <a:latin typeface="Aptos"/>
              </a:rPr>
              <a:t>E4</a:t>
            </a:r>
          </a:p>
        </p:txBody>
      </p:sp>
      <p:sp>
        <p:nvSpPr>
          <p:cNvPr id="27" name="Rectangle 26"/>
          <p:cNvSpPr/>
          <p:nvPr/>
        </p:nvSpPr>
        <p:spPr>
          <a:xfrm>
            <a:off x="6547104" y="3886200"/>
            <a:ext cx="4526280" cy="18288"/>
          </a:xfrm>
          <a:prstGeom prst="rect">
            <a:avLst/>
          </a:prstGeom>
          <a:solidFill>
            <a:srgbClr val="D8E0E8"/>
          </a:solidFill>
          <a:ln>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547104" y="2877146"/>
            <a:ext cx="1049274" cy="1009053"/>
          </a:xfrm>
          <a:prstGeom prst="rect">
            <a:avLst/>
          </a:prstGeom>
          <a:solidFill>
            <a:srgbClr val="D7792D"/>
          </a:solidFill>
          <a:ln>
            <a:solidFill>
              <a:srgbClr val="D779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28816" y="2639402"/>
            <a:ext cx="1085850" cy="182880"/>
          </a:xfrm>
          <a:prstGeom prst="rect">
            <a:avLst/>
          </a:prstGeom>
          <a:noFill/>
        </p:spPr>
        <p:txBody>
          <a:bodyPr wrap="square" lIns="36576" tIns="36576" rIns="36576" bIns="36576" anchor="t">
            <a:spAutoFit/>
          </a:bodyPr>
          <a:lstStyle/>
          <a:p>
            <a:pPr algn="ctr"/>
            <a:r>
              <a:rPr sz="760" b="1">
                <a:solidFill>
                  <a:srgbClr val="172033"/>
                </a:solidFill>
                <a:latin typeface="Aptos"/>
              </a:rPr>
              <a:t>59.42%</a:t>
            </a:r>
          </a:p>
        </p:txBody>
      </p:sp>
      <p:sp>
        <p:nvSpPr>
          <p:cNvPr id="30" name="TextBox 29"/>
          <p:cNvSpPr txBox="1"/>
          <p:nvPr/>
        </p:nvSpPr>
        <p:spPr>
          <a:xfrm>
            <a:off x="6547104" y="3950207"/>
            <a:ext cx="1049274" cy="164592"/>
          </a:xfrm>
          <a:prstGeom prst="rect">
            <a:avLst/>
          </a:prstGeom>
          <a:noFill/>
        </p:spPr>
        <p:txBody>
          <a:bodyPr wrap="square" lIns="36576" tIns="36576" rIns="36576" bIns="36576" anchor="t">
            <a:spAutoFit/>
          </a:bodyPr>
          <a:lstStyle/>
          <a:p>
            <a:pPr algn="ctr"/>
            <a:r>
              <a:rPr sz="740" b="1">
                <a:solidFill>
                  <a:srgbClr val="5B6577"/>
                </a:solidFill>
                <a:latin typeface="Aptos"/>
              </a:rPr>
              <a:t>E1</a:t>
            </a:r>
          </a:p>
        </p:txBody>
      </p:sp>
      <p:sp>
        <p:nvSpPr>
          <p:cNvPr id="31" name="Rectangle 30"/>
          <p:cNvSpPr/>
          <p:nvPr/>
        </p:nvSpPr>
        <p:spPr>
          <a:xfrm>
            <a:off x="7706106" y="2785105"/>
            <a:ext cx="1049274" cy="1101094"/>
          </a:xfrm>
          <a:prstGeom prst="rect">
            <a:avLst/>
          </a:prstGeom>
          <a:solidFill>
            <a:srgbClr val="D7792D"/>
          </a:solidFill>
          <a:ln>
            <a:solidFill>
              <a:srgbClr val="D779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687818" y="2547361"/>
            <a:ext cx="1085850" cy="182880"/>
          </a:xfrm>
          <a:prstGeom prst="rect">
            <a:avLst/>
          </a:prstGeom>
          <a:noFill/>
        </p:spPr>
        <p:txBody>
          <a:bodyPr wrap="square" lIns="36576" tIns="36576" rIns="36576" bIns="36576" anchor="t">
            <a:spAutoFit/>
          </a:bodyPr>
          <a:lstStyle/>
          <a:p>
            <a:pPr algn="ctr"/>
            <a:r>
              <a:rPr sz="760" b="1">
                <a:solidFill>
                  <a:srgbClr val="172033"/>
                </a:solidFill>
                <a:latin typeface="Aptos"/>
              </a:rPr>
              <a:t>64.84%</a:t>
            </a:r>
          </a:p>
        </p:txBody>
      </p:sp>
      <p:sp>
        <p:nvSpPr>
          <p:cNvPr id="33" name="TextBox 32"/>
          <p:cNvSpPr txBox="1"/>
          <p:nvPr/>
        </p:nvSpPr>
        <p:spPr>
          <a:xfrm>
            <a:off x="7706106" y="3950207"/>
            <a:ext cx="1049274" cy="164592"/>
          </a:xfrm>
          <a:prstGeom prst="rect">
            <a:avLst/>
          </a:prstGeom>
          <a:noFill/>
        </p:spPr>
        <p:txBody>
          <a:bodyPr wrap="square" lIns="36576" tIns="36576" rIns="36576" bIns="36576" anchor="t">
            <a:spAutoFit/>
          </a:bodyPr>
          <a:lstStyle/>
          <a:p>
            <a:pPr algn="ctr"/>
            <a:r>
              <a:rPr sz="740" b="1">
                <a:solidFill>
                  <a:srgbClr val="5B6577"/>
                </a:solidFill>
                <a:latin typeface="Aptos"/>
              </a:rPr>
              <a:t>E2</a:t>
            </a:r>
          </a:p>
        </p:txBody>
      </p:sp>
      <p:sp>
        <p:nvSpPr>
          <p:cNvPr id="34" name="Rectangle 33"/>
          <p:cNvSpPr/>
          <p:nvPr/>
        </p:nvSpPr>
        <p:spPr>
          <a:xfrm>
            <a:off x="8865108" y="2784426"/>
            <a:ext cx="1049274" cy="1101773"/>
          </a:xfrm>
          <a:prstGeom prst="rect">
            <a:avLst/>
          </a:prstGeom>
          <a:solidFill>
            <a:srgbClr val="D7792D"/>
          </a:solidFill>
          <a:ln>
            <a:solidFill>
              <a:srgbClr val="D779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846820" y="2546682"/>
            <a:ext cx="1085850" cy="182880"/>
          </a:xfrm>
          <a:prstGeom prst="rect">
            <a:avLst/>
          </a:prstGeom>
          <a:noFill/>
        </p:spPr>
        <p:txBody>
          <a:bodyPr wrap="square" lIns="36576" tIns="36576" rIns="36576" bIns="36576" anchor="t">
            <a:spAutoFit/>
          </a:bodyPr>
          <a:lstStyle/>
          <a:p>
            <a:pPr algn="ctr"/>
            <a:r>
              <a:rPr sz="760" b="1">
                <a:solidFill>
                  <a:srgbClr val="172033"/>
                </a:solidFill>
                <a:latin typeface="Aptos"/>
              </a:rPr>
              <a:t>64.88%</a:t>
            </a:r>
          </a:p>
        </p:txBody>
      </p:sp>
      <p:sp>
        <p:nvSpPr>
          <p:cNvPr id="36" name="TextBox 35"/>
          <p:cNvSpPr txBox="1"/>
          <p:nvPr/>
        </p:nvSpPr>
        <p:spPr>
          <a:xfrm>
            <a:off x="8865108" y="3950207"/>
            <a:ext cx="1049274" cy="164592"/>
          </a:xfrm>
          <a:prstGeom prst="rect">
            <a:avLst/>
          </a:prstGeom>
          <a:noFill/>
        </p:spPr>
        <p:txBody>
          <a:bodyPr wrap="square" lIns="36576" tIns="36576" rIns="36576" bIns="36576" anchor="t">
            <a:spAutoFit/>
          </a:bodyPr>
          <a:lstStyle/>
          <a:p>
            <a:pPr algn="ctr"/>
            <a:r>
              <a:rPr sz="740" b="1">
                <a:solidFill>
                  <a:srgbClr val="5B6577"/>
                </a:solidFill>
                <a:latin typeface="Aptos"/>
              </a:rPr>
              <a:t>E3</a:t>
            </a:r>
          </a:p>
        </p:txBody>
      </p:sp>
      <p:sp>
        <p:nvSpPr>
          <p:cNvPr id="37" name="Rectangle 36"/>
          <p:cNvSpPr/>
          <p:nvPr/>
        </p:nvSpPr>
        <p:spPr>
          <a:xfrm>
            <a:off x="10024110" y="2782048"/>
            <a:ext cx="1049274" cy="1104151"/>
          </a:xfrm>
          <a:prstGeom prst="rect">
            <a:avLst/>
          </a:prstGeom>
          <a:solidFill>
            <a:srgbClr val="D7792D"/>
          </a:solidFill>
          <a:ln>
            <a:solidFill>
              <a:srgbClr val="D779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005822" y="2544304"/>
            <a:ext cx="1085850" cy="182880"/>
          </a:xfrm>
          <a:prstGeom prst="rect">
            <a:avLst/>
          </a:prstGeom>
          <a:noFill/>
        </p:spPr>
        <p:txBody>
          <a:bodyPr wrap="square" lIns="36576" tIns="36576" rIns="36576" bIns="36576" anchor="t">
            <a:spAutoFit/>
          </a:bodyPr>
          <a:lstStyle/>
          <a:p>
            <a:pPr algn="ctr"/>
            <a:r>
              <a:rPr sz="760" b="1">
                <a:solidFill>
                  <a:srgbClr val="172033"/>
                </a:solidFill>
                <a:latin typeface="Aptos"/>
              </a:rPr>
              <a:t>65.02%</a:t>
            </a:r>
          </a:p>
        </p:txBody>
      </p:sp>
      <p:sp>
        <p:nvSpPr>
          <p:cNvPr id="39" name="TextBox 38"/>
          <p:cNvSpPr txBox="1"/>
          <p:nvPr/>
        </p:nvSpPr>
        <p:spPr>
          <a:xfrm>
            <a:off x="10024110" y="3950207"/>
            <a:ext cx="1049274" cy="164592"/>
          </a:xfrm>
          <a:prstGeom prst="rect">
            <a:avLst/>
          </a:prstGeom>
          <a:noFill/>
        </p:spPr>
        <p:txBody>
          <a:bodyPr wrap="square" lIns="36576" tIns="36576" rIns="36576" bIns="36576" anchor="t">
            <a:spAutoFit/>
          </a:bodyPr>
          <a:lstStyle/>
          <a:p>
            <a:pPr algn="ctr"/>
            <a:r>
              <a:rPr sz="740" b="1">
                <a:solidFill>
                  <a:srgbClr val="5B6577"/>
                </a:solidFill>
                <a:latin typeface="Aptos"/>
              </a:rPr>
              <a:t>E4</a:t>
            </a:r>
          </a:p>
        </p:txBody>
      </p:sp>
      <p:sp>
        <p:nvSpPr>
          <p:cNvPr id="40" name="TextBox 39"/>
          <p:cNvSpPr txBox="1"/>
          <p:nvPr/>
        </p:nvSpPr>
        <p:spPr>
          <a:xfrm>
            <a:off x="868680" y="2130552"/>
            <a:ext cx="2011680" cy="164592"/>
          </a:xfrm>
          <a:prstGeom prst="rect">
            <a:avLst/>
          </a:prstGeom>
          <a:noFill/>
        </p:spPr>
        <p:txBody>
          <a:bodyPr wrap="square" lIns="36576" tIns="36576" rIns="36576" bIns="36576" anchor="t">
            <a:spAutoFit/>
          </a:bodyPr>
          <a:lstStyle/>
          <a:p>
            <a:pPr algn="l"/>
            <a:r>
              <a:rPr sz="850" b="1">
                <a:solidFill>
                  <a:srgbClr val="5B6577"/>
                </a:solidFill>
                <a:latin typeface="Aptos"/>
              </a:rPr>
              <a:t>Validation accuracy</a:t>
            </a:r>
          </a:p>
        </p:txBody>
      </p:sp>
      <p:sp>
        <p:nvSpPr>
          <p:cNvPr id="41" name="TextBox 40"/>
          <p:cNvSpPr txBox="1"/>
          <p:nvPr/>
        </p:nvSpPr>
        <p:spPr>
          <a:xfrm>
            <a:off x="6565392" y="2130552"/>
            <a:ext cx="2011680" cy="164592"/>
          </a:xfrm>
          <a:prstGeom prst="rect">
            <a:avLst/>
          </a:prstGeom>
          <a:noFill/>
        </p:spPr>
        <p:txBody>
          <a:bodyPr wrap="square" lIns="36576" tIns="36576" rIns="36576" bIns="36576" anchor="t">
            <a:spAutoFit/>
          </a:bodyPr>
          <a:lstStyle/>
          <a:p>
            <a:pPr algn="l"/>
            <a:r>
              <a:rPr sz="850" b="1">
                <a:solidFill>
                  <a:srgbClr val="5B6577"/>
                </a:solidFill>
                <a:latin typeface="Aptos"/>
              </a:rPr>
              <a:t>Validation accuracy</a:t>
            </a:r>
          </a:p>
        </p:txBody>
      </p:sp>
      <p:sp>
        <p:nvSpPr>
          <p:cNvPr id="42" name="Rounded Rectangle 41"/>
          <p:cNvSpPr/>
          <p:nvPr/>
        </p:nvSpPr>
        <p:spPr>
          <a:xfrm>
            <a:off x="722376" y="4270248"/>
            <a:ext cx="4818888" cy="1417320"/>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32104" y="4407408"/>
            <a:ext cx="566928" cy="146304"/>
          </a:xfrm>
          <a:prstGeom prst="rect">
            <a:avLst/>
          </a:prstGeom>
          <a:noFill/>
        </p:spPr>
        <p:txBody>
          <a:bodyPr wrap="square" lIns="36576" tIns="36576" rIns="36576" bIns="36576" anchor="t">
            <a:spAutoFit/>
          </a:bodyPr>
          <a:lstStyle/>
          <a:p>
            <a:pPr algn="l"/>
            <a:r>
              <a:rPr sz="730" b="1">
                <a:solidFill>
                  <a:srgbClr val="5B6577"/>
                </a:solidFill>
                <a:latin typeface="Aptos"/>
              </a:rPr>
              <a:t>Exp</a:t>
            </a:r>
          </a:p>
        </p:txBody>
      </p:sp>
      <p:sp>
        <p:nvSpPr>
          <p:cNvPr id="44" name="TextBox 43"/>
          <p:cNvSpPr txBox="1"/>
          <p:nvPr/>
        </p:nvSpPr>
        <p:spPr>
          <a:xfrm>
            <a:off x="1508760" y="4407408"/>
            <a:ext cx="950976" cy="146304"/>
          </a:xfrm>
          <a:prstGeom prst="rect">
            <a:avLst/>
          </a:prstGeom>
          <a:noFill/>
        </p:spPr>
        <p:txBody>
          <a:bodyPr wrap="square" lIns="36576" tIns="36576" rIns="36576" bIns="36576" anchor="t">
            <a:spAutoFit/>
          </a:bodyPr>
          <a:lstStyle/>
          <a:p>
            <a:pPr algn="l"/>
            <a:r>
              <a:rPr sz="730" b="1">
                <a:solidFill>
                  <a:srgbClr val="5B6577"/>
                </a:solidFill>
                <a:latin typeface="Aptos"/>
              </a:rPr>
              <a:t>Loss</a:t>
            </a:r>
          </a:p>
        </p:txBody>
      </p:sp>
      <p:sp>
        <p:nvSpPr>
          <p:cNvPr id="45" name="TextBox 44"/>
          <p:cNvSpPr txBox="1"/>
          <p:nvPr/>
        </p:nvSpPr>
        <p:spPr>
          <a:xfrm>
            <a:off x="2551176" y="4407408"/>
            <a:ext cx="1143000" cy="146304"/>
          </a:xfrm>
          <a:prstGeom prst="rect">
            <a:avLst/>
          </a:prstGeom>
          <a:noFill/>
        </p:spPr>
        <p:txBody>
          <a:bodyPr wrap="square" lIns="36576" tIns="36576" rIns="36576" bIns="36576" anchor="t">
            <a:spAutoFit/>
          </a:bodyPr>
          <a:lstStyle/>
          <a:p>
            <a:pPr algn="l"/>
            <a:r>
              <a:rPr sz="730" b="1">
                <a:solidFill>
                  <a:srgbClr val="5B6577"/>
                </a:solidFill>
                <a:latin typeface="Aptos"/>
              </a:rPr>
              <a:t>Macro F1</a:t>
            </a:r>
          </a:p>
        </p:txBody>
      </p:sp>
      <p:sp>
        <p:nvSpPr>
          <p:cNvPr id="46" name="TextBox 45"/>
          <p:cNvSpPr txBox="1"/>
          <p:nvPr/>
        </p:nvSpPr>
        <p:spPr>
          <a:xfrm>
            <a:off x="3849624" y="4407408"/>
            <a:ext cx="1005840" cy="146304"/>
          </a:xfrm>
          <a:prstGeom prst="rect">
            <a:avLst/>
          </a:prstGeom>
          <a:noFill/>
        </p:spPr>
        <p:txBody>
          <a:bodyPr wrap="square" lIns="36576" tIns="36576" rIns="36576" bIns="36576" anchor="t">
            <a:spAutoFit/>
          </a:bodyPr>
          <a:lstStyle/>
          <a:p>
            <a:pPr algn="l"/>
            <a:r>
              <a:rPr sz="730" b="1">
                <a:solidFill>
                  <a:srgbClr val="5B6577"/>
                </a:solidFill>
                <a:latin typeface="Aptos"/>
              </a:rPr>
              <a:t>Best ep.</a:t>
            </a:r>
          </a:p>
        </p:txBody>
      </p:sp>
      <p:sp>
        <p:nvSpPr>
          <p:cNvPr id="47" name="TextBox 46"/>
          <p:cNvSpPr txBox="1"/>
          <p:nvPr/>
        </p:nvSpPr>
        <p:spPr>
          <a:xfrm>
            <a:off x="832104" y="4663440"/>
            <a:ext cx="566928" cy="146304"/>
          </a:xfrm>
          <a:prstGeom prst="rect">
            <a:avLst/>
          </a:prstGeom>
          <a:noFill/>
        </p:spPr>
        <p:txBody>
          <a:bodyPr wrap="square" lIns="36576" tIns="36576" rIns="36576" bIns="36576" anchor="t">
            <a:spAutoFit/>
          </a:bodyPr>
          <a:lstStyle/>
          <a:p>
            <a:pPr algn="l"/>
            <a:r>
              <a:rPr sz="770" b="1">
                <a:solidFill>
                  <a:srgbClr val="315A8A"/>
                </a:solidFill>
                <a:latin typeface="Aptos"/>
              </a:rPr>
              <a:t>E1</a:t>
            </a:r>
          </a:p>
        </p:txBody>
      </p:sp>
      <p:sp>
        <p:nvSpPr>
          <p:cNvPr id="48" name="TextBox 47"/>
          <p:cNvSpPr txBox="1"/>
          <p:nvPr/>
        </p:nvSpPr>
        <p:spPr>
          <a:xfrm>
            <a:off x="1508760" y="4663440"/>
            <a:ext cx="950976" cy="146304"/>
          </a:xfrm>
          <a:prstGeom prst="rect">
            <a:avLst/>
          </a:prstGeom>
          <a:noFill/>
        </p:spPr>
        <p:txBody>
          <a:bodyPr wrap="square" lIns="36576" tIns="36576" rIns="36576" bIns="36576" anchor="t">
            <a:spAutoFit/>
          </a:bodyPr>
          <a:lstStyle/>
          <a:p>
            <a:pPr algn="l"/>
            <a:r>
              <a:rPr sz="770" b="0">
                <a:solidFill>
                  <a:srgbClr val="172033"/>
                </a:solidFill>
                <a:latin typeface="Aptos"/>
              </a:rPr>
              <a:t>0.524</a:t>
            </a:r>
          </a:p>
        </p:txBody>
      </p:sp>
      <p:sp>
        <p:nvSpPr>
          <p:cNvPr id="49" name="TextBox 48"/>
          <p:cNvSpPr txBox="1"/>
          <p:nvPr/>
        </p:nvSpPr>
        <p:spPr>
          <a:xfrm>
            <a:off x="2551176" y="4663440"/>
            <a:ext cx="1143000" cy="146304"/>
          </a:xfrm>
          <a:prstGeom prst="rect">
            <a:avLst/>
          </a:prstGeom>
          <a:noFill/>
        </p:spPr>
        <p:txBody>
          <a:bodyPr wrap="square" lIns="36576" tIns="36576" rIns="36576" bIns="36576" anchor="t">
            <a:spAutoFit/>
          </a:bodyPr>
          <a:lstStyle/>
          <a:p>
            <a:pPr algn="l"/>
            <a:r>
              <a:rPr sz="770" b="0">
                <a:solidFill>
                  <a:srgbClr val="172033"/>
                </a:solidFill>
                <a:latin typeface="Aptos"/>
              </a:rPr>
              <a:t>0.829</a:t>
            </a:r>
          </a:p>
        </p:txBody>
      </p:sp>
      <p:sp>
        <p:nvSpPr>
          <p:cNvPr id="50" name="TextBox 49"/>
          <p:cNvSpPr txBox="1"/>
          <p:nvPr/>
        </p:nvSpPr>
        <p:spPr>
          <a:xfrm>
            <a:off x="3849624" y="4663440"/>
            <a:ext cx="1005840" cy="146304"/>
          </a:xfrm>
          <a:prstGeom prst="rect">
            <a:avLst/>
          </a:prstGeom>
          <a:noFill/>
        </p:spPr>
        <p:txBody>
          <a:bodyPr wrap="square" lIns="36576" tIns="36576" rIns="36576" bIns="36576" anchor="t">
            <a:spAutoFit/>
          </a:bodyPr>
          <a:lstStyle/>
          <a:p>
            <a:pPr algn="l"/>
            <a:r>
              <a:rPr sz="770" b="0">
                <a:solidFill>
                  <a:srgbClr val="172033"/>
                </a:solidFill>
                <a:latin typeface="Aptos"/>
              </a:rPr>
              <a:t>74</a:t>
            </a:r>
          </a:p>
        </p:txBody>
      </p:sp>
      <p:sp>
        <p:nvSpPr>
          <p:cNvPr id="51" name="TextBox 50"/>
          <p:cNvSpPr txBox="1"/>
          <p:nvPr/>
        </p:nvSpPr>
        <p:spPr>
          <a:xfrm>
            <a:off x="832104" y="4892040"/>
            <a:ext cx="566928" cy="146304"/>
          </a:xfrm>
          <a:prstGeom prst="rect">
            <a:avLst/>
          </a:prstGeom>
          <a:noFill/>
        </p:spPr>
        <p:txBody>
          <a:bodyPr wrap="square" lIns="36576" tIns="36576" rIns="36576" bIns="36576" anchor="t">
            <a:spAutoFit/>
          </a:bodyPr>
          <a:lstStyle/>
          <a:p>
            <a:pPr algn="l"/>
            <a:r>
              <a:rPr sz="770" b="1">
                <a:solidFill>
                  <a:srgbClr val="315A8A"/>
                </a:solidFill>
                <a:latin typeface="Aptos"/>
              </a:rPr>
              <a:t>E2</a:t>
            </a:r>
          </a:p>
        </p:txBody>
      </p:sp>
      <p:sp>
        <p:nvSpPr>
          <p:cNvPr id="52" name="TextBox 51"/>
          <p:cNvSpPr txBox="1"/>
          <p:nvPr/>
        </p:nvSpPr>
        <p:spPr>
          <a:xfrm>
            <a:off x="1508760" y="4892040"/>
            <a:ext cx="950976" cy="146304"/>
          </a:xfrm>
          <a:prstGeom prst="rect">
            <a:avLst/>
          </a:prstGeom>
          <a:noFill/>
        </p:spPr>
        <p:txBody>
          <a:bodyPr wrap="square" lIns="36576" tIns="36576" rIns="36576" bIns="36576" anchor="t">
            <a:spAutoFit/>
          </a:bodyPr>
          <a:lstStyle/>
          <a:p>
            <a:pPr algn="l"/>
            <a:r>
              <a:rPr sz="770" b="0">
                <a:solidFill>
                  <a:srgbClr val="172033"/>
                </a:solidFill>
                <a:latin typeface="Aptos"/>
              </a:rPr>
              <a:t>0.472</a:t>
            </a:r>
          </a:p>
        </p:txBody>
      </p:sp>
      <p:sp>
        <p:nvSpPr>
          <p:cNvPr id="53" name="TextBox 52"/>
          <p:cNvSpPr txBox="1"/>
          <p:nvPr/>
        </p:nvSpPr>
        <p:spPr>
          <a:xfrm>
            <a:off x="2551176" y="4892040"/>
            <a:ext cx="1143000" cy="146304"/>
          </a:xfrm>
          <a:prstGeom prst="rect">
            <a:avLst/>
          </a:prstGeom>
          <a:noFill/>
        </p:spPr>
        <p:txBody>
          <a:bodyPr wrap="square" lIns="36576" tIns="36576" rIns="36576" bIns="36576" anchor="t">
            <a:spAutoFit/>
          </a:bodyPr>
          <a:lstStyle/>
          <a:p>
            <a:pPr algn="l"/>
            <a:r>
              <a:rPr sz="770" b="0">
                <a:solidFill>
                  <a:srgbClr val="172033"/>
                </a:solidFill>
                <a:latin typeface="Aptos"/>
              </a:rPr>
              <a:t>0.851</a:t>
            </a:r>
          </a:p>
        </p:txBody>
      </p:sp>
      <p:sp>
        <p:nvSpPr>
          <p:cNvPr id="54" name="TextBox 53"/>
          <p:cNvSpPr txBox="1"/>
          <p:nvPr/>
        </p:nvSpPr>
        <p:spPr>
          <a:xfrm>
            <a:off x="3849624" y="4892040"/>
            <a:ext cx="1005840" cy="146304"/>
          </a:xfrm>
          <a:prstGeom prst="rect">
            <a:avLst/>
          </a:prstGeom>
          <a:noFill/>
        </p:spPr>
        <p:txBody>
          <a:bodyPr wrap="square" lIns="36576" tIns="36576" rIns="36576" bIns="36576" anchor="t">
            <a:spAutoFit/>
          </a:bodyPr>
          <a:lstStyle/>
          <a:p>
            <a:pPr algn="l"/>
            <a:r>
              <a:rPr sz="770" b="0">
                <a:solidFill>
                  <a:srgbClr val="172033"/>
                </a:solidFill>
                <a:latin typeface="Aptos"/>
              </a:rPr>
              <a:t>51</a:t>
            </a:r>
          </a:p>
        </p:txBody>
      </p:sp>
      <p:sp>
        <p:nvSpPr>
          <p:cNvPr id="55" name="TextBox 54"/>
          <p:cNvSpPr txBox="1"/>
          <p:nvPr/>
        </p:nvSpPr>
        <p:spPr>
          <a:xfrm>
            <a:off x="832104" y="5120640"/>
            <a:ext cx="566928" cy="146304"/>
          </a:xfrm>
          <a:prstGeom prst="rect">
            <a:avLst/>
          </a:prstGeom>
          <a:noFill/>
        </p:spPr>
        <p:txBody>
          <a:bodyPr wrap="square" lIns="36576" tIns="36576" rIns="36576" bIns="36576" anchor="t">
            <a:spAutoFit/>
          </a:bodyPr>
          <a:lstStyle/>
          <a:p>
            <a:pPr algn="l"/>
            <a:r>
              <a:rPr sz="770" b="1">
                <a:solidFill>
                  <a:srgbClr val="315A8A"/>
                </a:solidFill>
                <a:latin typeface="Aptos"/>
              </a:rPr>
              <a:t>E3</a:t>
            </a:r>
          </a:p>
        </p:txBody>
      </p:sp>
      <p:sp>
        <p:nvSpPr>
          <p:cNvPr id="56" name="TextBox 55"/>
          <p:cNvSpPr txBox="1"/>
          <p:nvPr/>
        </p:nvSpPr>
        <p:spPr>
          <a:xfrm>
            <a:off x="1508760" y="5120640"/>
            <a:ext cx="950976" cy="146304"/>
          </a:xfrm>
          <a:prstGeom prst="rect">
            <a:avLst/>
          </a:prstGeom>
          <a:noFill/>
        </p:spPr>
        <p:txBody>
          <a:bodyPr wrap="square" lIns="36576" tIns="36576" rIns="36576" bIns="36576" anchor="t">
            <a:spAutoFit/>
          </a:bodyPr>
          <a:lstStyle/>
          <a:p>
            <a:pPr algn="l"/>
            <a:r>
              <a:rPr sz="770" b="0">
                <a:solidFill>
                  <a:srgbClr val="172033"/>
                </a:solidFill>
                <a:latin typeface="Aptos"/>
              </a:rPr>
              <a:t>0.450</a:t>
            </a:r>
          </a:p>
        </p:txBody>
      </p:sp>
      <p:sp>
        <p:nvSpPr>
          <p:cNvPr id="57" name="TextBox 56"/>
          <p:cNvSpPr txBox="1"/>
          <p:nvPr/>
        </p:nvSpPr>
        <p:spPr>
          <a:xfrm>
            <a:off x="2551176" y="5120640"/>
            <a:ext cx="1143000" cy="146304"/>
          </a:xfrm>
          <a:prstGeom prst="rect">
            <a:avLst/>
          </a:prstGeom>
          <a:noFill/>
        </p:spPr>
        <p:txBody>
          <a:bodyPr wrap="square" lIns="36576" tIns="36576" rIns="36576" bIns="36576" anchor="t">
            <a:spAutoFit/>
          </a:bodyPr>
          <a:lstStyle/>
          <a:p>
            <a:pPr algn="l"/>
            <a:r>
              <a:rPr sz="770" b="0">
                <a:solidFill>
                  <a:srgbClr val="172033"/>
                </a:solidFill>
                <a:latin typeface="Aptos"/>
              </a:rPr>
              <a:t>0.864</a:t>
            </a:r>
          </a:p>
        </p:txBody>
      </p:sp>
      <p:sp>
        <p:nvSpPr>
          <p:cNvPr id="58" name="TextBox 57"/>
          <p:cNvSpPr txBox="1"/>
          <p:nvPr/>
        </p:nvSpPr>
        <p:spPr>
          <a:xfrm>
            <a:off x="3849624" y="5120640"/>
            <a:ext cx="1005840" cy="146304"/>
          </a:xfrm>
          <a:prstGeom prst="rect">
            <a:avLst/>
          </a:prstGeom>
          <a:noFill/>
        </p:spPr>
        <p:txBody>
          <a:bodyPr wrap="square" lIns="36576" tIns="36576" rIns="36576" bIns="36576" anchor="t">
            <a:spAutoFit/>
          </a:bodyPr>
          <a:lstStyle/>
          <a:p>
            <a:pPr algn="l"/>
            <a:r>
              <a:rPr sz="770" b="0">
                <a:solidFill>
                  <a:srgbClr val="172033"/>
                </a:solidFill>
                <a:latin typeface="Aptos"/>
              </a:rPr>
              <a:t>60</a:t>
            </a:r>
          </a:p>
        </p:txBody>
      </p:sp>
      <p:sp>
        <p:nvSpPr>
          <p:cNvPr id="59" name="TextBox 58"/>
          <p:cNvSpPr txBox="1"/>
          <p:nvPr/>
        </p:nvSpPr>
        <p:spPr>
          <a:xfrm>
            <a:off x="832104" y="5349240"/>
            <a:ext cx="566928" cy="146304"/>
          </a:xfrm>
          <a:prstGeom prst="rect">
            <a:avLst/>
          </a:prstGeom>
          <a:noFill/>
        </p:spPr>
        <p:txBody>
          <a:bodyPr wrap="square" lIns="36576" tIns="36576" rIns="36576" bIns="36576" anchor="t">
            <a:spAutoFit/>
          </a:bodyPr>
          <a:lstStyle/>
          <a:p>
            <a:pPr algn="l"/>
            <a:r>
              <a:rPr sz="770" b="1">
                <a:solidFill>
                  <a:srgbClr val="315A8A"/>
                </a:solidFill>
                <a:latin typeface="Aptos"/>
              </a:rPr>
              <a:t>E4</a:t>
            </a:r>
          </a:p>
        </p:txBody>
      </p:sp>
      <p:sp>
        <p:nvSpPr>
          <p:cNvPr id="60" name="TextBox 59"/>
          <p:cNvSpPr txBox="1"/>
          <p:nvPr/>
        </p:nvSpPr>
        <p:spPr>
          <a:xfrm>
            <a:off x="1508760" y="5349240"/>
            <a:ext cx="950976" cy="146304"/>
          </a:xfrm>
          <a:prstGeom prst="rect">
            <a:avLst/>
          </a:prstGeom>
          <a:noFill/>
        </p:spPr>
        <p:txBody>
          <a:bodyPr wrap="square" lIns="36576" tIns="36576" rIns="36576" bIns="36576" anchor="t">
            <a:spAutoFit/>
          </a:bodyPr>
          <a:lstStyle/>
          <a:p>
            <a:pPr algn="l"/>
            <a:r>
              <a:rPr sz="770" b="0">
                <a:solidFill>
                  <a:srgbClr val="172033"/>
                </a:solidFill>
                <a:latin typeface="Aptos"/>
              </a:rPr>
              <a:t>0.487</a:t>
            </a:r>
          </a:p>
        </p:txBody>
      </p:sp>
      <p:sp>
        <p:nvSpPr>
          <p:cNvPr id="61" name="TextBox 60"/>
          <p:cNvSpPr txBox="1"/>
          <p:nvPr/>
        </p:nvSpPr>
        <p:spPr>
          <a:xfrm>
            <a:off x="2551176" y="5349240"/>
            <a:ext cx="1143000" cy="146304"/>
          </a:xfrm>
          <a:prstGeom prst="rect">
            <a:avLst/>
          </a:prstGeom>
          <a:noFill/>
        </p:spPr>
        <p:txBody>
          <a:bodyPr wrap="square" lIns="36576" tIns="36576" rIns="36576" bIns="36576" anchor="t">
            <a:spAutoFit/>
          </a:bodyPr>
          <a:lstStyle/>
          <a:p>
            <a:pPr algn="l"/>
            <a:r>
              <a:rPr sz="770" b="0">
                <a:solidFill>
                  <a:srgbClr val="172033"/>
                </a:solidFill>
                <a:latin typeface="Aptos"/>
              </a:rPr>
              <a:t>0.839</a:t>
            </a:r>
          </a:p>
        </p:txBody>
      </p:sp>
      <p:sp>
        <p:nvSpPr>
          <p:cNvPr id="62" name="TextBox 61"/>
          <p:cNvSpPr txBox="1"/>
          <p:nvPr/>
        </p:nvSpPr>
        <p:spPr>
          <a:xfrm>
            <a:off x="3849624" y="5349240"/>
            <a:ext cx="1005840" cy="146304"/>
          </a:xfrm>
          <a:prstGeom prst="rect">
            <a:avLst/>
          </a:prstGeom>
          <a:noFill/>
        </p:spPr>
        <p:txBody>
          <a:bodyPr wrap="square" lIns="36576" tIns="36576" rIns="36576" bIns="36576" anchor="t">
            <a:spAutoFit/>
          </a:bodyPr>
          <a:lstStyle/>
          <a:p>
            <a:pPr algn="l"/>
            <a:r>
              <a:rPr sz="770" b="0">
                <a:solidFill>
                  <a:srgbClr val="172033"/>
                </a:solidFill>
                <a:latin typeface="Aptos"/>
              </a:rPr>
              <a:t>50</a:t>
            </a:r>
          </a:p>
        </p:txBody>
      </p:sp>
      <p:sp>
        <p:nvSpPr>
          <p:cNvPr id="63" name="Rounded Rectangle 62"/>
          <p:cNvSpPr/>
          <p:nvPr/>
        </p:nvSpPr>
        <p:spPr>
          <a:xfrm>
            <a:off x="6428232" y="4270248"/>
            <a:ext cx="4818888" cy="1417320"/>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537960" y="4407408"/>
            <a:ext cx="566928" cy="146304"/>
          </a:xfrm>
          <a:prstGeom prst="rect">
            <a:avLst/>
          </a:prstGeom>
          <a:noFill/>
        </p:spPr>
        <p:txBody>
          <a:bodyPr wrap="square" lIns="36576" tIns="36576" rIns="36576" bIns="36576" anchor="t">
            <a:spAutoFit/>
          </a:bodyPr>
          <a:lstStyle/>
          <a:p>
            <a:pPr algn="l"/>
            <a:r>
              <a:rPr sz="730" b="1">
                <a:solidFill>
                  <a:srgbClr val="5B6577"/>
                </a:solidFill>
                <a:latin typeface="Aptos"/>
              </a:rPr>
              <a:t>Exp</a:t>
            </a:r>
          </a:p>
        </p:txBody>
      </p:sp>
      <p:sp>
        <p:nvSpPr>
          <p:cNvPr id="65" name="TextBox 64"/>
          <p:cNvSpPr txBox="1"/>
          <p:nvPr/>
        </p:nvSpPr>
        <p:spPr>
          <a:xfrm>
            <a:off x="7214616" y="4407408"/>
            <a:ext cx="950976" cy="146304"/>
          </a:xfrm>
          <a:prstGeom prst="rect">
            <a:avLst/>
          </a:prstGeom>
          <a:noFill/>
        </p:spPr>
        <p:txBody>
          <a:bodyPr wrap="square" lIns="36576" tIns="36576" rIns="36576" bIns="36576" anchor="t">
            <a:spAutoFit/>
          </a:bodyPr>
          <a:lstStyle/>
          <a:p>
            <a:pPr algn="l"/>
            <a:r>
              <a:rPr sz="730" b="1">
                <a:solidFill>
                  <a:srgbClr val="5B6577"/>
                </a:solidFill>
                <a:latin typeface="Aptos"/>
              </a:rPr>
              <a:t>Loss</a:t>
            </a:r>
          </a:p>
        </p:txBody>
      </p:sp>
      <p:sp>
        <p:nvSpPr>
          <p:cNvPr id="66" name="TextBox 65"/>
          <p:cNvSpPr txBox="1"/>
          <p:nvPr/>
        </p:nvSpPr>
        <p:spPr>
          <a:xfrm>
            <a:off x="8257032" y="4407408"/>
            <a:ext cx="1143000" cy="146304"/>
          </a:xfrm>
          <a:prstGeom prst="rect">
            <a:avLst/>
          </a:prstGeom>
          <a:noFill/>
        </p:spPr>
        <p:txBody>
          <a:bodyPr wrap="square" lIns="36576" tIns="36576" rIns="36576" bIns="36576" anchor="t">
            <a:spAutoFit/>
          </a:bodyPr>
          <a:lstStyle/>
          <a:p>
            <a:pPr algn="l"/>
            <a:r>
              <a:rPr sz="730" b="1">
                <a:solidFill>
                  <a:srgbClr val="5B6577"/>
                </a:solidFill>
                <a:latin typeface="Aptos"/>
              </a:rPr>
              <a:t>Macro F1</a:t>
            </a:r>
          </a:p>
        </p:txBody>
      </p:sp>
      <p:sp>
        <p:nvSpPr>
          <p:cNvPr id="67" name="TextBox 66"/>
          <p:cNvSpPr txBox="1"/>
          <p:nvPr/>
        </p:nvSpPr>
        <p:spPr>
          <a:xfrm>
            <a:off x="9555480" y="4407408"/>
            <a:ext cx="1005840" cy="146304"/>
          </a:xfrm>
          <a:prstGeom prst="rect">
            <a:avLst/>
          </a:prstGeom>
          <a:noFill/>
        </p:spPr>
        <p:txBody>
          <a:bodyPr wrap="square" lIns="36576" tIns="36576" rIns="36576" bIns="36576" anchor="t">
            <a:spAutoFit/>
          </a:bodyPr>
          <a:lstStyle/>
          <a:p>
            <a:pPr algn="l"/>
            <a:r>
              <a:rPr sz="730" b="1">
                <a:solidFill>
                  <a:srgbClr val="5B6577"/>
                </a:solidFill>
                <a:latin typeface="Aptos"/>
              </a:rPr>
              <a:t>Best ep.</a:t>
            </a:r>
          </a:p>
        </p:txBody>
      </p:sp>
      <p:sp>
        <p:nvSpPr>
          <p:cNvPr id="68" name="TextBox 67"/>
          <p:cNvSpPr txBox="1"/>
          <p:nvPr/>
        </p:nvSpPr>
        <p:spPr>
          <a:xfrm>
            <a:off x="6537960" y="4663440"/>
            <a:ext cx="566928" cy="146304"/>
          </a:xfrm>
          <a:prstGeom prst="rect">
            <a:avLst/>
          </a:prstGeom>
          <a:noFill/>
        </p:spPr>
        <p:txBody>
          <a:bodyPr wrap="square" lIns="36576" tIns="36576" rIns="36576" bIns="36576" anchor="t">
            <a:spAutoFit/>
          </a:bodyPr>
          <a:lstStyle/>
          <a:p>
            <a:pPr algn="l"/>
            <a:r>
              <a:rPr sz="770" b="1">
                <a:solidFill>
                  <a:srgbClr val="D7792D"/>
                </a:solidFill>
                <a:latin typeface="Aptos"/>
              </a:rPr>
              <a:t>E1</a:t>
            </a:r>
          </a:p>
        </p:txBody>
      </p:sp>
      <p:sp>
        <p:nvSpPr>
          <p:cNvPr id="69" name="TextBox 68"/>
          <p:cNvSpPr txBox="1"/>
          <p:nvPr/>
        </p:nvSpPr>
        <p:spPr>
          <a:xfrm>
            <a:off x="7214616" y="4663440"/>
            <a:ext cx="950976" cy="146304"/>
          </a:xfrm>
          <a:prstGeom prst="rect">
            <a:avLst/>
          </a:prstGeom>
          <a:noFill/>
        </p:spPr>
        <p:txBody>
          <a:bodyPr wrap="square" lIns="36576" tIns="36576" rIns="36576" bIns="36576" anchor="t">
            <a:spAutoFit/>
          </a:bodyPr>
          <a:lstStyle/>
          <a:p>
            <a:pPr algn="l"/>
            <a:r>
              <a:rPr sz="770" b="0">
                <a:solidFill>
                  <a:srgbClr val="172033"/>
                </a:solidFill>
                <a:latin typeface="Aptos"/>
              </a:rPr>
              <a:t>1.495</a:t>
            </a:r>
          </a:p>
        </p:txBody>
      </p:sp>
      <p:sp>
        <p:nvSpPr>
          <p:cNvPr id="70" name="TextBox 69"/>
          <p:cNvSpPr txBox="1"/>
          <p:nvPr/>
        </p:nvSpPr>
        <p:spPr>
          <a:xfrm>
            <a:off x="8257032" y="4663440"/>
            <a:ext cx="1143000" cy="146304"/>
          </a:xfrm>
          <a:prstGeom prst="rect">
            <a:avLst/>
          </a:prstGeom>
          <a:noFill/>
        </p:spPr>
        <p:txBody>
          <a:bodyPr wrap="square" lIns="36576" tIns="36576" rIns="36576" bIns="36576" anchor="t">
            <a:spAutoFit/>
          </a:bodyPr>
          <a:lstStyle/>
          <a:p>
            <a:pPr algn="l"/>
            <a:r>
              <a:rPr sz="770" b="0">
                <a:solidFill>
                  <a:srgbClr val="172033"/>
                </a:solidFill>
                <a:latin typeface="Aptos"/>
              </a:rPr>
              <a:t>0.593</a:t>
            </a:r>
          </a:p>
        </p:txBody>
      </p:sp>
      <p:sp>
        <p:nvSpPr>
          <p:cNvPr id="71" name="TextBox 70"/>
          <p:cNvSpPr txBox="1"/>
          <p:nvPr/>
        </p:nvSpPr>
        <p:spPr>
          <a:xfrm>
            <a:off x="9555480" y="4663440"/>
            <a:ext cx="1005840" cy="146304"/>
          </a:xfrm>
          <a:prstGeom prst="rect">
            <a:avLst/>
          </a:prstGeom>
          <a:noFill/>
        </p:spPr>
        <p:txBody>
          <a:bodyPr wrap="square" lIns="36576" tIns="36576" rIns="36576" bIns="36576" anchor="t">
            <a:spAutoFit/>
          </a:bodyPr>
          <a:lstStyle/>
          <a:p>
            <a:pPr algn="l"/>
            <a:r>
              <a:rPr sz="770" b="0">
                <a:solidFill>
                  <a:srgbClr val="172033"/>
                </a:solidFill>
                <a:latin typeface="Aptos"/>
              </a:rPr>
              <a:t>120</a:t>
            </a:r>
          </a:p>
        </p:txBody>
      </p:sp>
      <p:sp>
        <p:nvSpPr>
          <p:cNvPr id="72" name="TextBox 71"/>
          <p:cNvSpPr txBox="1"/>
          <p:nvPr/>
        </p:nvSpPr>
        <p:spPr>
          <a:xfrm>
            <a:off x="6537960" y="4892040"/>
            <a:ext cx="566928" cy="146304"/>
          </a:xfrm>
          <a:prstGeom prst="rect">
            <a:avLst/>
          </a:prstGeom>
          <a:noFill/>
        </p:spPr>
        <p:txBody>
          <a:bodyPr wrap="square" lIns="36576" tIns="36576" rIns="36576" bIns="36576" anchor="t">
            <a:spAutoFit/>
          </a:bodyPr>
          <a:lstStyle/>
          <a:p>
            <a:pPr algn="l"/>
            <a:r>
              <a:rPr sz="770" b="1">
                <a:solidFill>
                  <a:srgbClr val="D7792D"/>
                </a:solidFill>
                <a:latin typeface="Aptos"/>
              </a:rPr>
              <a:t>E2</a:t>
            </a:r>
          </a:p>
        </p:txBody>
      </p:sp>
      <p:sp>
        <p:nvSpPr>
          <p:cNvPr id="73" name="TextBox 72"/>
          <p:cNvSpPr txBox="1"/>
          <p:nvPr/>
        </p:nvSpPr>
        <p:spPr>
          <a:xfrm>
            <a:off x="7214616" y="4892040"/>
            <a:ext cx="950976" cy="146304"/>
          </a:xfrm>
          <a:prstGeom prst="rect">
            <a:avLst/>
          </a:prstGeom>
          <a:noFill/>
        </p:spPr>
        <p:txBody>
          <a:bodyPr wrap="square" lIns="36576" tIns="36576" rIns="36576" bIns="36576" anchor="t">
            <a:spAutoFit/>
          </a:bodyPr>
          <a:lstStyle/>
          <a:p>
            <a:pPr algn="l"/>
            <a:r>
              <a:rPr sz="770" b="0">
                <a:solidFill>
                  <a:srgbClr val="172033"/>
                </a:solidFill>
                <a:latin typeface="Aptos"/>
              </a:rPr>
              <a:t>1.312</a:t>
            </a:r>
          </a:p>
        </p:txBody>
      </p:sp>
      <p:sp>
        <p:nvSpPr>
          <p:cNvPr id="74" name="TextBox 73"/>
          <p:cNvSpPr txBox="1"/>
          <p:nvPr/>
        </p:nvSpPr>
        <p:spPr>
          <a:xfrm>
            <a:off x="8257032" y="4892040"/>
            <a:ext cx="1143000" cy="146304"/>
          </a:xfrm>
          <a:prstGeom prst="rect">
            <a:avLst/>
          </a:prstGeom>
          <a:noFill/>
        </p:spPr>
        <p:txBody>
          <a:bodyPr wrap="square" lIns="36576" tIns="36576" rIns="36576" bIns="36576" anchor="t">
            <a:spAutoFit/>
          </a:bodyPr>
          <a:lstStyle/>
          <a:p>
            <a:pPr algn="l"/>
            <a:r>
              <a:rPr sz="770" b="0">
                <a:solidFill>
                  <a:srgbClr val="172033"/>
                </a:solidFill>
                <a:latin typeface="Aptos"/>
              </a:rPr>
              <a:t>0.645</a:t>
            </a:r>
          </a:p>
        </p:txBody>
      </p:sp>
      <p:sp>
        <p:nvSpPr>
          <p:cNvPr id="75" name="TextBox 74"/>
          <p:cNvSpPr txBox="1"/>
          <p:nvPr/>
        </p:nvSpPr>
        <p:spPr>
          <a:xfrm>
            <a:off x="9555480" y="4892040"/>
            <a:ext cx="1005840" cy="146304"/>
          </a:xfrm>
          <a:prstGeom prst="rect">
            <a:avLst/>
          </a:prstGeom>
          <a:noFill/>
        </p:spPr>
        <p:txBody>
          <a:bodyPr wrap="square" lIns="36576" tIns="36576" rIns="36576" bIns="36576" anchor="t">
            <a:spAutoFit/>
          </a:bodyPr>
          <a:lstStyle/>
          <a:p>
            <a:pPr algn="l"/>
            <a:r>
              <a:rPr sz="770" b="0">
                <a:solidFill>
                  <a:srgbClr val="172033"/>
                </a:solidFill>
                <a:latin typeface="Aptos"/>
              </a:rPr>
              <a:t>40</a:t>
            </a:r>
          </a:p>
        </p:txBody>
      </p:sp>
      <p:sp>
        <p:nvSpPr>
          <p:cNvPr id="76" name="TextBox 75"/>
          <p:cNvSpPr txBox="1"/>
          <p:nvPr/>
        </p:nvSpPr>
        <p:spPr>
          <a:xfrm>
            <a:off x="6537960" y="5120640"/>
            <a:ext cx="566928" cy="146304"/>
          </a:xfrm>
          <a:prstGeom prst="rect">
            <a:avLst/>
          </a:prstGeom>
          <a:noFill/>
        </p:spPr>
        <p:txBody>
          <a:bodyPr wrap="square" lIns="36576" tIns="36576" rIns="36576" bIns="36576" anchor="t">
            <a:spAutoFit/>
          </a:bodyPr>
          <a:lstStyle/>
          <a:p>
            <a:pPr algn="l"/>
            <a:r>
              <a:rPr sz="770" b="1">
                <a:solidFill>
                  <a:srgbClr val="D7792D"/>
                </a:solidFill>
                <a:latin typeface="Aptos"/>
              </a:rPr>
              <a:t>E3</a:t>
            </a:r>
          </a:p>
        </p:txBody>
      </p:sp>
      <p:sp>
        <p:nvSpPr>
          <p:cNvPr id="77" name="TextBox 76"/>
          <p:cNvSpPr txBox="1"/>
          <p:nvPr/>
        </p:nvSpPr>
        <p:spPr>
          <a:xfrm>
            <a:off x="7214616" y="5120640"/>
            <a:ext cx="950976" cy="146304"/>
          </a:xfrm>
          <a:prstGeom prst="rect">
            <a:avLst/>
          </a:prstGeom>
          <a:noFill/>
        </p:spPr>
        <p:txBody>
          <a:bodyPr wrap="square" lIns="36576" tIns="36576" rIns="36576" bIns="36576" anchor="t">
            <a:spAutoFit/>
          </a:bodyPr>
          <a:lstStyle/>
          <a:p>
            <a:pPr algn="l"/>
            <a:r>
              <a:rPr sz="770" b="0">
                <a:solidFill>
                  <a:srgbClr val="172033"/>
                </a:solidFill>
                <a:latin typeface="Aptos"/>
              </a:rPr>
              <a:t>1.297</a:t>
            </a:r>
          </a:p>
        </p:txBody>
      </p:sp>
      <p:sp>
        <p:nvSpPr>
          <p:cNvPr id="78" name="TextBox 77"/>
          <p:cNvSpPr txBox="1"/>
          <p:nvPr/>
        </p:nvSpPr>
        <p:spPr>
          <a:xfrm>
            <a:off x="8257032" y="5120640"/>
            <a:ext cx="1143000" cy="146304"/>
          </a:xfrm>
          <a:prstGeom prst="rect">
            <a:avLst/>
          </a:prstGeom>
          <a:noFill/>
        </p:spPr>
        <p:txBody>
          <a:bodyPr wrap="square" lIns="36576" tIns="36576" rIns="36576" bIns="36576" anchor="t">
            <a:spAutoFit/>
          </a:bodyPr>
          <a:lstStyle/>
          <a:p>
            <a:pPr algn="l"/>
            <a:r>
              <a:rPr sz="770" b="0">
                <a:solidFill>
                  <a:srgbClr val="172033"/>
                </a:solidFill>
                <a:latin typeface="Aptos"/>
              </a:rPr>
              <a:t>0.648</a:t>
            </a:r>
          </a:p>
        </p:txBody>
      </p:sp>
      <p:sp>
        <p:nvSpPr>
          <p:cNvPr id="79" name="TextBox 78"/>
          <p:cNvSpPr txBox="1"/>
          <p:nvPr/>
        </p:nvSpPr>
        <p:spPr>
          <a:xfrm>
            <a:off x="9555480" y="5120640"/>
            <a:ext cx="1005840" cy="146304"/>
          </a:xfrm>
          <a:prstGeom prst="rect">
            <a:avLst/>
          </a:prstGeom>
          <a:noFill/>
        </p:spPr>
        <p:txBody>
          <a:bodyPr wrap="square" lIns="36576" tIns="36576" rIns="36576" bIns="36576" anchor="t">
            <a:spAutoFit/>
          </a:bodyPr>
          <a:lstStyle/>
          <a:p>
            <a:pPr algn="l"/>
            <a:r>
              <a:rPr sz="770" b="0">
                <a:solidFill>
                  <a:srgbClr val="172033"/>
                </a:solidFill>
                <a:latin typeface="Aptos"/>
              </a:rPr>
              <a:t>48</a:t>
            </a:r>
          </a:p>
        </p:txBody>
      </p:sp>
      <p:sp>
        <p:nvSpPr>
          <p:cNvPr id="80" name="TextBox 79"/>
          <p:cNvSpPr txBox="1"/>
          <p:nvPr/>
        </p:nvSpPr>
        <p:spPr>
          <a:xfrm>
            <a:off x="6537960" y="5349240"/>
            <a:ext cx="566928" cy="146304"/>
          </a:xfrm>
          <a:prstGeom prst="rect">
            <a:avLst/>
          </a:prstGeom>
          <a:noFill/>
        </p:spPr>
        <p:txBody>
          <a:bodyPr wrap="square" lIns="36576" tIns="36576" rIns="36576" bIns="36576" anchor="t">
            <a:spAutoFit/>
          </a:bodyPr>
          <a:lstStyle/>
          <a:p>
            <a:pPr algn="l"/>
            <a:r>
              <a:rPr sz="770" b="1">
                <a:solidFill>
                  <a:srgbClr val="D7792D"/>
                </a:solidFill>
                <a:latin typeface="Aptos"/>
              </a:rPr>
              <a:t>E4</a:t>
            </a:r>
          </a:p>
        </p:txBody>
      </p:sp>
      <p:sp>
        <p:nvSpPr>
          <p:cNvPr id="81" name="TextBox 80"/>
          <p:cNvSpPr txBox="1"/>
          <p:nvPr/>
        </p:nvSpPr>
        <p:spPr>
          <a:xfrm>
            <a:off x="7214616" y="5349240"/>
            <a:ext cx="950976" cy="146304"/>
          </a:xfrm>
          <a:prstGeom prst="rect">
            <a:avLst/>
          </a:prstGeom>
          <a:noFill/>
        </p:spPr>
        <p:txBody>
          <a:bodyPr wrap="square" lIns="36576" tIns="36576" rIns="36576" bIns="36576" anchor="t">
            <a:spAutoFit/>
          </a:bodyPr>
          <a:lstStyle/>
          <a:p>
            <a:pPr algn="l"/>
            <a:r>
              <a:rPr sz="770" b="0">
                <a:solidFill>
                  <a:srgbClr val="172033"/>
                </a:solidFill>
                <a:latin typeface="Aptos"/>
              </a:rPr>
              <a:t>1.291</a:t>
            </a:r>
          </a:p>
        </p:txBody>
      </p:sp>
      <p:sp>
        <p:nvSpPr>
          <p:cNvPr id="82" name="TextBox 81"/>
          <p:cNvSpPr txBox="1"/>
          <p:nvPr/>
        </p:nvSpPr>
        <p:spPr>
          <a:xfrm>
            <a:off x="8257032" y="5349240"/>
            <a:ext cx="1143000" cy="146304"/>
          </a:xfrm>
          <a:prstGeom prst="rect">
            <a:avLst/>
          </a:prstGeom>
          <a:noFill/>
        </p:spPr>
        <p:txBody>
          <a:bodyPr wrap="square" lIns="36576" tIns="36576" rIns="36576" bIns="36576" anchor="t">
            <a:spAutoFit/>
          </a:bodyPr>
          <a:lstStyle/>
          <a:p>
            <a:pPr algn="l"/>
            <a:r>
              <a:rPr sz="770" b="0">
                <a:solidFill>
                  <a:srgbClr val="172033"/>
                </a:solidFill>
                <a:latin typeface="Aptos"/>
              </a:rPr>
              <a:t>0.650</a:t>
            </a:r>
          </a:p>
        </p:txBody>
      </p:sp>
      <p:sp>
        <p:nvSpPr>
          <p:cNvPr id="83" name="TextBox 82"/>
          <p:cNvSpPr txBox="1"/>
          <p:nvPr/>
        </p:nvSpPr>
        <p:spPr>
          <a:xfrm>
            <a:off x="9555480" y="5349240"/>
            <a:ext cx="1005840" cy="146304"/>
          </a:xfrm>
          <a:prstGeom prst="rect">
            <a:avLst/>
          </a:prstGeom>
          <a:noFill/>
        </p:spPr>
        <p:txBody>
          <a:bodyPr wrap="square" lIns="36576" tIns="36576" rIns="36576" bIns="36576" anchor="t">
            <a:spAutoFit/>
          </a:bodyPr>
          <a:lstStyle/>
          <a:p>
            <a:pPr algn="l"/>
            <a:r>
              <a:rPr sz="770" b="0">
                <a:solidFill>
                  <a:srgbClr val="172033"/>
                </a:solidFill>
                <a:latin typeface="Aptos"/>
              </a:rPr>
              <a:t>43</a:t>
            </a:r>
          </a:p>
        </p:txBody>
      </p:sp>
      <p:sp>
        <p:nvSpPr>
          <p:cNvPr id="84" name="TextBox 83"/>
          <p:cNvSpPr txBox="1"/>
          <p:nvPr/>
        </p:nvSpPr>
        <p:spPr>
          <a:xfrm>
            <a:off x="868680" y="5797296"/>
            <a:ext cx="4297680" cy="201168"/>
          </a:xfrm>
          <a:prstGeom prst="rect">
            <a:avLst/>
          </a:prstGeom>
          <a:noFill/>
        </p:spPr>
        <p:txBody>
          <a:bodyPr wrap="square" lIns="36576" tIns="36576" rIns="36576" bIns="36576" anchor="t">
            <a:spAutoFit/>
          </a:bodyPr>
          <a:lstStyle/>
          <a:p>
            <a:pPr algn="ctr"/>
            <a:r>
              <a:rPr sz="1019" b="1">
                <a:solidFill>
                  <a:srgbClr val="315A8A"/>
                </a:solidFill>
                <a:latin typeface="Aptos"/>
              </a:rPr>
              <a:t>Leader: E3 — 86.34%</a:t>
            </a:r>
          </a:p>
        </p:txBody>
      </p:sp>
      <p:sp>
        <p:nvSpPr>
          <p:cNvPr id="85" name="TextBox 84"/>
          <p:cNvSpPr txBox="1"/>
          <p:nvPr/>
        </p:nvSpPr>
        <p:spPr>
          <a:xfrm>
            <a:off x="6565392" y="5797296"/>
            <a:ext cx="4297680" cy="201168"/>
          </a:xfrm>
          <a:prstGeom prst="rect">
            <a:avLst/>
          </a:prstGeom>
          <a:noFill/>
        </p:spPr>
        <p:txBody>
          <a:bodyPr wrap="square" lIns="36576" tIns="36576" rIns="36576" bIns="36576" anchor="t">
            <a:spAutoFit/>
          </a:bodyPr>
          <a:lstStyle/>
          <a:p>
            <a:pPr algn="ctr"/>
            <a:r>
              <a:rPr sz="1019" b="1">
                <a:solidFill>
                  <a:srgbClr val="D7792D"/>
                </a:solidFill>
                <a:latin typeface="Aptos"/>
              </a:rPr>
              <a:t>Leader: E4 — 65.02%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Box 1"/>
          <p:cNvSpPr txBox="1"/>
          <p:nvPr/>
        </p:nvSpPr>
        <p:spPr>
          <a:xfrm>
            <a:off x="566928" y="347472"/>
            <a:ext cx="10789920" cy="411480"/>
          </a:xfrm>
          <a:prstGeom prst="rect">
            <a:avLst/>
          </a:prstGeom>
          <a:noFill/>
        </p:spPr>
        <p:txBody>
          <a:bodyPr wrap="square" lIns="36576" tIns="36576" rIns="36576" bIns="36576" anchor="t">
            <a:spAutoFit/>
          </a:bodyPr>
          <a:lstStyle/>
          <a:p>
            <a:pPr algn="l"/>
            <a:r>
              <a:rPr sz="2400" b="1">
                <a:solidFill>
                  <a:srgbClr val="172033"/>
                </a:solidFill>
                <a:latin typeface="Aptos Display"/>
              </a:rPr>
              <a:t>Efficiency — adaptive batch reduces optimizer updates</a:t>
            </a:r>
          </a:p>
        </p:txBody>
      </p:sp>
      <p:sp>
        <p:nvSpPr>
          <p:cNvPr id="3" name="TextBox 2"/>
          <p:cNvSpPr txBox="1"/>
          <p:nvPr/>
        </p:nvSpPr>
        <p:spPr>
          <a:xfrm>
            <a:off x="585216" y="832104"/>
            <a:ext cx="10744200" cy="301752"/>
          </a:xfrm>
          <a:prstGeom prst="rect">
            <a:avLst/>
          </a:prstGeom>
          <a:noFill/>
        </p:spPr>
        <p:txBody>
          <a:bodyPr wrap="square" lIns="36576" tIns="36576" rIns="36576" bIns="36576" anchor="t">
            <a:spAutoFit/>
          </a:bodyPr>
          <a:lstStyle/>
          <a:p>
            <a:pPr algn="l"/>
            <a:r>
              <a:rPr sz="1050" b="0">
                <a:solidFill>
                  <a:srgbClr val="5B6577"/>
                </a:solidFill>
                <a:latin typeface="Aptos"/>
              </a:rPr>
              <a:t>Update count is hardware-agnostic; wall-clock time is reported separately.</a:t>
            </a:r>
          </a:p>
        </p:txBody>
      </p:sp>
      <p:sp>
        <p:nvSpPr>
          <p:cNvPr id="4" name="Rounded Rectangle 3"/>
          <p:cNvSpPr/>
          <p:nvPr/>
        </p:nvSpPr>
        <p:spPr>
          <a:xfrm>
            <a:off x="585216" y="1225296"/>
            <a:ext cx="1417320" cy="256032"/>
          </a:xfrm>
          <a:prstGeom prst="roundRect">
            <a:avLst>
              <a:gd name="adj" fmla="val 8000"/>
            </a:avLst>
          </a:prstGeom>
          <a:solidFill>
            <a:srgbClr val="E8F5F4"/>
          </a:solidFill>
          <a:ln w="12700">
            <a:solidFill>
              <a:srgbClr val="E8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67512" y="1271016"/>
            <a:ext cx="1234440" cy="128016"/>
          </a:xfrm>
          <a:prstGeom prst="rect">
            <a:avLst/>
          </a:prstGeom>
          <a:noFill/>
        </p:spPr>
        <p:txBody>
          <a:bodyPr wrap="square" lIns="0" tIns="0" rIns="0" bIns="0" anchor="ctr">
            <a:spAutoFit/>
          </a:bodyPr>
          <a:lstStyle/>
          <a:p>
            <a:pPr algn="ctr"/>
            <a:r>
              <a:rPr sz="760" b="1">
                <a:solidFill>
                  <a:srgbClr val="0F8B8D"/>
                </a:solidFill>
                <a:latin typeface="Aptos"/>
              </a:rPr>
              <a:t>EFFICIENCY</a:t>
            </a:r>
          </a:p>
        </p:txBody>
      </p:sp>
      <p:sp>
        <p:nvSpPr>
          <p:cNvPr id="6" name="TextBox 5"/>
          <p:cNvSpPr txBox="1"/>
          <p:nvPr/>
        </p:nvSpPr>
        <p:spPr>
          <a:xfrm>
            <a:off x="11384280" y="6446520"/>
            <a:ext cx="320040" cy="182880"/>
          </a:xfrm>
          <a:prstGeom prst="rect">
            <a:avLst/>
          </a:prstGeom>
          <a:noFill/>
        </p:spPr>
        <p:txBody>
          <a:bodyPr wrap="square" lIns="36576" tIns="36576" rIns="36576" bIns="36576" anchor="t">
            <a:spAutoFit/>
          </a:bodyPr>
          <a:lstStyle/>
          <a:p>
            <a:r>
              <a:rPr sz="800">
                <a:solidFill>
                  <a:srgbClr val="5B6577"/>
                </a:solidFill>
                <a:latin typeface="Aptos"/>
              </a:rPr>
              <a:t>12</a:t>
            </a:r>
          </a:p>
        </p:txBody>
      </p:sp>
      <p:sp>
        <p:nvSpPr>
          <p:cNvPr id="7" name="Rectangle 6"/>
          <p:cNvSpPr/>
          <p:nvPr/>
        </p:nvSpPr>
        <p:spPr>
          <a:xfrm>
            <a:off x="6044183" y="1527048"/>
            <a:ext cx="45719" cy="4453128"/>
          </a:xfrm>
          <a:prstGeom prst="rect">
            <a:avLst/>
          </a:prstGeom>
          <a:solidFill>
            <a:srgbClr val="D8E0E8"/>
          </a:solidFill>
          <a:ln>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76072" y="1572768"/>
            <a:ext cx="5230368" cy="475488"/>
          </a:xfrm>
          <a:prstGeom prst="roundRect">
            <a:avLst>
              <a:gd name="adj" fmla="val 8000"/>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300216" y="1572768"/>
            <a:ext cx="5285232" cy="475488"/>
          </a:xfrm>
          <a:prstGeom prst="roundRect">
            <a:avLst>
              <a:gd name="adj" fmla="val 8000"/>
            </a:avLst>
          </a:prstGeom>
          <a:solidFill>
            <a:srgbClr val="FCF4EB"/>
          </a:solidFill>
          <a:ln w="12700">
            <a:solidFill>
              <a:srgbClr val="FCF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664208"/>
            <a:ext cx="1645920" cy="201168"/>
          </a:xfrm>
          <a:prstGeom prst="rect">
            <a:avLst/>
          </a:prstGeom>
          <a:noFill/>
        </p:spPr>
        <p:txBody>
          <a:bodyPr wrap="square" lIns="36576" tIns="36576" rIns="36576" bIns="36576" anchor="t">
            <a:spAutoFit/>
          </a:bodyPr>
          <a:lstStyle/>
          <a:p>
            <a:pPr algn="l"/>
            <a:r>
              <a:rPr sz="1700" b="1">
                <a:solidFill>
                  <a:srgbClr val="315A8A"/>
                </a:solidFill>
                <a:latin typeface="Aptos"/>
              </a:rPr>
              <a:t>CIFAR-10</a:t>
            </a:r>
          </a:p>
        </p:txBody>
      </p:sp>
      <p:sp>
        <p:nvSpPr>
          <p:cNvPr id="11" name="TextBox 10"/>
          <p:cNvSpPr txBox="1"/>
          <p:nvPr/>
        </p:nvSpPr>
        <p:spPr>
          <a:xfrm>
            <a:off x="2176272" y="1691640"/>
            <a:ext cx="3429000" cy="164592"/>
          </a:xfrm>
          <a:prstGeom prst="rect">
            <a:avLst/>
          </a:prstGeom>
          <a:noFill/>
        </p:spPr>
        <p:txBody>
          <a:bodyPr wrap="square" lIns="36576" tIns="36576" rIns="36576" bIns="36576" anchor="t">
            <a:spAutoFit/>
          </a:bodyPr>
          <a:lstStyle/>
          <a:p>
            <a:pPr algn="r"/>
            <a:r>
              <a:rPr sz="869" b="0">
                <a:solidFill>
                  <a:srgbClr val="5B6577"/>
                </a:solidFill>
                <a:latin typeface="Aptos"/>
              </a:rPr>
              <a:t>80 epochs</a:t>
            </a:r>
          </a:p>
        </p:txBody>
      </p:sp>
      <p:sp>
        <p:nvSpPr>
          <p:cNvPr id="12" name="TextBox 11"/>
          <p:cNvSpPr txBox="1"/>
          <p:nvPr/>
        </p:nvSpPr>
        <p:spPr>
          <a:xfrm>
            <a:off x="6473952" y="1664208"/>
            <a:ext cx="1828800" cy="201168"/>
          </a:xfrm>
          <a:prstGeom prst="rect">
            <a:avLst/>
          </a:prstGeom>
          <a:noFill/>
        </p:spPr>
        <p:txBody>
          <a:bodyPr wrap="square" lIns="36576" tIns="36576" rIns="36576" bIns="36576" anchor="t">
            <a:spAutoFit/>
          </a:bodyPr>
          <a:lstStyle/>
          <a:p>
            <a:pPr algn="l"/>
            <a:r>
              <a:rPr sz="1700" b="1">
                <a:solidFill>
                  <a:srgbClr val="D7792D"/>
                </a:solidFill>
                <a:latin typeface="Aptos"/>
              </a:rPr>
              <a:t>CIFAR-100</a:t>
            </a:r>
          </a:p>
        </p:txBody>
      </p:sp>
      <p:sp>
        <p:nvSpPr>
          <p:cNvPr id="13" name="TextBox 12"/>
          <p:cNvSpPr txBox="1"/>
          <p:nvPr/>
        </p:nvSpPr>
        <p:spPr>
          <a:xfrm>
            <a:off x="8275320" y="1691640"/>
            <a:ext cx="3054096" cy="164592"/>
          </a:xfrm>
          <a:prstGeom prst="rect">
            <a:avLst/>
          </a:prstGeom>
          <a:noFill/>
        </p:spPr>
        <p:txBody>
          <a:bodyPr wrap="square" lIns="36576" tIns="36576" rIns="36576" bIns="36576" anchor="t">
            <a:spAutoFit/>
          </a:bodyPr>
          <a:lstStyle/>
          <a:p>
            <a:pPr algn="r"/>
            <a:r>
              <a:rPr sz="869" b="0">
                <a:solidFill>
                  <a:srgbClr val="5B6577"/>
                </a:solidFill>
                <a:latin typeface="Aptos"/>
              </a:rPr>
              <a:t>120 epochs</a:t>
            </a:r>
          </a:p>
        </p:txBody>
      </p:sp>
      <p:sp>
        <p:nvSpPr>
          <p:cNvPr id="14" name="Rectangle 13"/>
          <p:cNvSpPr/>
          <p:nvPr/>
        </p:nvSpPr>
        <p:spPr>
          <a:xfrm>
            <a:off x="868680" y="3959352"/>
            <a:ext cx="4480560" cy="18288"/>
          </a:xfrm>
          <a:prstGeom prst="rect">
            <a:avLst/>
          </a:prstGeom>
          <a:solidFill>
            <a:srgbClr val="D8E0E8"/>
          </a:solidFill>
          <a:ln>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68680" y="2853759"/>
            <a:ext cx="1037844" cy="1105592"/>
          </a:xfrm>
          <a:prstGeom prst="rect">
            <a:avLst/>
          </a:prstGeom>
          <a:solidFill>
            <a:srgbClr val="315A8A"/>
          </a:solidFill>
          <a:ln>
            <a:solidFill>
              <a:srgbClr val="315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0392" y="2616015"/>
            <a:ext cx="1074420" cy="182880"/>
          </a:xfrm>
          <a:prstGeom prst="rect">
            <a:avLst/>
          </a:prstGeom>
          <a:noFill/>
        </p:spPr>
        <p:txBody>
          <a:bodyPr wrap="square" lIns="36576" tIns="36576" rIns="36576" bIns="36576" anchor="t">
            <a:spAutoFit/>
          </a:bodyPr>
          <a:lstStyle/>
          <a:p>
            <a:pPr algn="ctr"/>
            <a:r>
              <a:rPr sz="760" b="1">
                <a:solidFill>
                  <a:srgbClr val="172033"/>
                </a:solidFill>
                <a:latin typeface="Aptos"/>
              </a:rPr>
              <a:t>50.0k</a:t>
            </a:r>
          </a:p>
        </p:txBody>
      </p:sp>
      <p:sp>
        <p:nvSpPr>
          <p:cNvPr id="17" name="TextBox 16"/>
          <p:cNvSpPr txBox="1"/>
          <p:nvPr/>
        </p:nvSpPr>
        <p:spPr>
          <a:xfrm>
            <a:off x="868680" y="4023359"/>
            <a:ext cx="1037844" cy="164592"/>
          </a:xfrm>
          <a:prstGeom prst="rect">
            <a:avLst/>
          </a:prstGeom>
          <a:noFill/>
        </p:spPr>
        <p:txBody>
          <a:bodyPr wrap="square" lIns="36576" tIns="36576" rIns="36576" bIns="36576" anchor="t">
            <a:spAutoFit/>
          </a:bodyPr>
          <a:lstStyle/>
          <a:p>
            <a:pPr algn="ctr"/>
            <a:r>
              <a:rPr sz="740" b="1">
                <a:solidFill>
                  <a:srgbClr val="5B6577"/>
                </a:solidFill>
                <a:latin typeface="Aptos"/>
              </a:rPr>
              <a:t>E1</a:t>
            </a:r>
          </a:p>
        </p:txBody>
      </p:sp>
      <p:sp>
        <p:nvSpPr>
          <p:cNvPr id="18" name="Rectangle 17"/>
          <p:cNvSpPr/>
          <p:nvPr/>
        </p:nvSpPr>
        <p:spPr>
          <a:xfrm>
            <a:off x="2016252" y="3326333"/>
            <a:ext cx="1037844" cy="633018"/>
          </a:xfrm>
          <a:prstGeom prst="rect">
            <a:avLst/>
          </a:prstGeom>
          <a:solidFill>
            <a:srgbClr val="315A8A"/>
          </a:solidFill>
          <a:ln>
            <a:solidFill>
              <a:srgbClr val="315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997964" y="3088589"/>
            <a:ext cx="1074420" cy="182880"/>
          </a:xfrm>
          <a:prstGeom prst="rect">
            <a:avLst/>
          </a:prstGeom>
          <a:noFill/>
        </p:spPr>
        <p:txBody>
          <a:bodyPr wrap="square" lIns="36576" tIns="36576" rIns="36576" bIns="36576" anchor="t">
            <a:spAutoFit/>
          </a:bodyPr>
          <a:lstStyle/>
          <a:p>
            <a:pPr algn="ctr"/>
            <a:r>
              <a:rPr sz="760" b="1">
                <a:solidFill>
                  <a:srgbClr val="172033"/>
                </a:solidFill>
                <a:latin typeface="Aptos"/>
              </a:rPr>
              <a:t>28.6k</a:t>
            </a:r>
          </a:p>
        </p:txBody>
      </p:sp>
      <p:sp>
        <p:nvSpPr>
          <p:cNvPr id="20" name="TextBox 19"/>
          <p:cNvSpPr txBox="1"/>
          <p:nvPr/>
        </p:nvSpPr>
        <p:spPr>
          <a:xfrm>
            <a:off x="2016252" y="4023359"/>
            <a:ext cx="1037844" cy="164592"/>
          </a:xfrm>
          <a:prstGeom prst="rect">
            <a:avLst/>
          </a:prstGeom>
          <a:noFill/>
        </p:spPr>
        <p:txBody>
          <a:bodyPr wrap="square" lIns="36576" tIns="36576" rIns="36576" bIns="36576" anchor="t">
            <a:spAutoFit/>
          </a:bodyPr>
          <a:lstStyle/>
          <a:p>
            <a:pPr algn="ctr"/>
            <a:r>
              <a:rPr sz="740" b="1">
                <a:solidFill>
                  <a:srgbClr val="5B6577"/>
                </a:solidFill>
                <a:latin typeface="Aptos"/>
              </a:rPr>
              <a:t>E2</a:t>
            </a:r>
          </a:p>
        </p:txBody>
      </p:sp>
      <p:sp>
        <p:nvSpPr>
          <p:cNvPr id="21" name="Rectangle 20"/>
          <p:cNvSpPr/>
          <p:nvPr/>
        </p:nvSpPr>
        <p:spPr>
          <a:xfrm>
            <a:off x="3163824" y="2853759"/>
            <a:ext cx="1037844" cy="1105592"/>
          </a:xfrm>
          <a:prstGeom prst="rect">
            <a:avLst/>
          </a:prstGeom>
          <a:solidFill>
            <a:srgbClr val="315A8A"/>
          </a:solidFill>
          <a:ln>
            <a:solidFill>
              <a:srgbClr val="315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145536" y="2616015"/>
            <a:ext cx="1074420" cy="182880"/>
          </a:xfrm>
          <a:prstGeom prst="rect">
            <a:avLst/>
          </a:prstGeom>
          <a:noFill/>
        </p:spPr>
        <p:txBody>
          <a:bodyPr wrap="square" lIns="36576" tIns="36576" rIns="36576" bIns="36576" anchor="t">
            <a:spAutoFit/>
          </a:bodyPr>
          <a:lstStyle/>
          <a:p>
            <a:pPr algn="ctr"/>
            <a:r>
              <a:rPr sz="760" b="1">
                <a:solidFill>
                  <a:srgbClr val="172033"/>
                </a:solidFill>
                <a:latin typeface="Aptos"/>
              </a:rPr>
              <a:t>50.0k</a:t>
            </a:r>
          </a:p>
        </p:txBody>
      </p:sp>
      <p:sp>
        <p:nvSpPr>
          <p:cNvPr id="23" name="TextBox 22"/>
          <p:cNvSpPr txBox="1"/>
          <p:nvPr/>
        </p:nvSpPr>
        <p:spPr>
          <a:xfrm>
            <a:off x="3163824" y="4023359"/>
            <a:ext cx="1037844" cy="164592"/>
          </a:xfrm>
          <a:prstGeom prst="rect">
            <a:avLst/>
          </a:prstGeom>
          <a:noFill/>
        </p:spPr>
        <p:txBody>
          <a:bodyPr wrap="square" lIns="36576" tIns="36576" rIns="36576" bIns="36576" anchor="t">
            <a:spAutoFit/>
          </a:bodyPr>
          <a:lstStyle/>
          <a:p>
            <a:pPr algn="ctr"/>
            <a:r>
              <a:rPr sz="740" b="1">
                <a:solidFill>
                  <a:srgbClr val="5B6577"/>
                </a:solidFill>
                <a:latin typeface="Aptos"/>
              </a:rPr>
              <a:t>E3</a:t>
            </a:r>
          </a:p>
        </p:txBody>
      </p:sp>
      <p:sp>
        <p:nvSpPr>
          <p:cNvPr id="24" name="Rectangle 23"/>
          <p:cNvSpPr/>
          <p:nvPr/>
        </p:nvSpPr>
        <p:spPr>
          <a:xfrm>
            <a:off x="4311396" y="3329783"/>
            <a:ext cx="1037844" cy="629568"/>
          </a:xfrm>
          <a:prstGeom prst="rect">
            <a:avLst/>
          </a:prstGeom>
          <a:solidFill>
            <a:srgbClr val="315A8A"/>
          </a:solidFill>
          <a:ln>
            <a:solidFill>
              <a:srgbClr val="315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293108" y="3092039"/>
            <a:ext cx="1074420" cy="182880"/>
          </a:xfrm>
          <a:prstGeom prst="rect">
            <a:avLst/>
          </a:prstGeom>
          <a:noFill/>
        </p:spPr>
        <p:txBody>
          <a:bodyPr wrap="square" lIns="36576" tIns="36576" rIns="36576" bIns="36576" anchor="t">
            <a:spAutoFit/>
          </a:bodyPr>
          <a:lstStyle/>
          <a:p>
            <a:pPr algn="ctr"/>
            <a:r>
              <a:rPr sz="760" b="1">
                <a:solidFill>
                  <a:srgbClr val="172033"/>
                </a:solidFill>
                <a:latin typeface="Aptos"/>
              </a:rPr>
              <a:t>28.5k</a:t>
            </a:r>
          </a:p>
        </p:txBody>
      </p:sp>
      <p:sp>
        <p:nvSpPr>
          <p:cNvPr id="26" name="TextBox 25"/>
          <p:cNvSpPr txBox="1"/>
          <p:nvPr/>
        </p:nvSpPr>
        <p:spPr>
          <a:xfrm>
            <a:off x="4311396" y="4023359"/>
            <a:ext cx="1037844" cy="164592"/>
          </a:xfrm>
          <a:prstGeom prst="rect">
            <a:avLst/>
          </a:prstGeom>
          <a:noFill/>
        </p:spPr>
        <p:txBody>
          <a:bodyPr wrap="square" lIns="36576" tIns="36576" rIns="36576" bIns="36576" anchor="t">
            <a:spAutoFit/>
          </a:bodyPr>
          <a:lstStyle/>
          <a:p>
            <a:pPr algn="ctr"/>
            <a:r>
              <a:rPr sz="740" b="1">
                <a:solidFill>
                  <a:srgbClr val="5B6577"/>
                </a:solidFill>
                <a:latin typeface="Aptos"/>
              </a:rPr>
              <a:t>E4</a:t>
            </a:r>
          </a:p>
        </p:txBody>
      </p:sp>
      <p:sp>
        <p:nvSpPr>
          <p:cNvPr id="27" name="Rectangle 26"/>
          <p:cNvSpPr/>
          <p:nvPr/>
        </p:nvSpPr>
        <p:spPr>
          <a:xfrm>
            <a:off x="6565392" y="3959352"/>
            <a:ext cx="4480560" cy="18288"/>
          </a:xfrm>
          <a:prstGeom prst="rect">
            <a:avLst/>
          </a:prstGeom>
          <a:solidFill>
            <a:srgbClr val="D8E0E8"/>
          </a:solidFill>
          <a:ln>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565392" y="2818601"/>
            <a:ext cx="1037844" cy="1140750"/>
          </a:xfrm>
          <a:prstGeom prst="rect">
            <a:avLst/>
          </a:prstGeom>
          <a:solidFill>
            <a:srgbClr val="D7792D"/>
          </a:solidFill>
          <a:ln>
            <a:solidFill>
              <a:srgbClr val="D779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47104" y="2580857"/>
            <a:ext cx="1074420" cy="182880"/>
          </a:xfrm>
          <a:prstGeom prst="rect">
            <a:avLst/>
          </a:prstGeom>
          <a:noFill/>
        </p:spPr>
        <p:txBody>
          <a:bodyPr wrap="square" lIns="36576" tIns="36576" rIns="36576" bIns="36576" anchor="t">
            <a:spAutoFit/>
          </a:bodyPr>
          <a:lstStyle/>
          <a:p>
            <a:pPr algn="ctr"/>
            <a:r>
              <a:rPr sz="760" b="1">
                <a:solidFill>
                  <a:srgbClr val="172033"/>
                </a:solidFill>
                <a:latin typeface="Aptos"/>
              </a:rPr>
              <a:t>168.8k</a:t>
            </a:r>
          </a:p>
        </p:txBody>
      </p:sp>
      <p:sp>
        <p:nvSpPr>
          <p:cNvPr id="30" name="TextBox 29"/>
          <p:cNvSpPr txBox="1"/>
          <p:nvPr/>
        </p:nvSpPr>
        <p:spPr>
          <a:xfrm>
            <a:off x="6565392" y="4023359"/>
            <a:ext cx="1037844" cy="164592"/>
          </a:xfrm>
          <a:prstGeom prst="rect">
            <a:avLst/>
          </a:prstGeom>
          <a:noFill/>
        </p:spPr>
        <p:txBody>
          <a:bodyPr wrap="square" lIns="36576" tIns="36576" rIns="36576" bIns="36576" anchor="t">
            <a:spAutoFit/>
          </a:bodyPr>
          <a:lstStyle/>
          <a:p>
            <a:pPr algn="ctr"/>
            <a:r>
              <a:rPr sz="740" b="1">
                <a:solidFill>
                  <a:srgbClr val="5B6577"/>
                </a:solidFill>
                <a:latin typeface="Aptos"/>
              </a:rPr>
              <a:t>E1</a:t>
            </a:r>
          </a:p>
        </p:txBody>
      </p:sp>
      <p:sp>
        <p:nvSpPr>
          <p:cNvPr id="31" name="Rectangle 30"/>
          <p:cNvSpPr/>
          <p:nvPr/>
        </p:nvSpPr>
        <p:spPr>
          <a:xfrm>
            <a:off x="7712963" y="3558798"/>
            <a:ext cx="1037844" cy="400553"/>
          </a:xfrm>
          <a:prstGeom prst="rect">
            <a:avLst/>
          </a:prstGeom>
          <a:solidFill>
            <a:srgbClr val="D7792D"/>
          </a:solidFill>
          <a:ln>
            <a:solidFill>
              <a:srgbClr val="D779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694675" y="3321054"/>
            <a:ext cx="1074420" cy="182880"/>
          </a:xfrm>
          <a:prstGeom prst="rect">
            <a:avLst/>
          </a:prstGeom>
          <a:noFill/>
        </p:spPr>
        <p:txBody>
          <a:bodyPr wrap="square" lIns="36576" tIns="36576" rIns="36576" bIns="36576" anchor="t">
            <a:spAutoFit/>
          </a:bodyPr>
          <a:lstStyle/>
          <a:p>
            <a:pPr algn="ctr"/>
            <a:r>
              <a:rPr sz="760" b="1">
                <a:solidFill>
                  <a:srgbClr val="172033"/>
                </a:solidFill>
                <a:latin typeface="Aptos"/>
              </a:rPr>
              <a:t>59.3k</a:t>
            </a:r>
          </a:p>
        </p:txBody>
      </p:sp>
      <p:sp>
        <p:nvSpPr>
          <p:cNvPr id="33" name="TextBox 32"/>
          <p:cNvSpPr txBox="1"/>
          <p:nvPr/>
        </p:nvSpPr>
        <p:spPr>
          <a:xfrm>
            <a:off x="7712963" y="4023359"/>
            <a:ext cx="1037844" cy="164592"/>
          </a:xfrm>
          <a:prstGeom prst="rect">
            <a:avLst/>
          </a:prstGeom>
          <a:noFill/>
        </p:spPr>
        <p:txBody>
          <a:bodyPr wrap="square" lIns="36576" tIns="36576" rIns="36576" bIns="36576" anchor="t">
            <a:spAutoFit/>
          </a:bodyPr>
          <a:lstStyle/>
          <a:p>
            <a:pPr algn="ctr"/>
            <a:r>
              <a:rPr sz="740" b="1">
                <a:solidFill>
                  <a:srgbClr val="5B6577"/>
                </a:solidFill>
                <a:latin typeface="Aptos"/>
              </a:rPr>
              <a:t>E2</a:t>
            </a:r>
          </a:p>
        </p:txBody>
      </p:sp>
      <p:sp>
        <p:nvSpPr>
          <p:cNvPr id="34" name="Rectangle 33"/>
          <p:cNvSpPr/>
          <p:nvPr/>
        </p:nvSpPr>
        <p:spPr>
          <a:xfrm>
            <a:off x="8860536" y="2818601"/>
            <a:ext cx="1037844" cy="1140750"/>
          </a:xfrm>
          <a:prstGeom prst="rect">
            <a:avLst/>
          </a:prstGeom>
          <a:solidFill>
            <a:srgbClr val="D7792D"/>
          </a:solidFill>
          <a:ln>
            <a:solidFill>
              <a:srgbClr val="D779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842248" y="2580857"/>
            <a:ext cx="1074420" cy="182880"/>
          </a:xfrm>
          <a:prstGeom prst="rect">
            <a:avLst/>
          </a:prstGeom>
          <a:noFill/>
        </p:spPr>
        <p:txBody>
          <a:bodyPr wrap="square" lIns="36576" tIns="36576" rIns="36576" bIns="36576" anchor="t">
            <a:spAutoFit/>
          </a:bodyPr>
          <a:lstStyle/>
          <a:p>
            <a:pPr algn="ctr"/>
            <a:r>
              <a:rPr sz="760" b="1">
                <a:solidFill>
                  <a:srgbClr val="172033"/>
                </a:solidFill>
                <a:latin typeface="Aptos"/>
              </a:rPr>
              <a:t>168.8k</a:t>
            </a:r>
          </a:p>
        </p:txBody>
      </p:sp>
      <p:sp>
        <p:nvSpPr>
          <p:cNvPr id="36" name="TextBox 35"/>
          <p:cNvSpPr txBox="1"/>
          <p:nvPr/>
        </p:nvSpPr>
        <p:spPr>
          <a:xfrm>
            <a:off x="8860536" y="4023359"/>
            <a:ext cx="1037844" cy="164592"/>
          </a:xfrm>
          <a:prstGeom prst="rect">
            <a:avLst/>
          </a:prstGeom>
          <a:noFill/>
        </p:spPr>
        <p:txBody>
          <a:bodyPr wrap="square" lIns="36576" tIns="36576" rIns="36576" bIns="36576" anchor="t">
            <a:spAutoFit/>
          </a:bodyPr>
          <a:lstStyle/>
          <a:p>
            <a:pPr algn="ctr"/>
            <a:r>
              <a:rPr sz="740" b="1">
                <a:solidFill>
                  <a:srgbClr val="5B6577"/>
                </a:solidFill>
                <a:latin typeface="Aptos"/>
              </a:rPr>
              <a:t>E3</a:t>
            </a:r>
          </a:p>
        </p:txBody>
      </p:sp>
      <p:sp>
        <p:nvSpPr>
          <p:cNvPr id="37" name="Rectangle 36"/>
          <p:cNvSpPr/>
          <p:nvPr/>
        </p:nvSpPr>
        <p:spPr>
          <a:xfrm>
            <a:off x="10008108" y="3555231"/>
            <a:ext cx="1037844" cy="404120"/>
          </a:xfrm>
          <a:prstGeom prst="rect">
            <a:avLst/>
          </a:prstGeom>
          <a:solidFill>
            <a:srgbClr val="D7792D"/>
          </a:solidFill>
          <a:ln>
            <a:solidFill>
              <a:srgbClr val="D779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989820" y="3317487"/>
            <a:ext cx="1074420" cy="182880"/>
          </a:xfrm>
          <a:prstGeom prst="rect">
            <a:avLst/>
          </a:prstGeom>
          <a:noFill/>
        </p:spPr>
        <p:txBody>
          <a:bodyPr wrap="square" lIns="36576" tIns="36576" rIns="36576" bIns="36576" anchor="t">
            <a:spAutoFit/>
          </a:bodyPr>
          <a:lstStyle/>
          <a:p>
            <a:pPr algn="ctr"/>
            <a:r>
              <a:rPr sz="760" b="1">
                <a:solidFill>
                  <a:srgbClr val="172033"/>
                </a:solidFill>
                <a:latin typeface="Aptos"/>
              </a:rPr>
              <a:t>59.8k</a:t>
            </a:r>
          </a:p>
        </p:txBody>
      </p:sp>
      <p:sp>
        <p:nvSpPr>
          <p:cNvPr id="39" name="TextBox 38"/>
          <p:cNvSpPr txBox="1"/>
          <p:nvPr/>
        </p:nvSpPr>
        <p:spPr>
          <a:xfrm>
            <a:off x="10008108" y="4023359"/>
            <a:ext cx="1037844" cy="164592"/>
          </a:xfrm>
          <a:prstGeom prst="rect">
            <a:avLst/>
          </a:prstGeom>
          <a:noFill/>
        </p:spPr>
        <p:txBody>
          <a:bodyPr wrap="square" lIns="36576" tIns="36576" rIns="36576" bIns="36576" anchor="t">
            <a:spAutoFit/>
          </a:bodyPr>
          <a:lstStyle/>
          <a:p>
            <a:pPr algn="ctr"/>
            <a:r>
              <a:rPr sz="740" b="1">
                <a:solidFill>
                  <a:srgbClr val="5B6577"/>
                </a:solidFill>
                <a:latin typeface="Aptos"/>
              </a:rPr>
              <a:t>E4</a:t>
            </a:r>
          </a:p>
        </p:txBody>
      </p:sp>
      <p:sp>
        <p:nvSpPr>
          <p:cNvPr id="40" name="TextBox 39"/>
          <p:cNvSpPr txBox="1"/>
          <p:nvPr/>
        </p:nvSpPr>
        <p:spPr>
          <a:xfrm>
            <a:off x="886968" y="2148840"/>
            <a:ext cx="1828800" cy="164592"/>
          </a:xfrm>
          <a:prstGeom prst="rect">
            <a:avLst/>
          </a:prstGeom>
          <a:noFill/>
        </p:spPr>
        <p:txBody>
          <a:bodyPr wrap="square" lIns="36576" tIns="36576" rIns="36576" bIns="36576" anchor="t">
            <a:spAutoFit/>
          </a:bodyPr>
          <a:lstStyle/>
          <a:p>
            <a:pPr algn="l"/>
            <a:r>
              <a:rPr sz="850" b="1">
                <a:solidFill>
                  <a:srgbClr val="5B6577"/>
                </a:solidFill>
                <a:latin typeface="Aptos"/>
              </a:rPr>
              <a:t>Optimizer updates</a:t>
            </a:r>
          </a:p>
        </p:txBody>
      </p:sp>
      <p:sp>
        <p:nvSpPr>
          <p:cNvPr id="41" name="TextBox 40"/>
          <p:cNvSpPr txBox="1"/>
          <p:nvPr/>
        </p:nvSpPr>
        <p:spPr>
          <a:xfrm>
            <a:off x="6583680" y="2148840"/>
            <a:ext cx="1828800" cy="164592"/>
          </a:xfrm>
          <a:prstGeom prst="rect">
            <a:avLst/>
          </a:prstGeom>
          <a:noFill/>
        </p:spPr>
        <p:txBody>
          <a:bodyPr wrap="square" lIns="36576" tIns="36576" rIns="36576" bIns="36576" anchor="t">
            <a:spAutoFit/>
          </a:bodyPr>
          <a:lstStyle/>
          <a:p>
            <a:pPr algn="l"/>
            <a:r>
              <a:rPr sz="850" b="1">
                <a:solidFill>
                  <a:srgbClr val="5B6577"/>
                </a:solidFill>
                <a:latin typeface="Aptos"/>
              </a:rPr>
              <a:t>Optimizer updates</a:t>
            </a:r>
          </a:p>
        </p:txBody>
      </p:sp>
      <p:sp>
        <p:nvSpPr>
          <p:cNvPr id="42" name="Rounded Rectangle 41"/>
          <p:cNvSpPr/>
          <p:nvPr/>
        </p:nvSpPr>
        <p:spPr>
          <a:xfrm>
            <a:off x="804672" y="4325112"/>
            <a:ext cx="2084831" cy="822960"/>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32688" y="4434840"/>
            <a:ext cx="1828799" cy="137160"/>
          </a:xfrm>
          <a:prstGeom prst="rect">
            <a:avLst/>
          </a:prstGeom>
          <a:noFill/>
        </p:spPr>
        <p:txBody>
          <a:bodyPr wrap="square" lIns="36576" tIns="36576" rIns="36576" bIns="36576" anchor="t">
            <a:spAutoFit/>
          </a:bodyPr>
          <a:lstStyle/>
          <a:p>
            <a:pPr algn="l"/>
            <a:r>
              <a:rPr sz="740" b="1">
                <a:solidFill>
                  <a:srgbClr val="5B6577"/>
                </a:solidFill>
                <a:latin typeface="Aptos"/>
              </a:rPr>
              <a:t>E2 UPDATE REDUCTION</a:t>
            </a:r>
          </a:p>
        </p:txBody>
      </p:sp>
      <p:sp>
        <p:nvSpPr>
          <p:cNvPr id="44" name="TextBox 43"/>
          <p:cNvSpPr txBox="1"/>
          <p:nvPr/>
        </p:nvSpPr>
        <p:spPr>
          <a:xfrm>
            <a:off x="932688" y="4599432"/>
            <a:ext cx="1828799" cy="283464"/>
          </a:xfrm>
          <a:prstGeom prst="rect">
            <a:avLst/>
          </a:prstGeom>
          <a:noFill/>
        </p:spPr>
        <p:txBody>
          <a:bodyPr wrap="square" lIns="36576" tIns="36576" rIns="36576" bIns="36576" anchor="t">
            <a:spAutoFit/>
          </a:bodyPr>
          <a:lstStyle/>
          <a:p>
            <a:pPr algn="l"/>
            <a:r>
              <a:rPr sz="1800" b="1">
                <a:solidFill>
                  <a:srgbClr val="315A8A"/>
                </a:solidFill>
                <a:latin typeface="Aptos Display"/>
              </a:rPr>
              <a:t>42.7%</a:t>
            </a:r>
          </a:p>
        </p:txBody>
      </p:sp>
      <p:sp>
        <p:nvSpPr>
          <p:cNvPr id="45" name="TextBox 44"/>
          <p:cNvSpPr txBox="1"/>
          <p:nvPr/>
        </p:nvSpPr>
        <p:spPr>
          <a:xfrm>
            <a:off x="932688" y="4919472"/>
            <a:ext cx="1828799" cy="128016"/>
          </a:xfrm>
          <a:prstGeom prst="rect">
            <a:avLst/>
          </a:prstGeom>
          <a:noFill/>
        </p:spPr>
        <p:txBody>
          <a:bodyPr wrap="square" lIns="36576" tIns="36576" rIns="36576" bIns="36576" anchor="t">
            <a:spAutoFit/>
          </a:bodyPr>
          <a:lstStyle/>
          <a:p>
            <a:pPr algn="l"/>
            <a:r>
              <a:rPr sz="710" b="0">
                <a:solidFill>
                  <a:srgbClr val="5B6577"/>
                </a:solidFill>
                <a:latin typeface="Aptos"/>
              </a:rPr>
              <a:t>vs E1</a:t>
            </a:r>
          </a:p>
        </p:txBody>
      </p:sp>
      <p:sp>
        <p:nvSpPr>
          <p:cNvPr id="46" name="Rounded Rectangle 45"/>
          <p:cNvSpPr/>
          <p:nvPr/>
        </p:nvSpPr>
        <p:spPr>
          <a:xfrm>
            <a:off x="3127248" y="4325112"/>
            <a:ext cx="2084831" cy="822960"/>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255264" y="4434840"/>
            <a:ext cx="1828799" cy="137160"/>
          </a:xfrm>
          <a:prstGeom prst="rect">
            <a:avLst/>
          </a:prstGeom>
          <a:noFill/>
        </p:spPr>
        <p:txBody>
          <a:bodyPr wrap="square" lIns="36576" tIns="36576" rIns="36576" bIns="36576" anchor="t">
            <a:spAutoFit/>
          </a:bodyPr>
          <a:lstStyle/>
          <a:p>
            <a:pPr algn="l"/>
            <a:r>
              <a:rPr sz="740" b="1">
                <a:solidFill>
                  <a:srgbClr val="5B6577"/>
                </a:solidFill>
                <a:latin typeface="Aptos"/>
              </a:rPr>
              <a:t>E4 UPDATE REDUCTION</a:t>
            </a:r>
          </a:p>
        </p:txBody>
      </p:sp>
      <p:sp>
        <p:nvSpPr>
          <p:cNvPr id="48" name="TextBox 47"/>
          <p:cNvSpPr txBox="1"/>
          <p:nvPr/>
        </p:nvSpPr>
        <p:spPr>
          <a:xfrm>
            <a:off x="3255264" y="4599432"/>
            <a:ext cx="1828799" cy="283464"/>
          </a:xfrm>
          <a:prstGeom prst="rect">
            <a:avLst/>
          </a:prstGeom>
          <a:noFill/>
        </p:spPr>
        <p:txBody>
          <a:bodyPr wrap="square" lIns="36576" tIns="36576" rIns="36576" bIns="36576" anchor="t">
            <a:spAutoFit/>
          </a:bodyPr>
          <a:lstStyle/>
          <a:p>
            <a:pPr algn="l"/>
            <a:r>
              <a:rPr sz="1800" b="1">
                <a:solidFill>
                  <a:srgbClr val="315A8A"/>
                </a:solidFill>
                <a:latin typeface="Aptos Display"/>
              </a:rPr>
              <a:t>43.1%</a:t>
            </a:r>
          </a:p>
        </p:txBody>
      </p:sp>
      <p:sp>
        <p:nvSpPr>
          <p:cNvPr id="49" name="TextBox 48"/>
          <p:cNvSpPr txBox="1"/>
          <p:nvPr/>
        </p:nvSpPr>
        <p:spPr>
          <a:xfrm>
            <a:off x="3255264" y="4919472"/>
            <a:ext cx="1828799" cy="128016"/>
          </a:xfrm>
          <a:prstGeom prst="rect">
            <a:avLst/>
          </a:prstGeom>
          <a:noFill/>
        </p:spPr>
        <p:txBody>
          <a:bodyPr wrap="square" lIns="36576" tIns="36576" rIns="36576" bIns="36576" anchor="t">
            <a:spAutoFit/>
          </a:bodyPr>
          <a:lstStyle/>
          <a:p>
            <a:pPr algn="l"/>
            <a:r>
              <a:rPr sz="710" b="0">
                <a:solidFill>
                  <a:srgbClr val="5B6577"/>
                </a:solidFill>
                <a:latin typeface="Aptos"/>
              </a:rPr>
              <a:t>vs E1</a:t>
            </a:r>
          </a:p>
        </p:txBody>
      </p:sp>
      <p:sp>
        <p:nvSpPr>
          <p:cNvPr id="50" name="Rounded Rectangle 49"/>
          <p:cNvSpPr/>
          <p:nvPr/>
        </p:nvSpPr>
        <p:spPr>
          <a:xfrm>
            <a:off x="6510528" y="4325112"/>
            <a:ext cx="2084831" cy="822960"/>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638544" y="4434840"/>
            <a:ext cx="1828799" cy="137160"/>
          </a:xfrm>
          <a:prstGeom prst="rect">
            <a:avLst/>
          </a:prstGeom>
          <a:noFill/>
        </p:spPr>
        <p:txBody>
          <a:bodyPr wrap="square" lIns="36576" tIns="36576" rIns="36576" bIns="36576" anchor="t">
            <a:spAutoFit/>
          </a:bodyPr>
          <a:lstStyle/>
          <a:p>
            <a:pPr algn="l"/>
            <a:r>
              <a:rPr sz="740" b="1">
                <a:solidFill>
                  <a:srgbClr val="5B6577"/>
                </a:solidFill>
                <a:latin typeface="Aptos"/>
              </a:rPr>
              <a:t>E2 UPDATE REDUCTION</a:t>
            </a:r>
          </a:p>
        </p:txBody>
      </p:sp>
      <p:sp>
        <p:nvSpPr>
          <p:cNvPr id="52" name="TextBox 51"/>
          <p:cNvSpPr txBox="1"/>
          <p:nvPr/>
        </p:nvSpPr>
        <p:spPr>
          <a:xfrm>
            <a:off x="6638544" y="4599432"/>
            <a:ext cx="1828799" cy="283464"/>
          </a:xfrm>
          <a:prstGeom prst="rect">
            <a:avLst/>
          </a:prstGeom>
          <a:noFill/>
        </p:spPr>
        <p:txBody>
          <a:bodyPr wrap="square" lIns="36576" tIns="36576" rIns="36576" bIns="36576" anchor="t">
            <a:spAutoFit/>
          </a:bodyPr>
          <a:lstStyle/>
          <a:p>
            <a:pPr algn="l"/>
            <a:r>
              <a:rPr sz="1800" b="1">
                <a:solidFill>
                  <a:srgbClr val="D7792D"/>
                </a:solidFill>
                <a:latin typeface="Aptos Display"/>
              </a:rPr>
              <a:t>64.9%</a:t>
            </a:r>
          </a:p>
        </p:txBody>
      </p:sp>
      <p:sp>
        <p:nvSpPr>
          <p:cNvPr id="53" name="TextBox 52"/>
          <p:cNvSpPr txBox="1"/>
          <p:nvPr/>
        </p:nvSpPr>
        <p:spPr>
          <a:xfrm>
            <a:off x="6638544" y="4919472"/>
            <a:ext cx="1828799" cy="128016"/>
          </a:xfrm>
          <a:prstGeom prst="rect">
            <a:avLst/>
          </a:prstGeom>
          <a:noFill/>
        </p:spPr>
        <p:txBody>
          <a:bodyPr wrap="square" lIns="36576" tIns="36576" rIns="36576" bIns="36576" anchor="t">
            <a:spAutoFit/>
          </a:bodyPr>
          <a:lstStyle/>
          <a:p>
            <a:pPr algn="l"/>
            <a:r>
              <a:rPr sz="710" b="0">
                <a:solidFill>
                  <a:srgbClr val="5B6577"/>
                </a:solidFill>
                <a:latin typeface="Aptos"/>
              </a:rPr>
              <a:t>vs E1</a:t>
            </a:r>
          </a:p>
        </p:txBody>
      </p:sp>
      <p:sp>
        <p:nvSpPr>
          <p:cNvPr id="54" name="Rounded Rectangle 53"/>
          <p:cNvSpPr/>
          <p:nvPr/>
        </p:nvSpPr>
        <p:spPr>
          <a:xfrm>
            <a:off x="8833104" y="4325112"/>
            <a:ext cx="2084831" cy="822960"/>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961120" y="4434840"/>
            <a:ext cx="1828799" cy="137160"/>
          </a:xfrm>
          <a:prstGeom prst="rect">
            <a:avLst/>
          </a:prstGeom>
          <a:noFill/>
        </p:spPr>
        <p:txBody>
          <a:bodyPr wrap="square" lIns="36576" tIns="36576" rIns="36576" bIns="36576" anchor="t">
            <a:spAutoFit/>
          </a:bodyPr>
          <a:lstStyle/>
          <a:p>
            <a:pPr algn="l"/>
            <a:r>
              <a:rPr sz="740" b="1">
                <a:solidFill>
                  <a:srgbClr val="5B6577"/>
                </a:solidFill>
                <a:latin typeface="Aptos"/>
              </a:rPr>
              <a:t>E4 UPDATE REDUCTION</a:t>
            </a:r>
          </a:p>
        </p:txBody>
      </p:sp>
      <p:sp>
        <p:nvSpPr>
          <p:cNvPr id="56" name="TextBox 55"/>
          <p:cNvSpPr txBox="1"/>
          <p:nvPr/>
        </p:nvSpPr>
        <p:spPr>
          <a:xfrm>
            <a:off x="8961120" y="4599432"/>
            <a:ext cx="1828799" cy="283464"/>
          </a:xfrm>
          <a:prstGeom prst="rect">
            <a:avLst/>
          </a:prstGeom>
          <a:noFill/>
        </p:spPr>
        <p:txBody>
          <a:bodyPr wrap="square" lIns="36576" tIns="36576" rIns="36576" bIns="36576" anchor="t">
            <a:spAutoFit/>
          </a:bodyPr>
          <a:lstStyle/>
          <a:p>
            <a:pPr algn="l"/>
            <a:r>
              <a:rPr sz="1800" b="1">
                <a:solidFill>
                  <a:srgbClr val="D7792D"/>
                </a:solidFill>
                <a:latin typeface="Aptos Display"/>
              </a:rPr>
              <a:t>64.6%</a:t>
            </a:r>
          </a:p>
        </p:txBody>
      </p:sp>
      <p:sp>
        <p:nvSpPr>
          <p:cNvPr id="57" name="TextBox 56"/>
          <p:cNvSpPr txBox="1"/>
          <p:nvPr/>
        </p:nvSpPr>
        <p:spPr>
          <a:xfrm>
            <a:off x="8961120" y="4919472"/>
            <a:ext cx="1828799" cy="128016"/>
          </a:xfrm>
          <a:prstGeom prst="rect">
            <a:avLst/>
          </a:prstGeom>
          <a:noFill/>
        </p:spPr>
        <p:txBody>
          <a:bodyPr wrap="square" lIns="36576" tIns="36576" rIns="36576" bIns="36576" anchor="t">
            <a:spAutoFit/>
          </a:bodyPr>
          <a:lstStyle/>
          <a:p>
            <a:pPr algn="l"/>
            <a:r>
              <a:rPr sz="710" b="0">
                <a:solidFill>
                  <a:srgbClr val="5B6577"/>
                </a:solidFill>
                <a:latin typeface="Aptos"/>
              </a:rPr>
              <a:t>vs E1</a:t>
            </a:r>
          </a:p>
        </p:txBody>
      </p:sp>
      <p:sp>
        <p:nvSpPr>
          <p:cNvPr id="58" name="TextBox 57"/>
          <p:cNvSpPr txBox="1"/>
          <p:nvPr/>
        </p:nvSpPr>
        <p:spPr>
          <a:xfrm>
            <a:off x="868680" y="5376672"/>
            <a:ext cx="4480560" cy="164592"/>
          </a:xfrm>
          <a:prstGeom prst="rect">
            <a:avLst/>
          </a:prstGeom>
          <a:noFill/>
        </p:spPr>
        <p:txBody>
          <a:bodyPr wrap="square" lIns="36576" tIns="36576" rIns="36576" bIns="36576" anchor="t">
            <a:spAutoFit/>
          </a:bodyPr>
          <a:lstStyle/>
          <a:p>
            <a:pPr algn="l"/>
            <a:r>
              <a:rPr sz="780" b="1">
                <a:solidFill>
                  <a:srgbClr val="5B6577"/>
                </a:solidFill>
                <a:latin typeface="Aptos"/>
              </a:rPr>
              <a:t>Total training time (E1 / E2 / E3 / E4)</a:t>
            </a:r>
          </a:p>
        </p:txBody>
      </p:sp>
      <p:sp>
        <p:nvSpPr>
          <p:cNvPr id="59" name="TextBox 58"/>
          <p:cNvSpPr txBox="1"/>
          <p:nvPr/>
        </p:nvSpPr>
        <p:spPr>
          <a:xfrm>
            <a:off x="868680" y="5596128"/>
            <a:ext cx="4480560" cy="192024"/>
          </a:xfrm>
          <a:prstGeom prst="rect">
            <a:avLst/>
          </a:prstGeom>
          <a:noFill/>
        </p:spPr>
        <p:txBody>
          <a:bodyPr wrap="square" lIns="36576" tIns="36576" rIns="36576" bIns="36576" anchor="t">
            <a:spAutoFit/>
          </a:bodyPr>
          <a:lstStyle/>
          <a:p>
            <a:pPr algn="ctr"/>
            <a:r>
              <a:rPr sz="930" b="1">
                <a:solidFill>
                  <a:srgbClr val="172033"/>
                </a:solidFill>
                <a:latin typeface="Aptos"/>
              </a:rPr>
              <a:t>432.8 / 398.7 / 432.1 / 401.1 s</a:t>
            </a:r>
          </a:p>
        </p:txBody>
      </p:sp>
      <p:sp>
        <p:nvSpPr>
          <p:cNvPr id="60" name="TextBox 59"/>
          <p:cNvSpPr txBox="1"/>
          <p:nvPr/>
        </p:nvSpPr>
        <p:spPr>
          <a:xfrm>
            <a:off x="6565392" y="5376672"/>
            <a:ext cx="4480560" cy="164592"/>
          </a:xfrm>
          <a:prstGeom prst="rect">
            <a:avLst/>
          </a:prstGeom>
          <a:noFill/>
        </p:spPr>
        <p:txBody>
          <a:bodyPr wrap="square" lIns="36576" tIns="36576" rIns="36576" bIns="36576" anchor="t">
            <a:spAutoFit/>
          </a:bodyPr>
          <a:lstStyle/>
          <a:p>
            <a:pPr algn="l"/>
            <a:r>
              <a:rPr sz="780" b="1">
                <a:solidFill>
                  <a:srgbClr val="5B6577"/>
                </a:solidFill>
                <a:latin typeface="Aptos"/>
              </a:rPr>
              <a:t>Total training time (E1 / E2 / E3 / E4)</a:t>
            </a:r>
          </a:p>
        </p:txBody>
      </p:sp>
      <p:sp>
        <p:nvSpPr>
          <p:cNvPr id="61" name="TextBox 60"/>
          <p:cNvSpPr txBox="1"/>
          <p:nvPr/>
        </p:nvSpPr>
        <p:spPr>
          <a:xfrm>
            <a:off x="6565392" y="5596128"/>
            <a:ext cx="4480560" cy="192024"/>
          </a:xfrm>
          <a:prstGeom prst="rect">
            <a:avLst/>
          </a:prstGeom>
          <a:noFill/>
        </p:spPr>
        <p:txBody>
          <a:bodyPr wrap="square" lIns="36576" tIns="36576" rIns="36576" bIns="36576" anchor="t">
            <a:spAutoFit/>
          </a:bodyPr>
          <a:lstStyle/>
          <a:p>
            <a:pPr algn="ctr"/>
            <a:r>
              <a:rPr sz="930" b="1">
                <a:solidFill>
                  <a:srgbClr val="172033"/>
                </a:solidFill>
                <a:latin typeface="Aptos"/>
              </a:rPr>
              <a:t>1407.5 / 1179.8 / 1343.5 / 1185.5 s</a:t>
            </a:r>
          </a:p>
        </p:txBody>
      </p:sp>
      <p:sp>
        <p:nvSpPr>
          <p:cNvPr id="62" name="TextBox 61"/>
          <p:cNvSpPr txBox="1"/>
          <p:nvPr/>
        </p:nvSpPr>
        <p:spPr>
          <a:xfrm>
            <a:off x="914400" y="5980176"/>
            <a:ext cx="10241280" cy="164592"/>
          </a:xfrm>
          <a:prstGeom prst="rect">
            <a:avLst/>
          </a:prstGeom>
          <a:noFill/>
        </p:spPr>
        <p:txBody>
          <a:bodyPr wrap="square" lIns="36576" tIns="36576" rIns="36576" bIns="36576" anchor="t">
            <a:spAutoFit/>
          </a:bodyPr>
          <a:lstStyle/>
          <a:p>
            <a:pPr algn="ctr"/>
            <a:r>
              <a:rPr sz="850" b="1">
                <a:solidFill>
                  <a:srgbClr val="0F8B8D"/>
                </a:solidFill>
                <a:latin typeface="Aptos"/>
              </a:rPr>
              <a:t>Adaptive batch lowers updates on both datasets — much more strongly in the longer CIFAR-100 run.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Picture 1" descr="wide_clean_infographic_slide_on_a_white_light_back_2_batch_2.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11228832" y="6327648"/>
            <a:ext cx="566928" cy="329184"/>
          </a:xfrm>
          <a:prstGeom prst="rect">
            <a:avLst/>
          </a:prstGeom>
          <a:solidFill>
            <a:srgbClr val="F4F7FA"/>
          </a:solidFill>
          <a:ln>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375136" y="6437376"/>
            <a:ext cx="310896" cy="146304"/>
          </a:xfrm>
          <a:prstGeom prst="rect">
            <a:avLst/>
          </a:prstGeom>
          <a:noFill/>
        </p:spPr>
        <p:txBody>
          <a:bodyPr wrap="square" lIns="0" tIns="0" rIns="0" bIns="0" anchor="t">
            <a:spAutoFit/>
          </a:bodyPr>
          <a:lstStyle/>
          <a:p>
            <a:r>
              <a:rPr sz="800">
                <a:solidFill>
                  <a:srgbClr val="5B6577"/>
                </a:solidFill>
                <a:latin typeface="Aptos"/>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Picture 1" descr="d56862a4-ba63-48b6-8085-dff4e4849dbd.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11356848" y="6473952"/>
            <a:ext cx="420624" cy="219456"/>
          </a:xfrm>
          <a:prstGeom prst="rect">
            <a:avLst/>
          </a:prstGeom>
          <a:solidFill>
            <a:srgbClr val="F4F7FA"/>
          </a:solidFill>
          <a:ln>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411712" y="6501384"/>
            <a:ext cx="274320" cy="128016"/>
          </a:xfrm>
          <a:prstGeom prst="rect">
            <a:avLst/>
          </a:prstGeom>
          <a:noFill/>
        </p:spPr>
        <p:txBody>
          <a:bodyPr wrap="square" lIns="0" tIns="0" rIns="0" bIns="0" anchor="t">
            <a:spAutoFit/>
          </a:bodyPr>
          <a:lstStyle/>
          <a:p>
            <a:r>
              <a:rPr sz="800">
                <a:solidFill>
                  <a:srgbClr val="5B6577"/>
                </a:solidFill>
                <a:latin typeface="Aptos"/>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Box 1"/>
          <p:cNvSpPr txBox="1"/>
          <p:nvPr/>
        </p:nvSpPr>
        <p:spPr>
          <a:xfrm>
            <a:off x="566928" y="347472"/>
            <a:ext cx="10789920" cy="411480"/>
          </a:xfrm>
          <a:prstGeom prst="rect">
            <a:avLst/>
          </a:prstGeom>
          <a:noFill/>
        </p:spPr>
        <p:txBody>
          <a:bodyPr wrap="square" lIns="36576" tIns="36576" rIns="36576" bIns="36576" anchor="t">
            <a:spAutoFit/>
          </a:bodyPr>
          <a:lstStyle/>
          <a:p>
            <a:pPr algn="l"/>
            <a:r>
              <a:rPr sz="2400" b="1">
                <a:solidFill>
                  <a:srgbClr val="172033"/>
                </a:solidFill>
                <a:latin typeface="Aptos Display"/>
              </a:rPr>
              <a:t>What the two datasets say relative to prior work</a:t>
            </a:r>
          </a:p>
        </p:txBody>
      </p:sp>
      <p:sp>
        <p:nvSpPr>
          <p:cNvPr id="3" name="TextBox 2"/>
          <p:cNvSpPr txBox="1"/>
          <p:nvPr/>
        </p:nvSpPr>
        <p:spPr>
          <a:xfrm>
            <a:off x="585216" y="832104"/>
            <a:ext cx="10744200" cy="301752"/>
          </a:xfrm>
          <a:prstGeom prst="rect">
            <a:avLst/>
          </a:prstGeom>
          <a:noFill/>
        </p:spPr>
        <p:txBody>
          <a:bodyPr wrap="square" lIns="36576" tIns="36576" rIns="36576" bIns="36576" anchor="t">
            <a:spAutoFit/>
          </a:bodyPr>
          <a:lstStyle/>
          <a:p>
            <a:pPr algn="l"/>
            <a:r>
              <a:rPr sz="1050" b="0">
                <a:solidFill>
                  <a:srgbClr val="5B6577"/>
                </a:solidFill>
                <a:latin typeface="Aptos"/>
              </a:rPr>
              <a:t>The cross-dataset comparison supports a conditional — not universal — view of adaptive training.</a:t>
            </a:r>
          </a:p>
        </p:txBody>
      </p:sp>
      <p:sp>
        <p:nvSpPr>
          <p:cNvPr id="4" name="Rounded Rectangle 3"/>
          <p:cNvSpPr/>
          <p:nvPr/>
        </p:nvSpPr>
        <p:spPr>
          <a:xfrm>
            <a:off x="585216" y="1225296"/>
            <a:ext cx="1417320" cy="256032"/>
          </a:xfrm>
          <a:prstGeom prst="roundRect">
            <a:avLst>
              <a:gd name="adj" fmla="val 8000"/>
            </a:avLst>
          </a:prstGeom>
          <a:solidFill>
            <a:srgbClr val="E8F5F4"/>
          </a:solidFill>
          <a:ln w="12700">
            <a:solidFill>
              <a:srgbClr val="E8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67512" y="1271016"/>
            <a:ext cx="1234440" cy="128016"/>
          </a:xfrm>
          <a:prstGeom prst="rect">
            <a:avLst/>
          </a:prstGeom>
          <a:noFill/>
        </p:spPr>
        <p:txBody>
          <a:bodyPr wrap="square" lIns="0" tIns="0" rIns="0" bIns="0" anchor="ctr">
            <a:spAutoFit/>
          </a:bodyPr>
          <a:lstStyle/>
          <a:p>
            <a:pPr algn="ctr"/>
            <a:r>
              <a:rPr sz="760" b="1">
                <a:solidFill>
                  <a:srgbClr val="0F8B8D"/>
                </a:solidFill>
                <a:latin typeface="Aptos"/>
              </a:rPr>
              <a:t>DISCUSSION</a:t>
            </a:r>
          </a:p>
        </p:txBody>
      </p:sp>
      <p:sp>
        <p:nvSpPr>
          <p:cNvPr id="6" name="TextBox 5"/>
          <p:cNvSpPr txBox="1"/>
          <p:nvPr/>
        </p:nvSpPr>
        <p:spPr>
          <a:xfrm>
            <a:off x="11384280" y="6446520"/>
            <a:ext cx="320040" cy="182880"/>
          </a:xfrm>
          <a:prstGeom prst="rect">
            <a:avLst/>
          </a:prstGeom>
          <a:noFill/>
        </p:spPr>
        <p:txBody>
          <a:bodyPr wrap="square" lIns="36576" tIns="36576" rIns="36576" bIns="36576" anchor="t">
            <a:spAutoFit/>
          </a:bodyPr>
          <a:lstStyle/>
          <a:p>
            <a:r>
              <a:rPr sz="800">
                <a:solidFill>
                  <a:srgbClr val="5B6577"/>
                </a:solidFill>
                <a:latin typeface="Aptos"/>
              </a:rPr>
              <a:t>16</a:t>
            </a:r>
          </a:p>
        </p:txBody>
      </p:sp>
      <p:sp>
        <p:nvSpPr>
          <p:cNvPr id="7" name="Rectangle 6"/>
          <p:cNvSpPr/>
          <p:nvPr/>
        </p:nvSpPr>
        <p:spPr>
          <a:xfrm>
            <a:off x="6044184" y="1527048"/>
            <a:ext cx="18288" cy="4553712"/>
          </a:xfrm>
          <a:prstGeom prst="rect">
            <a:avLst/>
          </a:prstGeom>
          <a:solidFill>
            <a:srgbClr val="D8E0E8"/>
          </a:solidFill>
          <a:ln>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76072" y="1572768"/>
            <a:ext cx="5230368" cy="475488"/>
          </a:xfrm>
          <a:prstGeom prst="roundRect">
            <a:avLst>
              <a:gd name="adj" fmla="val 8000"/>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300216" y="1572768"/>
            <a:ext cx="5285232" cy="475488"/>
          </a:xfrm>
          <a:prstGeom prst="roundRect">
            <a:avLst>
              <a:gd name="adj" fmla="val 8000"/>
            </a:avLst>
          </a:prstGeom>
          <a:solidFill>
            <a:srgbClr val="FCF4EB"/>
          </a:solidFill>
          <a:ln w="12700">
            <a:solidFill>
              <a:srgbClr val="FCF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664208"/>
            <a:ext cx="1645920" cy="201168"/>
          </a:xfrm>
          <a:prstGeom prst="rect">
            <a:avLst/>
          </a:prstGeom>
          <a:noFill/>
        </p:spPr>
        <p:txBody>
          <a:bodyPr wrap="square" lIns="36576" tIns="36576" rIns="36576" bIns="36576" anchor="t">
            <a:spAutoFit/>
          </a:bodyPr>
          <a:lstStyle/>
          <a:p>
            <a:pPr algn="l"/>
            <a:r>
              <a:rPr sz="1700" b="1">
                <a:solidFill>
                  <a:srgbClr val="315A8A"/>
                </a:solidFill>
                <a:latin typeface="Aptos"/>
              </a:rPr>
              <a:t>CIFAR-10</a:t>
            </a:r>
          </a:p>
        </p:txBody>
      </p:sp>
      <p:sp>
        <p:nvSpPr>
          <p:cNvPr id="11" name="TextBox 10"/>
          <p:cNvSpPr txBox="1"/>
          <p:nvPr/>
        </p:nvSpPr>
        <p:spPr>
          <a:xfrm>
            <a:off x="2176272" y="1691640"/>
            <a:ext cx="3429000" cy="164592"/>
          </a:xfrm>
          <a:prstGeom prst="rect">
            <a:avLst/>
          </a:prstGeom>
          <a:noFill/>
        </p:spPr>
        <p:txBody>
          <a:bodyPr wrap="square" lIns="36576" tIns="36576" rIns="36576" bIns="36576" anchor="t">
            <a:spAutoFit/>
          </a:bodyPr>
          <a:lstStyle/>
          <a:p>
            <a:pPr algn="r"/>
            <a:r>
              <a:rPr sz="869" b="0">
                <a:solidFill>
                  <a:srgbClr val="5B6577"/>
                </a:solidFill>
                <a:latin typeface="Aptos"/>
              </a:rPr>
              <a:t>Evidence from CIFAR-10</a:t>
            </a:r>
          </a:p>
        </p:txBody>
      </p:sp>
      <p:sp>
        <p:nvSpPr>
          <p:cNvPr id="12" name="TextBox 11"/>
          <p:cNvSpPr txBox="1"/>
          <p:nvPr/>
        </p:nvSpPr>
        <p:spPr>
          <a:xfrm>
            <a:off x="6473952" y="1664208"/>
            <a:ext cx="1828800" cy="201168"/>
          </a:xfrm>
          <a:prstGeom prst="rect">
            <a:avLst/>
          </a:prstGeom>
          <a:noFill/>
        </p:spPr>
        <p:txBody>
          <a:bodyPr wrap="square" lIns="36576" tIns="36576" rIns="36576" bIns="36576" anchor="t">
            <a:spAutoFit/>
          </a:bodyPr>
          <a:lstStyle/>
          <a:p>
            <a:pPr algn="l"/>
            <a:r>
              <a:rPr sz="1700" b="1">
                <a:solidFill>
                  <a:srgbClr val="D7792D"/>
                </a:solidFill>
                <a:latin typeface="Aptos"/>
              </a:rPr>
              <a:t>CIFAR-100</a:t>
            </a:r>
          </a:p>
        </p:txBody>
      </p:sp>
      <p:sp>
        <p:nvSpPr>
          <p:cNvPr id="13" name="TextBox 12"/>
          <p:cNvSpPr txBox="1"/>
          <p:nvPr/>
        </p:nvSpPr>
        <p:spPr>
          <a:xfrm>
            <a:off x="8275320" y="1691640"/>
            <a:ext cx="3054096" cy="164592"/>
          </a:xfrm>
          <a:prstGeom prst="rect">
            <a:avLst/>
          </a:prstGeom>
          <a:noFill/>
        </p:spPr>
        <p:txBody>
          <a:bodyPr wrap="square" lIns="36576" tIns="36576" rIns="36576" bIns="36576" anchor="t">
            <a:spAutoFit/>
          </a:bodyPr>
          <a:lstStyle/>
          <a:p>
            <a:pPr algn="r"/>
            <a:r>
              <a:rPr sz="869" b="0">
                <a:solidFill>
                  <a:srgbClr val="5B6577"/>
                </a:solidFill>
                <a:latin typeface="Aptos"/>
              </a:rPr>
              <a:t>Evidence from CIFAR-100</a:t>
            </a:r>
          </a:p>
        </p:txBody>
      </p:sp>
      <p:sp>
        <p:nvSpPr>
          <p:cNvPr id="14" name="Rounded Rectangle 13"/>
          <p:cNvSpPr/>
          <p:nvPr/>
        </p:nvSpPr>
        <p:spPr>
          <a:xfrm>
            <a:off x="749808" y="2249424"/>
            <a:ext cx="4736592" cy="987552"/>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96112" y="2377440"/>
            <a:ext cx="4407408" cy="173736"/>
          </a:xfrm>
          <a:prstGeom prst="rect">
            <a:avLst/>
          </a:prstGeom>
          <a:noFill/>
        </p:spPr>
        <p:txBody>
          <a:bodyPr wrap="square" lIns="36576" tIns="36576" rIns="36576" bIns="36576" anchor="t">
            <a:spAutoFit/>
          </a:bodyPr>
          <a:lstStyle/>
          <a:p>
            <a:pPr algn="l"/>
            <a:r>
              <a:rPr sz="969" b="1">
                <a:solidFill>
                  <a:srgbClr val="315A8A"/>
                </a:solidFill>
                <a:latin typeface="Aptos"/>
              </a:rPr>
              <a:t>Adaptive LR is strongest</a:t>
            </a:r>
          </a:p>
        </p:txBody>
      </p:sp>
      <p:sp>
        <p:nvSpPr>
          <p:cNvPr id="16" name="TextBox 15"/>
          <p:cNvSpPr txBox="1"/>
          <p:nvPr/>
        </p:nvSpPr>
        <p:spPr>
          <a:xfrm>
            <a:off x="896112" y="2633472"/>
            <a:ext cx="4407408" cy="201168"/>
          </a:xfrm>
          <a:prstGeom prst="rect">
            <a:avLst/>
          </a:prstGeom>
          <a:noFill/>
        </p:spPr>
        <p:txBody>
          <a:bodyPr wrap="square" lIns="36576" tIns="36576" rIns="36576" bIns="36576" anchor="t">
            <a:spAutoFit/>
          </a:bodyPr>
          <a:lstStyle/>
          <a:p>
            <a:pPr algn="l"/>
            <a:r>
              <a:rPr sz="840" b="0">
                <a:solidFill>
                  <a:srgbClr val="172033"/>
                </a:solidFill>
                <a:latin typeface="Aptos"/>
              </a:rPr>
              <a:t>E3 gives the highest selected accuracy (86.34%).</a:t>
            </a:r>
          </a:p>
        </p:txBody>
      </p:sp>
      <p:sp>
        <p:nvSpPr>
          <p:cNvPr id="17" name="TextBox 16"/>
          <p:cNvSpPr txBox="1"/>
          <p:nvPr/>
        </p:nvSpPr>
        <p:spPr>
          <a:xfrm>
            <a:off x="896112" y="2907791"/>
            <a:ext cx="4407408" cy="164592"/>
          </a:xfrm>
          <a:prstGeom prst="rect">
            <a:avLst/>
          </a:prstGeom>
          <a:noFill/>
        </p:spPr>
        <p:txBody>
          <a:bodyPr wrap="square" lIns="36576" tIns="36576" rIns="36576" bIns="36576" anchor="t">
            <a:spAutoFit/>
          </a:bodyPr>
          <a:lstStyle/>
          <a:p>
            <a:pPr algn="l"/>
            <a:r>
              <a:rPr sz="740" b="0">
                <a:solidFill>
                  <a:srgbClr val="5B6577"/>
                </a:solidFill>
                <a:latin typeface="Aptos"/>
              </a:rPr>
              <a:t>Goyal / Smith: LR–batch coordination matters.</a:t>
            </a:r>
          </a:p>
        </p:txBody>
      </p:sp>
      <p:sp>
        <p:nvSpPr>
          <p:cNvPr id="18" name="Rounded Rectangle 17"/>
          <p:cNvSpPr/>
          <p:nvPr/>
        </p:nvSpPr>
        <p:spPr>
          <a:xfrm>
            <a:off x="749808" y="3429000"/>
            <a:ext cx="4736592" cy="987552"/>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6112" y="3557016"/>
            <a:ext cx="4407408" cy="173736"/>
          </a:xfrm>
          <a:prstGeom prst="rect">
            <a:avLst/>
          </a:prstGeom>
          <a:noFill/>
        </p:spPr>
        <p:txBody>
          <a:bodyPr wrap="square" lIns="36576" tIns="36576" rIns="36576" bIns="36576" anchor="t">
            <a:spAutoFit/>
          </a:bodyPr>
          <a:lstStyle/>
          <a:p>
            <a:pPr algn="l"/>
            <a:r>
              <a:rPr sz="969" b="1">
                <a:solidFill>
                  <a:srgbClr val="315A8A"/>
                </a:solidFill>
                <a:latin typeface="Aptos"/>
              </a:rPr>
              <a:t>Adaptive batch saves work</a:t>
            </a:r>
          </a:p>
        </p:txBody>
      </p:sp>
      <p:sp>
        <p:nvSpPr>
          <p:cNvPr id="20" name="TextBox 19"/>
          <p:cNvSpPr txBox="1"/>
          <p:nvPr/>
        </p:nvSpPr>
        <p:spPr>
          <a:xfrm>
            <a:off x="896112" y="3813048"/>
            <a:ext cx="4407408" cy="201168"/>
          </a:xfrm>
          <a:prstGeom prst="rect">
            <a:avLst/>
          </a:prstGeom>
          <a:noFill/>
        </p:spPr>
        <p:txBody>
          <a:bodyPr wrap="square" lIns="36576" tIns="36576" rIns="36576" bIns="36576" anchor="t">
            <a:spAutoFit/>
          </a:bodyPr>
          <a:lstStyle/>
          <a:p>
            <a:pPr algn="l"/>
            <a:r>
              <a:rPr sz="840" b="0">
                <a:solidFill>
                  <a:srgbClr val="172033"/>
                </a:solidFill>
                <a:latin typeface="Aptos"/>
              </a:rPr>
              <a:t>E2 cuts updates 42.7% while improving over E1.</a:t>
            </a:r>
          </a:p>
        </p:txBody>
      </p:sp>
      <p:sp>
        <p:nvSpPr>
          <p:cNvPr id="21" name="TextBox 20"/>
          <p:cNvSpPr txBox="1"/>
          <p:nvPr/>
        </p:nvSpPr>
        <p:spPr>
          <a:xfrm>
            <a:off x="896112" y="4087368"/>
            <a:ext cx="4407408" cy="164592"/>
          </a:xfrm>
          <a:prstGeom prst="rect">
            <a:avLst/>
          </a:prstGeom>
          <a:noFill/>
        </p:spPr>
        <p:txBody>
          <a:bodyPr wrap="square" lIns="36576" tIns="36576" rIns="36576" bIns="36576" anchor="t">
            <a:spAutoFit/>
          </a:bodyPr>
          <a:lstStyle/>
          <a:p>
            <a:pPr algn="l"/>
            <a:r>
              <a:rPr sz="740" b="0">
                <a:solidFill>
                  <a:srgbClr val="5B6577"/>
                </a:solidFill>
                <a:latin typeface="Aptos"/>
              </a:rPr>
              <a:t>AdaBatch / Shallue: larger batches can reduce steps.</a:t>
            </a:r>
          </a:p>
        </p:txBody>
      </p:sp>
      <p:sp>
        <p:nvSpPr>
          <p:cNvPr id="22" name="Rounded Rectangle 21"/>
          <p:cNvSpPr/>
          <p:nvPr/>
        </p:nvSpPr>
        <p:spPr>
          <a:xfrm>
            <a:off x="749808" y="4608576"/>
            <a:ext cx="4736592" cy="987552"/>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96112" y="4736592"/>
            <a:ext cx="4407408" cy="173736"/>
          </a:xfrm>
          <a:prstGeom prst="rect">
            <a:avLst/>
          </a:prstGeom>
          <a:noFill/>
        </p:spPr>
        <p:txBody>
          <a:bodyPr wrap="square" lIns="36576" tIns="36576" rIns="36576" bIns="36576" anchor="t">
            <a:spAutoFit/>
          </a:bodyPr>
          <a:lstStyle/>
          <a:p>
            <a:pPr algn="l"/>
            <a:r>
              <a:rPr sz="969" b="1">
                <a:solidFill>
                  <a:srgbClr val="315A8A"/>
                </a:solidFill>
                <a:latin typeface="Aptos"/>
              </a:rPr>
              <a:t>Combined control is not automatically best</a:t>
            </a:r>
          </a:p>
        </p:txBody>
      </p:sp>
      <p:sp>
        <p:nvSpPr>
          <p:cNvPr id="24" name="TextBox 23"/>
          <p:cNvSpPr txBox="1"/>
          <p:nvPr/>
        </p:nvSpPr>
        <p:spPr>
          <a:xfrm>
            <a:off x="896112" y="4992624"/>
            <a:ext cx="4407408" cy="201168"/>
          </a:xfrm>
          <a:prstGeom prst="rect">
            <a:avLst/>
          </a:prstGeom>
          <a:noFill/>
        </p:spPr>
        <p:txBody>
          <a:bodyPr wrap="square" lIns="36576" tIns="36576" rIns="36576" bIns="36576" anchor="t">
            <a:spAutoFit/>
          </a:bodyPr>
          <a:lstStyle/>
          <a:p>
            <a:pPr algn="l"/>
            <a:r>
              <a:rPr sz="840" b="0">
                <a:solidFill>
                  <a:srgbClr val="172033"/>
                </a:solidFill>
                <a:latin typeface="Aptos"/>
              </a:rPr>
              <a:t>E4 saves updates but trails E2/E3 in selected accuracy.</a:t>
            </a:r>
          </a:p>
        </p:txBody>
      </p:sp>
      <p:sp>
        <p:nvSpPr>
          <p:cNvPr id="25" name="TextBox 24"/>
          <p:cNvSpPr txBox="1"/>
          <p:nvPr/>
        </p:nvSpPr>
        <p:spPr>
          <a:xfrm>
            <a:off x="896112" y="5266944"/>
            <a:ext cx="4407408" cy="164592"/>
          </a:xfrm>
          <a:prstGeom prst="rect">
            <a:avLst/>
          </a:prstGeom>
          <a:noFill/>
        </p:spPr>
        <p:txBody>
          <a:bodyPr wrap="square" lIns="36576" tIns="36576" rIns="36576" bIns="36576" anchor="t">
            <a:spAutoFit/>
          </a:bodyPr>
          <a:lstStyle/>
          <a:p>
            <a:pPr algn="l"/>
            <a:r>
              <a:rPr sz="740" b="0">
                <a:solidFill>
                  <a:srgbClr val="5B6577"/>
                </a:solidFill>
                <a:latin typeface="Aptos"/>
              </a:rPr>
              <a:t>No universal scaling rule.</a:t>
            </a:r>
          </a:p>
        </p:txBody>
      </p:sp>
      <p:sp>
        <p:nvSpPr>
          <p:cNvPr id="26" name="Rounded Rectangle 25"/>
          <p:cNvSpPr/>
          <p:nvPr/>
        </p:nvSpPr>
        <p:spPr>
          <a:xfrm>
            <a:off x="6455664" y="2249424"/>
            <a:ext cx="4736592" cy="987552"/>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01968" y="2377440"/>
            <a:ext cx="4407408" cy="173736"/>
          </a:xfrm>
          <a:prstGeom prst="rect">
            <a:avLst/>
          </a:prstGeom>
          <a:noFill/>
        </p:spPr>
        <p:txBody>
          <a:bodyPr wrap="square" lIns="36576" tIns="36576" rIns="36576" bIns="36576" anchor="t">
            <a:spAutoFit/>
          </a:bodyPr>
          <a:lstStyle/>
          <a:p>
            <a:pPr algn="l"/>
            <a:r>
              <a:rPr sz="969" b="1">
                <a:solidFill>
                  <a:srgbClr val="D7792D"/>
                </a:solidFill>
                <a:latin typeface="Aptos"/>
              </a:rPr>
              <a:t>Combined control rises to the top</a:t>
            </a:r>
          </a:p>
        </p:txBody>
      </p:sp>
      <p:sp>
        <p:nvSpPr>
          <p:cNvPr id="28" name="TextBox 27"/>
          <p:cNvSpPr txBox="1"/>
          <p:nvPr/>
        </p:nvSpPr>
        <p:spPr>
          <a:xfrm>
            <a:off x="6601968" y="2633472"/>
            <a:ext cx="4407408" cy="201168"/>
          </a:xfrm>
          <a:prstGeom prst="rect">
            <a:avLst/>
          </a:prstGeom>
          <a:noFill/>
        </p:spPr>
        <p:txBody>
          <a:bodyPr wrap="square" lIns="36576" tIns="36576" rIns="36576" bIns="36576" anchor="t">
            <a:spAutoFit/>
          </a:bodyPr>
          <a:lstStyle/>
          <a:p>
            <a:pPr algn="l"/>
            <a:r>
              <a:rPr sz="840" b="0">
                <a:solidFill>
                  <a:srgbClr val="172033"/>
                </a:solidFill>
                <a:latin typeface="Aptos"/>
              </a:rPr>
              <a:t>E4 reaches 65.02%, narrowly above E2/E3.</a:t>
            </a:r>
          </a:p>
        </p:txBody>
      </p:sp>
      <p:sp>
        <p:nvSpPr>
          <p:cNvPr id="29" name="TextBox 28"/>
          <p:cNvSpPr txBox="1"/>
          <p:nvPr/>
        </p:nvSpPr>
        <p:spPr>
          <a:xfrm>
            <a:off x="6601968" y="2907791"/>
            <a:ext cx="4407408" cy="164592"/>
          </a:xfrm>
          <a:prstGeom prst="rect">
            <a:avLst/>
          </a:prstGeom>
          <a:noFill/>
        </p:spPr>
        <p:txBody>
          <a:bodyPr wrap="square" lIns="36576" tIns="36576" rIns="36576" bIns="36576" anchor="t">
            <a:spAutoFit/>
          </a:bodyPr>
          <a:lstStyle/>
          <a:p>
            <a:pPr algn="l"/>
            <a:r>
              <a:rPr sz="740" b="0">
                <a:solidFill>
                  <a:srgbClr val="5B6577"/>
                </a:solidFill>
                <a:latin typeface="Aptos"/>
              </a:rPr>
              <a:t>Supports dynamic joint control.</a:t>
            </a:r>
          </a:p>
        </p:txBody>
      </p:sp>
      <p:sp>
        <p:nvSpPr>
          <p:cNvPr id="30" name="Rounded Rectangle 29"/>
          <p:cNvSpPr/>
          <p:nvPr/>
        </p:nvSpPr>
        <p:spPr>
          <a:xfrm>
            <a:off x="6455664" y="3429000"/>
            <a:ext cx="4736592" cy="987552"/>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601968" y="3557016"/>
            <a:ext cx="4407408" cy="173736"/>
          </a:xfrm>
          <a:prstGeom prst="rect">
            <a:avLst/>
          </a:prstGeom>
          <a:noFill/>
        </p:spPr>
        <p:txBody>
          <a:bodyPr wrap="square" lIns="36576" tIns="36576" rIns="36576" bIns="36576" anchor="t">
            <a:spAutoFit/>
          </a:bodyPr>
          <a:lstStyle/>
          <a:p>
            <a:pPr algn="l"/>
            <a:r>
              <a:rPr sz="969" b="1">
                <a:solidFill>
                  <a:srgbClr val="D7792D"/>
                </a:solidFill>
                <a:latin typeface="Aptos"/>
              </a:rPr>
              <a:t>Adaptive batch saves even more work</a:t>
            </a:r>
          </a:p>
        </p:txBody>
      </p:sp>
      <p:sp>
        <p:nvSpPr>
          <p:cNvPr id="32" name="TextBox 31"/>
          <p:cNvSpPr txBox="1"/>
          <p:nvPr/>
        </p:nvSpPr>
        <p:spPr>
          <a:xfrm>
            <a:off x="6601968" y="3813048"/>
            <a:ext cx="4407408" cy="201168"/>
          </a:xfrm>
          <a:prstGeom prst="rect">
            <a:avLst/>
          </a:prstGeom>
          <a:noFill/>
        </p:spPr>
        <p:txBody>
          <a:bodyPr wrap="square" lIns="36576" tIns="36576" rIns="36576" bIns="36576" anchor="t">
            <a:spAutoFit/>
          </a:bodyPr>
          <a:lstStyle/>
          <a:p>
            <a:pPr algn="l"/>
            <a:r>
              <a:rPr sz="840" b="0">
                <a:solidFill>
                  <a:srgbClr val="172033"/>
                </a:solidFill>
                <a:latin typeface="Aptos"/>
              </a:rPr>
              <a:t>E2/E4 cut updates by ~65% vs E1.</a:t>
            </a:r>
          </a:p>
        </p:txBody>
      </p:sp>
      <p:sp>
        <p:nvSpPr>
          <p:cNvPr id="33" name="TextBox 32"/>
          <p:cNvSpPr txBox="1"/>
          <p:nvPr/>
        </p:nvSpPr>
        <p:spPr>
          <a:xfrm>
            <a:off x="6601968" y="4087368"/>
            <a:ext cx="4407408" cy="164592"/>
          </a:xfrm>
          <a:prstGeom prst="rect">
            <a:avLst/>
          </a:prstGeom>
          <a:noFill/>
        </p:spPr>
        <p:txBody>
          <a:bodyPr wrap="square" lIns="36576" tIns="36576" rIns="36576" bIns="36576" anchor="t">
            <a:spAutoFit/>
          </a:bodyPr>
          <a:lstStyle/>
          <a:p>
            <a:pPr algn="l"/>
            <a:r>
              <a:rPr sz="740" b="0">
                <a:solidFill>
                  <a:srgbClr val="5B6577"/>
                </a:solidFill>
                <a:latin typeface="Aptos"/>
              </a:rPr>
              <a:t>Longer run amplifies update savings.</a:t>
            </a:r>
          </a:p>
        </p:txBody>
      </p:sp>
      <p:sp>
        <p:nvSpPr>
          <p:cNvPr id="34" name="Rounded Rectangle 33"/>
          <p:cNvSpPr/>
          <p:nvPr/>
        </p:nvSpPr>
        <p:spPr>
          <a:xfrm>
            <a:off x="6455664" y="4608576"/>
            <a:ext cx="4736592" cy="987552"/>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601968" y="4736592"/>
            <a:ext cx="4407408" cy="173736"/>
          </a:xfrm>
          <a:prstGeom prst="rect">
            <a:avLst/>
          </a:prstGeom>
          <a:noFill/>
        </p:spPr>
        <p:txBody>
          <a:bodyPr wrap="square" lIns="36576" tIns="36576" rIns="36576" bIns="36576" anchor="t">
            <a:spAutoFit/>
          </a:bodyPr>
          <a:lstStyle/>
          <a:p>
            <a:pPr algn="l"/>
            <a:r>
              <a:rPr sz="969" b="1">
                <a:solidFill>
                  <a:srgbClr val="D7792D"/>
                </a:solidFill>
                <a:latin typeface="Aptos"/>
              </a:rPr>
              <a:t>Differences are very small</a:t>
            </a:r>
          </a:p>
        </p:txBody>
      </p:sp>
      <p:sp>
        <p:nvSpPr>
          <p:cNvPr id="36" name="TextBox 35"/>
          <p:cNvSpPr txBox="1"/>
          <p:nvPr/>
        </p:nvSpPr>
        <p:spPr>
          <a:xfrm>
            <a:off x="6601968" y="4992624"/>
            <a:ext cx="4407408" cy="201168"/>
          </a:xfrm>
          <a:prstGeom prst="rect">
            <a:avLst/>
          </a:prstGeom>
          <a:noFill/>
        </p:spPr>
        <p:txBody>
          <a:bodyPr wrap="square" lIns="36576" tIns="36576" rIns="36576" bIns="36576" anchor="t">
            <a:spAutoFit/>
          </a:bodyPr>
          <a:lstStyle/>
          <a:p>
            <a:pPr algn="l"/>
            <a:r>
              <a:rPr sz="840" b="0">
                <a:solidFill>
                  <a:srgbClr val="172033"/>
                </a:solidFill>
                <a:latin typeface="Aptos"/>
              </a:rPr>
              <a:t>E2–E4 are within 0.18 percentage points.</a:t>
            </a:r>
          </a:p>
        </p:txBody>
      </p:sp>
      <p:sp>
        <p:nvSpPr>
          <p:cNvPr id="37" name="TextBox 36"/>
          <p:cNvSpPr txBox="1"/>
          <p:nvPr/>
        </p:nvSpPr>
        <p:spPr>
          <a:xfrm>
            <a:off x="6601968" y="5266944"/>
            <a:ext cx="4407408" cy="164592"/>
          </a:xfrm>
          <a:prstGeom prst="rect">
            <a:avLst/>
          </a:prstGeom>
          <a:noFill/>
        </p:spPr>
        <p:txBody>
          <a:bodyPr wrap="square" lIns="36576" tIns="36576" rIns="36576" bIns="36576" anchor="t">
            <a:spAutoFit/>
          </a:bodyPr>
          <a:lstStyle/>
          <a:p>
            <a:pPr algn="l"/>
            <a:r>
              <a:rPr sz="740" b="0">
                <a:solidFill>
                  <a:srgbClr val="5B6577"/>
                </a:solidFill>
                <a:latin typeface="Aptos"/>
              </a:rPr>
              <a:t>Single-seed results do not establish superiority.</a:t>
            </a:r>
          </a:p>
        </p:txBody>
      </p:sp>
      <p:sp>
        <p:nvSpPr>
          <p:cNvPr id="38" name="Rounded Rectangle 37"/>
          <p:cNvSpPr/>
          <p:nvPr/>
        </p:nvSpPr>
        <p:spPr>
          <a:xfrm>
            <a:off x="758952" y="5650992"/>
            <a:ext cx="10442448" cy="566928"/>
          </a:xfrm>
          <a:prstGeom prst="roundRect">
            <a:avLst>
              <a:gd name="adj" fmla="val 8000"/>
            </a:avLst>
          </a:prstGeom>
          <a:solidFill>
            <a:srgbClr val="E8F5F4"/>
          </a:solidFill>
          <a:ln w="12700">
            <a:solidFill>
              <a:srgbClr val="E8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96112" y="5696712"/>
            <a:ext cx="2788920" cy="256032"/>
          </a:xfrm>
          <a:prstGeom prst="rect">
            <a:avLst/>
          </a:prstGeom>
          <a:noFill/>
        </p:spPr>
        <p:txBody>
          <a:bodyPr wrap="square" lIns="0" tIns="0" rIns="0" bIns="0" anchor="t">
            <a:spAutoFit/>
          </a:bodyPr>
          <a:lstStyle/>
          <a:p>
            <a:r>
              <a:rPr sz="800" b="1">
                <a:solidFill>
                  <a:srgbClr val="0F8B8D"/>
                </a:solidFill>
                <a:latin typeface="Aptos"/>
              </a:rPr>
              <a:t>Architecture comparison — archived 6-layer CNN vs current 12-layer DeeperCNNWide</a:t>
            </a:r>
          </a:p>
        </p:txBody>
      </p:sp>
      <p:sp>
        <p:nvSpPr>
          <p:cNvPr id="40" name="TextBox 39"/>
          <p:cNvSpPr txBox="1"/>
          <p:nvPr/>
        </p:nvSpPr>
        <p:spPr>
          <a:xfrm>
            <a:off x="3611880" y="5696712"/>
            <a:ext cx="2770632" cy="228600"/>
          </a:xfrm>
          <a:prstGeom prst="rect">
            <a:avLst/>
          </a:prstGeom>
          <a:noFill/>
        </p:spPr>
        <p:txBody>
          <a:bodyPr wrap="square" lIns="0" tIns="0" rIns="0" bIns="0" anchor="t">
            <a:spAutoFit/>
          </a:bodyPr>
          <a:lstStyle/>
          <a:p>
            <a:r>
              <a:rPr sz="760" b="1">
                <a:solidFill>
                  <a:srgbClr val="172033"/>
                </a:solidFill>
                <a:latin typeface="Aptos"/>
              </a:rPr>
              <a:t>CIFAR-10:  6-layer 73.98%  →  12-layer 86.34%  (+12.36 pp)</a:t>
            </a:r>
          </a:p>
        </p:txBody>
      </p:sp>
      <p:sp>
        <p:nvSpPr>
          <p:cNvPr id="41" name="TextBox 40"/>
          <p:cNvSpPr txBox="1"/>
          <p:nvPr/>
        </p:nvSpPr>
        <p:spPr>
          <a:xfrm>
            <a:off x="6428232" y="5696712"/>
            <a:ext cx="2907792" cy="228600"/>
          </a:xfrm>
          <a:prstGeom prst="rect">
            <a:avLst/>
          </a:prstGeom>
          <a:noFill/>
        </p:spPr>
        <p:txBody>
          <a:bodyPr wrap="square" lIns="0" tIns="0" rIns="0" bIns="0" anchor="t">
            <a:spAutoFit/>
          </a:bodyPr>
          <a:lstStyle/>
          <a:p>
            <a:r>
              <a:rPr sz="760" b="1">
                <a:solidFill>
                  <a:srgbClr val="172033"/>
                </a:solidFill>
                <a:latin typeface="Aptos"/>
              </a:rPr>
              <a:t>CIFAR-100:  6-layer 42.20%  →  12-layer 65.02%  (+22.82 pp)</a:t>
            </a:r>
          </a:p>
        </p:txBody>
      </p:sp>
      <p:sp>
        <p:nvSpPr>
          <p:cNvPr id="42" name="TextBox 41"/>
          <p:cNvSpPr txBox="1"/>
          <p:nvPr/>
        </p:nvSpPr>
        <p:spPr>
          <a:xfrm>
            <a:off x="9390888" y="5650992"/>
            <a:ext cx="1627632" cy="420624"/>
          </a:xfrm>
          <a:prstGeom prst="rect">
            <a:avLst/>
          </a:prstGeom>
          <a:noFill/>
        </p:spPr>
        <p:txBody>
          <a:bodyPr wrap="square" lIns="0" tIns="0" rIns="0" bIns="0" anchor="t">
            <a:spAutoFit/>
          </a:bodyPr>
          <a:lstStyle/>
          <a:p>
            <a:r>
              <a:rPr sz="700" b="0">
                <a:solidFill>
                  <a:srgbClr val="5B6577"/>
                </a:solidFill>
                <a:latin typeface="Aptos"/>
              </a:rPr>
              <a:t>Exploratory context only: the archived 6-layer runs in data.zip used different schedules/budgets, so this is not a controlled architecture ablation.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Box 1"/>
          <p:cNvSpPr txBox="1"/>
          <p:nvPr/>
        </p:nvSpPr>
        <p:spPr>
          <a:xfrm>
            <a:off x="566928" y="347472"/>
            <a:ext cx="10789920" cy="411480"/>
          </a:xfrm>
          <a:prstGeom prst="rect">
            <a:avLst/>
          </a:prstGeom>
          <a:noFill/>
        </p:spPr>
        <p:txBody>
          <a:bodyPr wrap="square" lIns="36576" tIns="36576" rIns="36576" bIns="36576" anchor="t">
            <a:spAutoFit/>
          </a:bodyPr>
          <a:lstStyle/>
          <a:p>
            <a:pPr algn="l"/>
            <a:r>
              <a:rPr sz="2400" b="1">
                <a:solidFill>
                  <a:srgbClr val="172033"/>
                </a:solidFill>
                <a:latin typeface="Aptos Display"/>
              </a:rPr>
              <a:t>Limitations and next steps — compare what remains</a:t>
            </a:r>
          </a:p>
        </p:txBody>
      </p:sp>
      <p:sp>
        <p:nvSpPr>
          <p:cNvPr id="3" name="TextBox 2"/>
          <p:cNvSpPr txBox="1"/>
          <p:nvPr/>
        </p:nvSpPr>
        <p:spPr>
          <a:xfrm>
            <a:off x="585216" y="832104"/>
            <a:ext cx="10744200" cy="301752"/>
          </a:xfrm>
          <a:prstGeom prst="rect">
            <a:avLst/>
          </a:prstGeom>
          <a:noFill/>
        </p:spPr>
        <p:txBody>
          <a:bodyPr wrap="square" lIns="36576" tIns="36576" rIns="36576" bIns="36576" anchor="t">
            <a:spAutoFit/>
          </a:bodyPr>
          <a:lstStyle/>
          <a:p>
            <a:pPr algn="l"/>
            <a:r>
              <a:rPr sz="1050" b="0">
                <a:solidFill>
                  <a:srgbClr val="5B6577"/>
                </a:solidFill>
                <a:latin typeface="Aptos"/>
              </a:rPr>
              <a:t>The two suites strengthen the story, but they are not yet a statistical study.</a:t>
            </a:r>
          </a:p>
        </p:txBody>
      </p:sp>
      <p:sp>
        <p:nvSpPr>
          <p:cNvPr id="4" name="Rounded Rectangle 3"/>
          <p:cNvSpPr/>
          <p:nvPr/>
        </p:nvSpPr>
        <p:spPr>
          <a:xfrm>
            <a:off x="585216" y="1225296"/>
            <a:ext cx="1417320" cy="256032"/>
          </a:xfrm>
          <a:prstGeom prst="roundRect">
            <a:avLst>
              <a:gd name="adj" fmla="val 8000"/>
            </a:avLst>
          </a:prstGeom>
          <a:solidFill>
            <a:srgbClr val="E8F5F4"/>
          </a:solidFill>
          <a:ln w="12700">
            <a:solidFill>
              <a:srgbClr val="E8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67512" y="1271016"/>
            <a:ext cx="1234440" cy="128016"/>
          </a:xfrm>
          <a:prstGeom prst="rect">
            <a:avLst/>
          </a:prstGeom>
          <a:noFill/>
        </p:spPr>
        <p:txBody>
          <a:bodyPr wrap="square" lIns="0" tIns="0" rIns="0" bIns="0" anchor="ctr">
            <a:spAutoFit/>
          </a:bodyPr>
          <a:lstStyle/>
          <a:p>
            <a:pPr algn="ctr"/>
            <a:r>
              <a:rPr sz="760" b="1">
                <a:solidFill>
                  <a:srgbClr val="0F8B8D"/>
                </a:solidFill>
                <a:latin typeface="Aptos"/>
              </a:rPr>
              <a:t>NEXT STEPS</a:t>
            </a:r>
          </a:p>
        </p:txBody>
      </p:sp>
      <p:sp>
        <p:nvSpPr>
          <p:cNvPr id="6" name="TextBox 5"/>
          <p:cNvSpPr txBox="1"/>
          <p:nvPr/>
        </p:nvSpPr>
        <p:spPr>
          <a:xfrm>
            <a:off x="11384280" y="6446520"/>
            <a:ext cx="320040" cy="182880"/>
          </a:xfrm>
          <a:prstGeom prst="rect">
            <a:avLst/>
          </a:prstGeom>
          <a:noFill/>
        </p:spPr>
        <p:txBody>
          <a:bodyPr wrap="square" lIns="36576" tIns="36576" rIns="36576" bIns="36576" anchor="t">
            <a:spAutoFit/>
          </a:bodyPr>
          <a:lstStyle/>
          <a:p>
            <a:r>
              <a:rPr sz="800">
                <a:solidFill>
                  <a:srgbClr val="5B6577"/>
                </a:solidFill>
                <a:latin typeface="Aptos"/>
              </a:rPr>
              <a:t>17</a:t>
            </a:r>
          </a:p>
        </p:txBody>
      </p:sp>
      <p:sp>
        <p:nvSpPr>
          <p:cNvPr id="7" name="Rectangle 6"/>
          <p:cNvSpPr/>
          <p:nvPr/>
        </p:nvSpPr>
        <p:spPr>
          <a:xfrm>
            <a:off x="6044184" y="1527048"/>
            <a:ext cx="18288" cy="4553712"/>
          </a:xfrm>
          <a:prstGeom prst="rect">
            <a:avLst/>
          </a:prstGeom>
          <a:solidFill>
            <a:srgbClr val="D8E0E8"/>
          </a:solidFill>
          <a:ln>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76072" y="1572768"/>
            <a:ext cx="5230368" cy="475488"/>
          </a:xfrm>
          <a:prstGeom prst="roundRect">
            <a:avLst>
              <a:gd name="adj" fmla="val 8000"/>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300216" y="1572768"/>
            <a:ext cx="5285232" cy="475488"/>
          </a:xfrm>
          <a:prstGeom prst="roundRect">
            <a:avLst>
              <a:gd name="adj" fmla="val 8000"/>
            </a:avLst>
          </a:prstGeom>
          <a:solidFill>
            <a:srgbClr val="FCF4EB"/>
          </a:solidFill>
          <a:ln w="12700">
            <a:solidFill>
              <a:srgbClr val="FCF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664208"/>
            <a:ext cx="1645920" cy="201168"/>
          </a:xfrm>
          <a:prstGeom prst="rect">
            <a:avLst/>
          </a:prstGeom>
          <a:noFill/>
        </p:spPr>
        <p:txBody>
          <a:bodyPr wrap="square" lIns="36576" tIns="36576" rIns="36576" bIns="36576" anchor="t">
            <a:spAutoFit/>
          </a:bodyPr>
          <a:lstStyle/>
          <a:p>
            <a:pPr algn="l"/>
            <a:r>
              <a:rPr sz="1700" b="1">
                <a:solidFill>
                  <a:srgbClr val="315A8A"/>
                </a:solidFill>
                <a:latin typeface="Aptos"/>
              </a:rPr>
              <a:t>CIFAR-10</a:t>
            </a:r>
          </a:p>
        </p:txBody>
      </p:sp>
      <p:sp>
        <p:nvSpPr>
          <p:cNvPr id="11" name="TextBox 10"/>
          <p:cNvSpPr txBox="1"/>
          <p:nvPr/>
        </p:nvSpPr>
        <p:spPr>
          <a:xfrm>
            <a:off x="2176272" y="1691640"/>
            <a:ext cx="3429000" cy="164592"/>
          </a:xfrm>
          <a:prstGeom prst="rect">
            <a:avLst/>
          </a:prstGeom>
          <a:noFill/>
        </p:spPr>
        <p:txBody>
          <a:bodyPr wrap="square" lIns="36576" tIns="36576" rIns="36576" bIns="36576" anchor="t">
            <a:spAutoFit/>
          </a:bodyPr>
          <a:lstStyle/>
          <a:p>
            <a:pPr algn="r"/>
            <a:r>
              <a:rPr sz="869" b="0">
                <a:solidFill>
                  <a:srgbClr val="5B6577"/>
                </a:solidFill>
                <a:latin typeface="Aptos"/>
              </a:rPr>
              <a:t>Current CIFAR-10 suite</a:t>
            </a:r>
          </a:p>
        </p:txBody>
      </p:sp>
      <p:sp>
        <p:nvSpPr>
          <p:cNvPr id="12" name="TextBox 11"/>
          <p:cNvSpPr txBox="1"/>
          <p:nvPr/>
        </p:nvSpPr>
        <p:spPr>
          <a:xfrm>
            <a:off x="6473952" y="1664208"/>
            <a:ext cx="1828800" cy="201168"/>
          </a:xfrm>
          <a:prstGeom prst="rect">
            <a:avLst/>
          </a:prstGeom>
          <a:noFill/>
        </p:spPr>
        <p:txBody>
          <a:bodyPr wrap="square" lIns="36576" tIns="36576" rIns="36576" bIns="36576" anchor="t">
            <a:spAutoFit/>
          </a:bodyPr>
          <a:lstStyle/>
          <a:p>
            <a:pPr algn="l"/>
            <a:r>
              <a:rPr sz="1700" b="1">
                <a:solidFill>
                  <a:srgbClr val="D7792D"/>
                </a:solidFill>
                <a:latin typeface="Aptos"/>
              </a:rPr>
              <a:t>CIFAR-100</a:t>
            </a:r>
          </a:p>
        </p:txBody>
      </p:sp>
      <p:sp>
        <p:nvSpPr>
          <p:cNvPr id="13" name="TextBox 12"/>
          <p:cNvSpPr txBox="1"/>
          <p:nvPr/>
        </p:nvSpPr>
        <p:spPr>
          <a:xfrm>
            <a:off x="8275320" y="1691640"/>
            <a:ext cx="3054096" cy="164592"/>
          </a:xfrm>
          <a:prstGeom prst="rect">
            <a:avLst/>
          </a:prstGeom>
          <a:noFill/>
        </p:spPr>
        <p:txBody>
          <a:bodyPr wrap="square" lIns="36576" tIns="36576" rIns="36576" bIns="36576" anchor="t">
            <a:spAutoFit/>
          </a:bodyPr>
          <a:lstStyle/>
          <a:p>
            <a:pPr algn="r"/>
            <a:r>
              <a:rPr sz="869" b="0">
                <a:solidFill>
                  <a:srgbClr val="5B6577"/>
                </a:solidFill>
                <a:latin typeface="Aptos"/>
              </a:rPr>
              <a:t>Current CIFAR-100 suite</a:t>
            </a:r>
          </a:p>
        </p:txBody>
      </p:sp>
      <p:sp>
        <p:nvSpPr>
          <p:cNvPr id="14" name="Rounded Rectangle 13"/>
          <p:cNvSpPr/>
          <p:nvPr/>
        </p:nvSpPr>
        <p:spPr>
          <a:xfrm>
            <a:off x="749808" y="2267712"/>
            <a:ext cx="4736592" cy="658368"/>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6968" y="2377440"/>
            <a:ext cx="1325880" cy="164592"/>
          </a:xfrm>
          <a:prstGeom prst="rect">
            <a:avLst/>
          </a:prstGeom>
          <a:noFill/>
        </p:spPr>
        <p:txBody>
          <a:bodyPr wrap="square" lIns="36576" tIns="36576" rIns="36576" bIns="36576" anchor="t">
            <a:spAutoFit/>
          </a:bodyPr>
          <a:lstStyle/>
          <a:p>
            <a:pPr algn="l"/>
            <a:r>
              <a:rPr sz="880" b="1">
                <a:solidFill>
                  <a:srgbClr val="315A8A"/>
                </a:solidFill>
                <a:latin typeface="Aptos"/>
              </a:rPr>
              <a:t>Single seed</a:t>
            </a:r>
          </a:p>
        </p:txBody>
      </p:sp>
      <p:sp>
        <p:nvSpPr>
          <p:cNvPr id="16" name="TextBox 15"/>
          <p:cNvSpPr txBox="1"/>
          <p:nvPr/>
        </p:nvSpPr>
        <p:spPr>
          <a:xfrm>
            <a:off x="2194560" y="2368296"/>
            <a:ext cx="3127248" cy="338328"/>
          </a:xfrm>
          <a:prstGeom prst="rect">
            <a:avLst/>
          </a:prstGeom>
          <a:noFill/>
        </p:spPr>
        <p:txBody>
          <a:bodyPr wrap="square" lIns="36576" tIns="36576" rIns="36576" bIns="36576" anchor="t">
            <a:spAutoFit/>
          </a:bodyPr>
          <a:lstStyle/>
          <a:p>
            <a:pPr algn="l"/>
            <a:r>
              <a:rPr sz="819" b="0">
                <a:solidFill>
                  <a:srgbClr val="172033"/>
                </a:solidFill>
                <a:latin typeface="Aptos"/>
              </a:rPr>
              <a:t>Seed 42 only.</a:t>
            </a:r>
          </a:p>
        </p:txBody>
      </p:sp>
      <p:sp>
        <p:nvSpPr>
          <p:cNvPr id="17" name="Rounded Rectangle 16"/>
          <p:cNvSpPr/>
          <p:nvPr/>
        </p:nvSpPr>
        <p:spPr>
          <a:xfrm>
            <a:off x="749808" y="3108960"/>
            <a:ext cx="4736592" cy="658368"/>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86968" y="3218688"/>
            <a:ext cx="1325880" cy="164592"/>
          </a:xfrm>
          <a:prstGeom prst="rect">
            <a:avLst/>
          </a:prstGeom>
          <a:noFill/>
        </p:spPr>
        <p:txBody>
          <a:bodyPr wrap="square" lIns="36576" tIns="36576" rIns="36576" bIns="36576" anchor="t">
            <a:spAutoFit/>
          </a:bodyPr>
          <a:lstStyle/>
          <a:p>
            <a:pPr algn="l"/>
            <a:r>
              <a:rPr sz="880" b="1">
                <a:solidFill>
                  <a:srgbClr val="315A8A"/>
                </a:solidFill>
                <a:latin typeface="Aptos"/>
              </a:rPr>
              <a:t>Validation-selected</a:t>
            </a:r>
          </a:p>
        </p:txBody>
      </p:sp>
      <p:sp>
        <p:nvSpPr>
          <p:cNvPr id="19" name="TextBox 18"/>
          <p:cNvSpPr txBox="1"/>
          <p:nvPr/>
        </p:nvSpPr>
        <p:spPr>
          <a:xfrm>
            <a:off x="2194560" y="3209544"/>
            <a:ext cx="3127248" cy="338328"/>
          </a:xfrm>
          <a:prstGeom prst="rect">
            <a:avLst/>
          </a:prstGeom>
          <a:noFill/>
        </p:spPr>
        <p:txBody>
          <a:bodyPr wrap="square" lIns="36576" tIns="36576" rIns="36576" bIns="36576" anchor="t">
            <a:spAutoFit/>
          </a:bodyPr>
          <a:lstStyle/>
          <a:p>
            <a:pPr algn="l"/>
            <a:r>
              <a:rPr sz="819" b="0">
                <a:solidFill>
                  <a:srgbClr val="172033"/>
                </a:solidFill>
                <a:latin typeface="Aptos"/>
              </a:rPr>
              <a:t>Official test remains separate for this midterm suite.</a:t>
            </a:r>
          </a:p>
        </p:txBody>
      </p:sp>
      <p:sp>
        <p:nvSpPr>
          <p:cNvPr id="20" name="Rounded Rectangle 19"/>
          <p:cNvSpPr/>
          <p:nvPr/>
        </p:nvSpPr>
        <p:spPr>
          <a:xfrm>
            <a:off x="749808" y="3950208"/>
            <a:ext cx="4736592" cy="658368"/>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86968" y="4059936"/>
            <a:ext cx="1325880" cy="164592"/>
          </a:xfrm>
          <a:prstGeom prst="rect">
            <a:avLst/>
          </a:prstGeom>
          <a:noFill/>
        </p:spPr>
        <p:txBody>
          <a:bodyPr wrap="square" lIns="36576" tIns="36576" rIns="36576" bIns="36576" anchor="t">
            <a:spAutoFit/>
          </a:bodyPr>
          <a:lstStyle/>
          <a:p>
            <a:pPr algn="l"/>
            <a:r>
              <a:rPr sz="880" b="1">
                <a:solidFill>
                  <a:srgbClr val="315A8A"/>
                </a:solidFill>
                <a:latin typeface="Aptos"/>
              </a:rPr>
              <a:t>80-epoch budget</a:t>
            </a:r>
          </a:p>
        </p:txBody>
      </p:sp>
      <p:sp>
        <p:nvSpPr>
          <p:cNvPr id="22" name="TextBox 21"/>
          <p:cNvSpPr txBox="1"/>
          <p:nvPr/>
        </p:nvSpPr>
        <p:spPr>
          <a:xfrm>
            <a:off x="2194560" y="4050792"/>
            <a:ext cx="3127248" cy="338328"/>
          </a:xfrm>
          <a:prstGeom prst="rect">
            <a:avLst/>
          </a:prstGeom>
          <a:noFill/>
        </p:spPr>
        <p:txBody>
          <a:bodyPr wrap="square" lIns="36576" tIns="36576" rIns="36576" bIns="36576" anchor="t">
            <a:spAutoFit/>
          </a:bodyPr>
          <a:lstStyle/>
          <a:p>
            <a:pPr algn="l"/>
            <a:r>
              <a:rPr sz="819" b="0">
                <a:solidFill>
                  <a:srgbClr val="172033"/>
                </a:solidFill>
                <a:latin typeface="Aptos"/>
              </a:rPr>
              <a:t>May favor a different controller timing than longer training.</a:t>
            </a:r>
          </a:p>
        </p:txBody>
      </p:sp>
      <p:sp>
        <p:nvSpPr>
          <p:cNvPr id="23" name="Rounded Rectangle 22"/>
          <p:cNvSpPr/>
          <p:nvPr/>
        </p:nvSpPr>
        <p:spPr>
          <a:xfrm>
            <a:off x="749808" y="4791456"/>
            <a:ext cx="4736592" cy="658368"/>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86968" y="4901184"/>
            <a:ext cx="1325880" cy="164592"/>
          </a:xfrm>
          <a:prstGeom prst="rect">
            <a:avLst/>
          </a:prstGeom>
          <a:noFill/>
        </p:spPr>
        <p:txBody>
          <a:bodyPr wrap="square" lIns="36576" tIns="36576" rIns="36576" bIns="36576" anchor="t">
            <a:spAutoFit/>
          </a:bodyPr>
          <a:lstStyle/>
          <a:p>
            <a:pPr algn="l"/>
            <a:r>
              <a:rPr sz="880" b="1">
                <a:solidFill>
                  <a:srgbClr val="315A8A"/>
                </a:solidFill>
                <a:latin typeface="Aptos"/>
              </a:rPr>
              <a:t>Next</a:t>
            </a:r>
          </a:p>
        </p:txBody>
      </p:sp>
      <p:sp>
        <p:nvSpPr>
          <p:cNvPr id="25" name="TextBox 24"/>
          <p:cNvSpPr txBox="1"/>
          <p:nvPr/>
        </p:nvSpPr>
        <p:spPr>
          <a:xfrm>
            <a:off x="2194560" y="4892040"/>
            <a:ext cx="3127248" cy="338328"/>
          </a:xfrm>
          <a:prstGeom prst="rect">
            <a:avLst/>
          </a:prstGeom>
          <a:noFill/>
        </p:spPr>
        <p:txBody>
          <a:bodyPr wrap="square" lIns="36576" tIns="36576" rIns="36576" bIns="36576" anchor="t">
            <a:spAutoFit/>
          </a:bodyPr>
          <a:lstStyle/>
          <a:p>
            <a:pPr algn="l"/>
            <a:r>
              <a:rPr sz="819" b="0">
                <a:solidFill>
                  <a:srgbClr val="172033"/>
                </a:solidFill>
                <a:latin typeface="Aptos"/>
              </a:rPr>
              <a:t>Repeat seeds; sensitivity analysis; freeze final protocol.</a:t>
            </a:r>
          </a:p>
        </p:txBody>
      </p:sp>
      <p:sp>
        <p:nvSpPr>
          <p:cNvPr id="26" name="Rounded Rectangle 25"/>
          <p:cNvSpPr/>
          <p:nvPr/>
        </p:nvSpPr>
        <p:spPr>
          <a:xfrm>
            <a:off x="6455664" y="2267712"/>
            <a:ext cx="4736592" cy="658368"/>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92824" y="2377440"/>
            <a:ext cx="1325880" cy="164592"/>
          </a:xfrm>
          <a:prstGeom prst="rect">
            <a:avLst/>
          </a:prstGeom>
          <a:noFill/>
        </p:spPr>
        <p:txBody>
          <a:bodyPr wrap="square" lIns="36576" tIns="36576" rIns="36576" bIns="36576" anchor="t">
            <a:spAutoFit/>
          </a:bodyPr>
          <a:lstStyle/>
          <a:p>
            <a:pPr algn="l"/>
            <a:r>
              <a:rPr sz="880" b="1">
                <a:solidFill>
                  <a:srgbClr val="D7792D"/>
                </a:solidFill>
                <a:latin typeface="Aptos"/>
              </a:rPr>
              <a:t>Single seed</a:t>
            </a:r>
          </a:p>
        </p:txBody>
      </p:sp>
      <p:sp>
        <p:nvSpPr>
          <p:cNvPr id="28" name="TextBox 27"/>
          <p:cNvSpPr txBox="1"/>
          <p:nvPr/>
        </p:nvSpPr>
        <p:spPr>
          <a:xfrm>
            <a:off x="7900416" y="2368296"/>
            <a:ext cx="3127248" cy="338328"/>
          </a:xfrm>
          <a:prstGeom prst="rect">
            <a:avLst/>
          </a:prstGeom>
          <a:noFill/>
        </p:spPr>
        <p:txBody>
          <a:bodyPr wrap="square" lIns="36576" tIns="36576" rIns="36576" bIns="36576" anchor="t">
            <a:spAutoFit/>
          </a:bodyPr>
          <a:lstStyle/>
          <a:p>
            <a:pPr algn="l"/>
            <a:r>
              <a:rPr sz="819" b="0">
                <a:solidFill>
                  <a:srgbClr val="172033"/>
                </a:solidFill>
                <a:latin typeface="Aptos"/>
              </a:rPr>
              <a:t>Seed 42 only.</a:t>
            </a:r>
          </a:p>
        </p:txBody>
      </p:sp>
      <p:sp>
        <p:nvSpPr>
          <p:cNvPr id="29" name="Rounded Rectangle 28"/>
          <p:cNvSpPr/>
          <p:nvPr/>
        </p:nvSpPr>
        <p:spPr>
          <a:xfrm>
            <a:off x="6455664" y="3108960"/>
            <a:ext cx="4736592" cy="658368"/>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592824" y="3218688"/>
            <a:ext cx="1325880" cy="164592"/>
          </a:xfrm>
          <a:prstGeom prst="rect">
            <a:avLst/>
          </a:prstGeom>
          <a:noFill/>
        </p:spPr>
        <p:txBody>
          <a:bodyPr wrap="square" lIns="36576" tIns="36576" rIns="36576" bIns="36576" anchor="t">
            <a:spAutoFit/>
          </a:bodyPr>
          <a:lstStyle/>
          <a:p>
            <a:pPr algn="l"/>
            <a:r>
              <a:rPr sz="880" b="1">
                <a:solidFill>
                  <a:srgbClr val="D7792D"/>
                </a:solidFill>
                <a:latin typeface="Aptos"/>
              </a:rPr>
              <a:t>Validation-selected</a:t>
            </a:r>
          </a:p>
        </p:txBody>
      </p:sp>
      <p:sp>
        <p:nvSpPr>
          <p:cNvPr id="31" name="TextBox 30"/>
          <p:cNvSpPr txBox="1"/>
          <p:nvPr/>
        </p:nvSpPr>
        <p:spPr>
          <a:xfrm>
            <a:off x="7900416" y="3209544"/>
            <a:ext cx="3127248" cy="338328"/>
          </a:xfrm>
          <a:prstGeom prst="rect">
            <a:avLst/>
          </a:prstGeom>
          <a:noFill/>
        </p:spPr>
        <p:txBody>
          <a:bodyPr wrap="square" lIns="36576" tIns="36576" rIns="36576" bIns="36576" anchor="t">
            <a:spAutoFit/>
          </a:bodyPr>
          <a:lstStyle/>
          <a:p>
            <a:pPr algn="l"/>
            <a:r>
              <a:rPr sz="819" b="0">
                <a:solidFill>
                  <a:srgbClr val="172033"/>
                </a:solidFill>
                <a:latin typeface="Aptos"/>
              </a:rPr>
              <a:t>Do not overinterpret E4’s 0.14–0.18 pp edge.</a:t>
            </a:r>
          </a:p>
        </p:txBody>
      </p:sp>
      <p:sp>
        <p:nvSpPr>
          <p:cNvPr id="32" name="Rounded Rectangle 31"/>
          <p:cNvSpPr/>
          <p:nvPr/>
        </p:nvSpPr>
        <p:spPr>
          <a:xfrm>
            <a:off x="6455664" y="3950208"/>
            <a:ext cx="4736592" cy="658368"/>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592824" y="4059936"/>
            <a:ext cx="1325880" cy="164592"/>
          </a:xfrm>
          <a:prstGeom prst="rect">
            <a:avLst/>
          </a:prstGeom>
          <a:noFill/>
        </p:spPr>
        <p:txBody>
          <a:bodyPr wrap="square" lIns="36576" tIns="36576" rIns="36576" bIns="36576" anchor="t">
            <a:spAutoFit/>
          </a:bodyPr>
          <a:lstStyle/>
          <a:p>
            <a:pPr algn="l"/>
            <a:r>
              <a:rPr sz="880" b="1">
                <a:solidFill>
                  <a:srgbClr val="D7792D"/>
                </a:solidFill>
                <a:latin typeface="Aptos"/>
              </a:rPr>
              <a:t>120-epoch budget</a:t>
            </a:r>
          </a:p>
        </p:txBody>
      </p:sp>
      <p:sp>
        <p:nvSpPr>
          <p:cNvPr id="34" name="TextBox 33"/>
          <p:cNvSpPr txBox="1"/>
          <p:nvPr/>
        </p:nvSpPr>
        <p:spPr>
          <a:xfrm>
            <a:off x="7900416" y="4050792"/>
            <a:ext cx="3127248" cy="338328"/>
          </a:xfrm>
          <a:prstGeom prst="rect">
            <a:avLst/>
          </a:prstGeom>
          <a:noFill/>
        </p:spPr>
        <p:txBody>
          <a:bodyPr wrap="square" lIns="36576" tIns="36576" rIns="36576" bIns="36576" anchor="t">
            <a:spAutoFit/>
          </a:bodyPr>
          <a:lstStyle/>
          <a:p>
            <a:pPr algn="l"/>
            <a:r>
              <a:rPr sz="819" b="0">
                <a:solidFill>
                  <a:srgbClr val="172033"/>
                </a:solidFill>
                <a:latin typeface="Aptos"/>
              </a:rPr>
              <a:t>Not directly pooled with CIFAR-10 because budgets differ.</a:t>
            </a:r>
          </a:p>
        </p:txBody>
      </p:sp>
      <p:sp>
        <p:nvSpPr>
          <p:cNvPr id="35" name="Rounded Rectangle 34"/>
          <p:cNvSpPr/>
          <p:nvPr/>
        </p:nvSpPr>
        <p:spPr>
          <a:xfrm>
            <a:off x="6455664" y="4791456"/>
            <a:ext cx="4736592" cy="658368"/>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592824" y="4901184"/>
            <a:ext cx="1325880" cy="164592"/>
          </a:xfrm>
          <a:prstGeom prst="rect">
            <a:avLst/>
          </a:prstGeom>
          <a:noFill/>
        </p:spPr>
        <p:txBody>
          <a:bodyPr wrap="square" lIns="36576" tIns="36576" rIns="36576" bIns="36576" anchor="t">
            <a:spAutoFit/>
          </a:bodyPr>
          <a:lstStyle/>
          <a:p>
            <a:pPr algn="l"/>
            <a:r>
              <a:rPr sz="880" b="1">
                <a:solidFill>
                  <a:srgbClr val="D7792D"/>
                </a:solidFill>
                <a:latin typeface="Aptos"/>
              </a:rPr>
              <a:t>Next</a:t>
            </a:r>
          </a:p>
        </p:txBody>
      </p:sp>
      <p:sp>
        <p:nvSpPr>
          <p:cNvPr id="37" name="TextBox 36"/>
          <p:cNvSpPr txBox="1"/>
          <p:nvPr/>
        </p:nvSpPr>
        <p:spPr>
          <a:xfrm>
            <a:off x="7900416" y="4892040"/>
            <a:ext cx="3127248" cy="338328"/>
          </a:xfrm>
          <a:prstGeom prst="rect">
            <a:avLst/>
          </a:prstGeom>
          <a:noFill/>
        </p:spPr>
        <p:txBody>
          <a:bodyPr wrap="square" lIns="36576" tIns="36576" rIns="36576" bIns="36576" anchor="t">
            <a:spAutoFit/>
          </a:bodyPr>
          <a:lstStyle/>
          <a:p>
            <a:pPr algn="l"/>
            <a:r>
              <a:rPr sz="819" b="0">
                <a:solidFill>
                  <a:srgbClr val="172033"/>
                </a:solidFill>
                <a:latin typeface="Aptos"/>
              </a:rPr>
              <a:t>Repeat seeds; matched-budget study; final test after freeze.</a:t>
            </a:r>
          </a:p>
        </p:txBody>
      </p:sp>
      <p:sp>
        <p:nvSpPr>
          <p:cNvPr id="38" name="Rounded Rectangle 37"/>
          <p:cNvSpPr/>
          <p:nvPr/>
        </p:nvSpPr>
        <p:spPr>
          <a:xfrm>
            <a:off x="758952" y="5815584"/>
            <a:ext cx="10442448" cy="384048"/>
          </a:xfrm>
          <a:prstGeom prst="roundRect">
            <a:avLst>
              <a:gd name="adj" fmla="val 8000"/>
            </a:avLst>
          </a:prstGeom>
          <a:solidFill>
            <a:srgbClr val="F4F7FA"/>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69264" y="5916168"/>
            <a:ext cx="10021824" cy="164592"/>
          </a:xfrm>
          <a:prstGeom prst="rect">
            <a:avLst/>
          </a:prstGeom>
          <a:noFill/>
        </p:spPr>
        <p:txBody>
          <a:bodyPr wrap="square" lIns="36576" tIns="36576" rIns="36576" bIns="36576" anchor="t">
            <a:spAutoFit/>
          </a:bodyPr>
          <a:lstStyle/>
          <a:p>
            <a:pPr algn="ctr"/>
            <a:r>
              <a:rPr sz="860" b="1">
                <a:solidFill>
                  <a:srgbClr val="172033"/>
                </a:solidFill>
                <a:latin typeface="Aptos"/>
              </a:rPr>
              <a:t>Final reporting goal: accuracy + macro F1 + optimizer updates + wall-clock time, with mean ± std across repeated seeds.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Box 1"/>
          <p:cNvSpPr txBox="1"/>
          <p:nvPr/>
        </p:nvSpPr>
        <p:spPr>
          <a:xfrm>
            <a:off x="566928" y="347472"/>
            <a:ext cx="10789920" cy="411480"/>
          </a:xfrm>
          <a:prstGeom prst="rect">
            <a:avLst/>
          </a:prstGeom>
          <a:noFill/>
        </p:spPr>
        <p:txBody>
          <a:bodyPr wrap="square" lIns="36576" tIns="36576" rIns="36576" bIns="36576" anchor="t">
            <a:spAutoFit/>
          </a:bodyPr>
          <a:lstStyle/>
          <a:p>
            <a:pPr algn="l"/>
            <a:r>
              <a:rPr sz="2400" b="1">
                <a:solidFill>
                  <a:srgbClr val="172033"/>
                </a:solidFill>
                <a:latin typeface="Aptos Display"/>
              </a:rPr>
              <a:t>Midterm takeaway — the answer changes by dataset</a:t>
            </a:r>
          </a:p>
        </p:txBody>
      </p:sp>
      <p:sp>
        <p:nvSpPr>
          <p:cNvPr id="3" name="TextBox 2"/>
          <p:cNvSpPr txBox="1"/>
          <p:nvPr/>
        </p:nvSpPr>
        <p:spPr>
          <a:xfrm>
            <a:off x="585216" y="832104"/>
            <a:ext cx="10744200" cy="301752"/>
          </a:xfrm>
          <a:prstGeom prst="rect">
            <a:avLst/>
          </a:prstGeom>
          <a:noFill/>
        </p:spPr>
        <p:txBody>
          <a:bodyPr wrap="square" lIns="36576" tIns="36576" rIns="36576" bIns="36576" anchor="t">
            <a:spAutoFit/>
          </a:bodyPr>
          <a:lstStyle/>
          <a:p>
            <a:pPr algn="l"/>
            <a:r>
              <a:rPr sz="1050" b="0">
                <a:solidFill>
                  <a:srgbClr val="5B6577"/>
                </a:solidFill>
                <a:latin typeface="Aptos"/>
              </a:rPr>
              <a:t>The system works on both tasks, and the comparison reveals the tradeoff more clearly.</a:t>
            </a:r>
          </a:p>
        </p:txBody>
      </p:sp>
      <p:sp>
        <p:nvSpPr>
          <p:cNvPr id="4" name="Rounded Rectangle 3"/>
          <p:cNvSpPr/>
          <p:nvPr/>
        </p:nvSpPr>
        <p:spPr>
          <a:xfrm>
            <a:off x="585216" y="1225296"/>
            <a:ext cx="1417320" cy="256032"/>
          </a:xfrm>
          <a:prstGeom prst="roundRect">
            <a:avLst>
              <a:gd name="adj" fmla="val 8000"/>
            </a:avLst>
          </a:prstGeom>
          <a:solidFill>
            <a:srgbClr val="E8F5F4"/>
          </a:solidFill>
          <a:ln w="12700">
            <a:solidFill>
              <a:srgbClr val="E8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67512" y="1271016"/>
            <a:ext cx="1234440" cy="128016"/>
          </a:xfrm>
          <a:prstGeom prst="rect">
            <a:avLst/>
          </a:prstGeom>
          <a:noFill/>
        </p:spPr>
        <p:txBody>
          <a:bodyPr wrap="square" lIns="0" tIns="0" rIns="0" bIns="0" anchor="ctr">
            <a:spAutoFit/>
          </a:bodyPr>
          <a:lstStyle/>
          <a:p>
            <a:pPr algn="ctr"/>
            <a:r>
              <a:rPr sz="760" b="1">
                <a:solidFill>
                  <a:srgbClr val="0F8B8D"/>
                </a:solidFill>
                <a:latin typeface="Aptos"/>
              </a:rPr>
              <a:t>CONCLUSION</a:t>
            </a:r>
          </a:p>
        </p:txBody>
      </p:sp>
      <p:sp>
        <p:nvSpPr>
          <p:cNvPr id="6" name="TextBox 5"/>
          <p:cNvSpPr txBox="1"/>
          <p:nvPr/>
        </p:nvSpPr>
        <p:spPr>
          <a:xfrm>
            <a:off x="11384280" y="6446520"/>
            <a:ext cx="320040" cy="182880"/>
          </a:xfrm>
          <a:prstGeom prst="rect">
            <a:avLst/>
          </a:prstGeom>
          <a:noFill/>
        </p:spPr>
        <p:txBody>
          <a:bodyPr wrap="square" lIns="36576" tIns="36576" rIns="36576" bIns="36576" anchor="t">
            <a:spAutoFit/>
          </a:bodyPr>
          <a:lstStyle/>
          <a:p>
            <a:r>
              <a:rPr sz="800">
                <a:solidFill>
                  <a:srgbClr val="5B6577"/>
                </a:solidFill>
                <a:latin typeface="Aptos"/>
              </a:rPr>
              <a:t>18</a:t>
            </a:r>
          </a:p>
        </p:txBody>
      </p:sp>
      <p:sp>
        <p:nvSpPr>
          <p:cNvPr id="7" name="Rectangle 6"/>
          <p:cNvSpPr/>
          <p:nvPr/>
        </p:nvSpPr>
        <p:spPr>
          <a:xfrm>
            <a:off x="6044184" y="1527048"/>
            <a:ext cx="18288" cy="4553712"/>
          </a:xfrm>
          <a:prstGeom prst="rect">
            <a:avLst/>
          </a:prstGeom>
          <a:solidFill>
            <a:srgbClr val="D8E0E8"/>
          </a:solidFill>
          <a:ln>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76072" y="1572768"/>
            <a:ext cx="5230368" cy="475488"/>
          </a:xfrm>
          <a:prstGeom prst="roundRect">
            <a:avLst>
              <a:gd name="adj" fmla="val 8000"/>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300216" y="1572768"/>
            <a:ext cx="5285232" cy="475488"/>
          </a:xfrm>
          <a:prstGeom prst="roundRect">
            <a:avLst>
              <a:gd name="adj" fmla="val 8000"/>
            </a:avLst>
          </a:prstGeom>
          <a:solidFill>
            <a:srgbClr val="FCF4EB"/>
          </a:solidFill>
          <a:ln w="12700">
            <a:solidFill>
              <a:srgbClr val="FCF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664208"/>
            <a:ext cx="1645920" cy="201168"/>
          </a:xfrm>
          <a:prstGeom prst="rect">
            <a:avLst/>
          </a:prstGeom>
          <a:noFill/>
        </p:spPr>
        <p:txBody>
          <a:bodyPr wrap="square" lIns="36576" tIns="36576" rIns="36576" bIns="36576" anchor="t">
            <a:spAutoFit/>
          </a:bodyPr>
          <a:lstStyle/>
          <a:p>
            <a:pPr algn="l"/>
            <a:r>
              <a:rPr sz="1700" b="1">
                <a:solidFill>
                  <a:srgbClr val="315A8A"/>
                </a:solidFill>
                <a:latin typeface="Aptos"/>
              </a:rPr>
              <a:t>CIFAR-10</a:t>
            </a:r>
          </a:p>
        </p:txBody>
      </p:sp>
      <p:sp>
        <p:nvSpPr>
          <p:cNvPr id="11" name="TextBox 10"/>
          <p:cNvSpPr txBox="1"/>
          <p:nvPr/>
        </p:nvSpPr>
        <p:spPr>
          <a:xfrm>
            <a:off x="2176272" y="1691640"/>
            <a:ext cx="3429000" cy="164592"/>
          </a:xfrm>
          <a:prstGeom prst="rect">
            <a:avLst/>
          </a:prstGeom>
          <a:noFill/>
        </p:spPr>
        <p:txBody>
          <a:bodyPr wrap="square" lIns="36576" tIns="36576" rIns="36576" bIns="36576" anchor="t">
            <a:spAutoFit/>
          </a:bodyPr>
          <a:lstStyle/>
          <a:p>
            <a:pPr algn="r"/>
            <a:r>
              <a:rPr sz="869" b="0">
                <a:solidFill>
                  <a:srgbClr val="5B6577"/>
                </a:solidFill>
                <a:latin typeface="Aptos"/>
              </a:rPr>
              <a:t>CIFAR-10 • 80 epochs</a:t>
            </a:r>
          </a:p>
        </p:txBody>
      </p:sp>
      <p:sp>
        <p:nvSpPr>
          <p:cNvPr id="12" name="TextBox 11"/>
          <p:cNvSpPr txBox="1"/>
          <p:nvPr/>
        </p:nvSpPr>
        <p:spPr>
          <a:xfrm>
            <a:off x="6473952" y="1664208"/>
            <a:ext cx="1828800" cy="201168"/>
          </a:xfrm>
          <a:prstGeom prst="rect">
            <a:avLst/>
          </a:prstGeom>
          <a:noFill/>
        </p:spPr>
        <p:txBody>
          <a:bodyPr wrap="square" lIns="36576" tIns="36576" rIns="36576" bIns="36576" anchor="t">
            <a:spAutoFit/>
          </a:bodyPr>
          <a:lstStyle/>
          <a:p>
            <a:pPr algn="l"/>
            <a:r>
              <a:rPr sz="1700" b="1">
                <a:solidFill>
                  <a:srgbClr val="D7792D"/>
                </a:solidFill>
                <a:latin typeface="Aptos"/>
              </a:rPr>
              <a:t>CIFAR-100</a:t>
            </a:r>
          </a:p>
        </p:txBody>
      </p:sp>
      <p:sp>
        <p:nvSpPr>
          <p:cNvPr id="13" name="TextBox 12"/>
          <p:cNvSpPr txBox="1"/>
          <p:nvPr/>
        </p:nvSpPr>
        <p:spPr>
          <a:xfrm>
            <a:off x="8275320" y="1691640"/>
            <a:ext cx="3054096" cy="164592"/>
          </a:xfrm>
          <a:prstGeom prst="rect">
            <a:avLst/>
          </a:prstGeom>
          <a:noFill/>
        </p:spPr>
        <p:txBody>
          <a:bodyPr wrap="square" lIns="36576" tIns="36576" rIns="36576" bIns="36576" anchor="t">
            <a:spAutoFit/>
          </a:bodyPr>
          <a:lstStyle/>
          <a:p>
            <a:pPr algn="r"/>
            <a:r>
              <a:rPr sz="869" b="0">
                <a:solidFill>
                  <a:srgbClr val="5B6577"/>
                </a:solidFill>
                <a:latin typeface="Aptos"/>
              </a:rPr>
              <a:t>CIFAR-100 • 120 epochs</a:t>
            </a:r>
          </a:p>
        </p:txBody>
      </p:sp>
      <p:sp>
        <p:nvSpPr>
          <p:cNvPr id="14" name="Rounded Rectangle 13"/>
          <p:cNvSpPr/>
          <p:nvPr/>
        </p:nvSpPr>
        <p:spPr>
          <a:xfrm>
            <a:off x="841248" y="2313432"/>
            <a:ext cx="2121408" cy="822960"/>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9264" y="2423160"/>
            <a:ext cx="1865376" cy="137160"/>
          </a:xfrm>
          <a:prstGeom prst="rect">
            <a:avLst/>
          </a:prstGeom>
          <a:noFill/>
        </p:spPr>
        <p:txBody>
          <a:bodyPr wrap="square" lIns="36576" tIns="36576" rIns="36576" bIns="36576" anchor="t">
            <a:spAutoFit/>
          </a:bodyPr>
          <a:lstStyle/>
          <a:p>
            <a:pPr algn="l"/>
            <a:r>
              <a:rPr sz="740" b="1">
                <a:solidFill>
                  <a:srgbClr val="5B6577"/>
                </a:solidFill>
                <a:latin typeface="Aptos"/>
              </a:rPr>
              <a:t>BEST ACCURACY</a:t>
            </a:r>
          </a:p>
        </p:txBody>
      </p:sp>
      <p:sp>
        <p:nvSpPr>
          <p:cNvPr id="16" name="TextBox 15"/>
          <p:cNvSpPr txBox="1"/>
          <p:nvPr/>
        </p:nvSpPr>
        <p:spPr>
          <a:xfrm>
            <a:off x="969264" y="2587751"/>
            <a:ext cx="1865376" cy="283464"/>
          </a:xfrm>
          <a:prstGeom prst="rect">
            <a:avLst/>
          </a:prstGeom>
          <a:noFill/>
        </p:spPr>
        <p:txBody>
          <a:bodyPr wrap="square" lIns="36576" tIns="36576" rIns="36576" bIns="36576" anchor="t">
            <a:spAutoFit/>
          </a:bodyPr>
          <a:lstStyle/>
          <a:p>
            <a:pPr algn="l"/>
            <a:r>
              <a:rPr sz="1800" b="1">
                <a:solidFill>
                  <a:srgbClr val="315A8A"/>
                </a:solidFill>
                <a:latin typeface="Aptos Display"/>
              </a:rPr>
              <a:t>86.34%</a:t>
            </a:r>
          </a:p>
        </p:txBody>
      </p:sp>
      <p:sp>
        <p:nvSpPr>
          <p:cNvPr id="17" name="TextBox 16"/>
          <p:cNvSpPr txBox="1"/>
          <p:nvPr/>
        </p:nvSpPr>
        <p:spPr>
          <a:xfrm>
            <a:off x="969264" y="2907791"/>
            <a:ext cx="1865376" cy="128016"/>
          </a:xfrm>
          <a:prstGeom prst="rect">
            <a:avLst/>
          </a:prstGeom>
          <a:noFill/>
        </p:spPr>
        <p:txBody>
          <a:bodyPr wrap="square" lIns="36576" tIns="36576" rIns="36576" bIns="36576" anchor="t">
            <a:spAutoFit/>
          </a:bodyPr>
          <a:lstStyle/>
          <a:p>
            <a:pPr algn="l"/>
            <a:r>
              <a:rPr sz="710" b="0">
                <a:solidFill>
                  <a:srgbClr val="5B6577"/>
                </a:solidFill>
                <a:latin typeface="Aptos"/>
              </a:rPr>
              <a:t>E3: adaptive LR</a:t>
            </a:r>
          </a:p>
        </p:txBody>
      </p:sp>
      <p:sp>
        <p:nvSpPr>
          <p:cNvPr id="18" name="Rounded Rectangle 17"/>
          <p:cNvSpPr/>
          <p:nvPr/>
        </p:nvSpPr>
        <p:spPr>
          <a:xfrm>
            <a:off x="3191256" y="2313432"/>
            <a:ext cx="2121408" cy="822960"/>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319272" y="2423160"/>
            <a:ext cx="1865376" cy="137160"/>
          </a:xfrm>
          <a:prstGeom prst="rect">
            <a:avLst/>
          </a:prstGeom>
          <a:noFill/>
        </p:spPr>
        <p:txBody>
          <a:bodyPr wrap="square" lIns="36576" tIns="36576" rIns="36576" bIns="36576" anchor="t">
            <a:spAutoFit/>
          </a:bodyPr>
          <a:lstStyle/>
          <a:p>
            <a:pPr algn="l"/>
            <a:r>
              <a:rPr sz="740" b="1">
                <a:solidFill>
                  <a:srgbClr val="5B6577"/>
                </a:solidFill>
                <a:latin typeface="Aptos"/>
              </a:rPr>
              <a:t>BEST TRADEOFF</a:t>
            </a:r>
          </a:p>
        </p:txBody>
      </p:sp>
      <p:sp>
        <p:nvSpPr>
          <p:cNvPr id="20" name="TextBox 19"/>
          <p:cNvSpPr txBox="1"/>
          <p:nvPr/>
        </p:nvSpPr>
        <p:spPr>
          <a:xfrm>
            <a:off x="3319272" y="2587751"/>
            <a:ext cx="1865376" cy="283464"/>
          </a:xfrm>
          <a:prstGeom prst="rect">
            <a:avLst/>
          </a:prstGeom>
          <a:noFill/>
        </p:spPr>
        <p:txBody>
          <a:bodyPr wrap="square" lIns="36576" tIns="36576" rIns="36576" bIns="36576" anchor="t">
            <a:spAutoFit/>
          </a:bodyPr>
          <a:lstStyle/>
          <a:p>
            <a:pPr algn="l"/>
            <a:r>
              <a:rPr sz="1800" b="1">
                <a:solidFill>
                  <a:srgbClr val="315A8A"/>
                </a:solidFill>
                <a:latin typeface="Aptos Display"/>
              </a:rPr>
              <a:t>E2</a:t>
            </a:r>
          </a:p>
        </p:txBody>
      </p:sp>
      <p:sp>
        <p:nvSpPr>
          <p:cNvPr id="21" name="TextBox 20"/>
          <p:cNvSpPr txBox="1"/>
          <p:nvPr/>
        </p:nvSpPr>
        <p:spPr>
          <a:xfrm>
            <a:off x="3319272" y="2907791"/>
            <a:ext cx="1865376" cy="128016"/>
          </a:xfrm>
          <a:prstGeom prst="rect">
            <a:avLst/>
          </a:prstGeom>
          <a:noFill/>
        </p:spPr>
        <p:txBody>
          <a:bodyPr wrap="square" lIns="36576" tIns="36576" rIns="36576" bIns="36576" anchor="t">
            <a:spAutoFit/>
          </a:bodyPr>
          <a:lstStyle/>
          <a:p>
            <a:pPr algn="l"/>
            <a:r>
              <a:rPr sz="710" b="0">
                <a:solidFill>
                  <a:srgbClr val="5B6577"/>
                </a:solidFill>
                <a:latin typeface="Aptos"/>
              </a:rPr>
              <a:t>85.02% • −42.7% updates</a:t>
            </a:r>
          </a:p>
        </p:txBody>
      </p:sp>
      <p:sp>
        <p:nvSpPr>
          <p:cNvPr id="22" name="Rounded Rectangle 21"/>
          <p:cNvSpPr/>
          <p:nvPr/>
        </p:nvSpPr>
        <p:spPr>
          <a:xfrm>
            <a:off x="6547104" y="2313432"/>
            <a:ext cx="2121408" cy="822960"/>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675120" y="2423160"/>
            <a:ext cx="1865376" cy="137160"/>
          </a:xfrm>
          <a:prstGeom prst="rect">
            <a:avLst/>
          </a:prstGeom>
          <a:noFill/>
        </p:spPr>
        <p:txBody>
          <a:bodyPr wrap="square" lIns="36576" tIns="36576" rIns="36576" bIns="36576" anchor="t">
            <a:spAutoFit/>
          </a:bodyPr>
          <a:lstStyle/>
          <a:p>
            <a:pPr algn="l"/>
            <a:r>
              <a:rPr sz="740" b="1">
                <a:solidFill>
                  <a:srgbClr val="5B6577"/>
                </a:solidFill>
                <a:latin typeface="Aptos"/>
              </a:rPr>
              <a:t>BEST ACCURACY</a:t>
            </a:r>
          </a:p>
        </p:txBody>
      </p:sp>
      <p:sp>
        <p:nvSpPr>
          <p:cNvPr id="24" name="TextBox 23"/>
          <p:cNvSpPr txBox="1"/>
          <p:nvPr/>
        </p:nvSpPr>
        <p:spPr>
          <a:xfrm>
            <a:off x="6675120" y="2587751"/>
            <a:ext cx="1865376" cy="283464"/>
          </a:xfrm>
          <a:prstGeom prst="rect">
            <a:avLst/>
          </a:prstGeom>
          <a:noFill/>
        </p:spPr>
        <p:txBody>
          <a:bodyPr wrap="square" lIns="36576" tIns="36576" rIns="36576" bIns="36576" anchor="t">
            <a:spAutoFit/>
          </a:bodyPr>
          <a:lstStyle/>
          <a:p>
            <a:pPr algn="l"/>
            <a:r>
              <a:rPr sz="1800" b="1">
                <a:solidFill>
                  <a:srgbClr val="D7792D"/>
                </a:solidFill>
                <a:latin typeface="Aptos Display"/>
              </a:rPr>
              <a:t>65.02%</a:t>
            </a:r>
          </a:p>
        </p:txBody>
      </p:sp>
      <p:sp>
        <p:nvSpPr>
          <p:cNvPr id="25" name="TextBox 24"/>
          <p:cNvSpPr txBox="1"/>
          <p:nvPr/>
        </p:nvSpPr>
        <p:spPr>
          <a:xfrm>
            <a:off x="6675120" y="2907791"/>
            <a:ext cx="1865376" cy="128016"/>
          </a:xfrm>
          <a:prstGeom prst="rect">
            <a:avLst/>
          </a:prstGeom>
          <a:noFill/>
        </p:spPr>
        <p:txBody>
          <a:bodyPr wrap="square" lIns="36576" tIns="36576" rIns="36576" bIns="36576" anchor="t">
            <a:spAutoFit/>
          </a:bodyPr>
          <a:lstStyle/>
          <a:p>
            <a:pPr algn="l"/>
            <a:r>
              <a:rPr sz="710" b="0">
                <a:solidFill>
                  <a:srgbClr val="5B6577"/>
                </a:solidFill>
                <a:latin typeface="Aptos"/>
              </a:rPr>
              <a:t>E4: adaptive batch + LR</a:t>
            </a:r>
          </a:p>
        </p:txBody>
      </p:sp>
      <p:sp>
        <p:nvSpPr>
          <p:cNvPr id="26" name="Rounded Rectangle 25"/>
          <p:cNvSpPr/>
          <p:nvPr/>
        </p:nvSpPr>
        <p:spPr>
          <a:xfrm>
            <a:off x="8897112" y="2313432"/>
            <a:ext cx="2121408" cy="822960"/>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025128" y="2423160"/>
            <a:ext cx="1865376" cy="137160"/>
          </a:xfrm>
          <a:prstGeom prst="rect">
            <a:avLst/>
          </a:prstGeom>
          <a:noFill/>
        </p:spPr>
        <p:txBody>
          <a:bodyPr wrap="square" lIns="36576" tIns="36576" rIns="36576" bIns="36576" anchor="t">
            <a:spAutoFit/>
          </a:bodyPr>
          <a:lstStyle/>
          <a:p>
            <a:pPr algn="l"/>
            <a:r>
              <a:rPr sz="740" b="1">
                <a:solidFill>
                  <a:srgbClr val="5B6577"/>
                </a:solidFill>
                <a:latin typeface="Aptos"/>
              </a:rPr>
              <a:t>FEWEST UPDATES</a:t>
            </a:r>
          </a:p>
        </p:txBody>
      </p:sp>
      <p:sp>
        <p:nvSpPr>
          <p:cNvPr id="28" name="TextBox 27"/>
          <p:cNvSpPr txBox="1"/>
          <p:nvPr/>
        </p:nvSpPr>
        <p:spPr>
          <a:xfrm>
            <a:off x="9025128" y="2587751"/>
            <a:ext cx="1865376" cy="283464"/>
          </a:xfrm>
          <a:prstGeom prst="rect">
            <a:avLst/>
          </a:prstGeom>
          <a:noFill/>
        </p:spPr>
        <p:txBody>
          <a:bodyPr wrap="square" lIns="36576" tIns="36576" rIns="36576" bIns="36576" anchor="t">
            <a:spAutoFit/>
          </a:bodyPr>
          <a:lstStyle/>
          <a:p>
            <a:pPr algn="l"/>
            <a:r>
              <a:rPr sz="1800" b="1">
                <a:solidFill>
                  <a:srgbClr val="D7792D"/>
                </a:solidFill>
                <a:latin typeface="Aptos Display"/>
              </a:rPr>
              <a:t>59.3k</a:t>
            </a:r>
          </a:p>
        </p:txBody>
      </p:sp>
      <p:sp>
        <p:nvSpPr>
          <p:cNvPr id="29" name="TextBox 28"/>
          <p:cNvSpPr txBox="1"/>
          <p:nvPr/>
        </p:nvSpPr>
        <p:spPr>
          <a:xfrm>
            <a:off x="9025128" y="2907791"/>
            <a:ext cx="1865376" cy="128016"/>
          </a:xfrm>
          <a:prstGeom prst="rect">
            <a:avLst/>
          </a:prstGeom>
          <a:noFill/>
        </p:spPr>
        <p:txBody>
          <a:bodyPr wrap="square" lIns="36576" tIns="36576" rIns="36576" bIns="36576" anchor="t">
            <a:spAutoFit/>
          </a:bodyPr>
          <a:lstStyle/>
          <a:p>
            <a:pPr algn="l"/>
            <a:r>
              <a:rPr sz="710" b="0">
                <a:solidFill>
                  <a:srgbClr val="5B6577"/>
                </a:solidFill>
                <a:latin typeface="Aptos"/>
              </a:rPr>
              <a:t>E2: −64.9% vs E1</a:t>
            </a:r>
          </a:p>
        </p:txBody>
      </p:sp>
      <p:sp>
        <p:nvSpPr>
          <p:cNvPr id="30" name="Rounded Rectangle 29"/>
          <p:cNvSpPr/>
          <p:nvPr/>
        </p:nvSpPr>
        <p:spPr>
          <a:xfrm>
            <a:off x="841248" y="3401568"/>
            <a:ext cx="4471416" cy="1591056"/>
          </a:xfrm>
          <a:prstGeom prst="roundRect">
            <a:avLst>
              <a:gd name="adj" fmla="val 8000"/>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14984" y="3566160"/>
            <a:ext cx="1371600" cy="182880"/>
          </a:xfrm>
          <a:prstGeom prst="rect">
            <a:avLst/>
          </a:prstGeom>
          <a:noFill/>
        </p:spPr>
        <p:txBody>
          <a:bodyPr wrap="square" lIns="36576" tIns="36576" rIns="36576" bIns="36576" anchor="t">
            <a:spAutoFit/>
          </a:bodyPr>
          <a:lstStyle/>
          <a:p>
            <a:pPr algn="l"/>
            <a:r>
              <a:rPr sz="1019" b="1">
                <a:solidFill>
                  <a:srgbClr val="315A8A"/>
                </a:solidFill>
                <a:latin typeface="Aptos"/>
              </a:rPr>
              <a:t>Interpretation</a:t>
            </a:r>
          </a:p>
        </p:txBody>
      </p:sp>
      <p:sp>
        <p:nvSpPr>
          <p:cNvPr id="32" name="TextBox 31"/>
          <p:cNvSpPr txBox="1"/>
          <p:nvPr/>
        </p:nvSpPr>
        <p:spPr>
          <a:xfrm>
            <a:off x="1014984" y="3886200"/>
            <a:ext cx="4096512" cy="795528"/>
          </a:xfrm>
          <a:prstGeom prst="rect">
            <a:avLst/>
          </a:prstGeom>
          <a:noFill/>
        </p:spPr>
        <p:txBody>
          <a:bodyPr wrap="square" lIns="36576" tIns="36576" rIns="36576" bIns="36576" anchor="t">
            <a:spAutoFit/>
          </a:bodyPr>
          <a:lstStyle/>
          <a:p>
            <a:pPr algn="l"/>
            <a:r>
              <a:rPr sz="940" b="0">
                <a:solidFill>
                  <a:srgbClr val="172033"/>
                </a:solidFill>
                <a:latin typeface="Aptos"/>
              </a:rPr>
              <a:t>Adaptive LR gives the strongest selected accuracy. Adaptive batch adds a clear optimization-step advantage, but combining both does not yet improve selected accuracy.</a:t>
            </a:r>
          </a:p>
        </p:txBody>
      </p:sp>
      <p:sp>
        <p:nvSpPr>
          <p:cNvPr id="33" name="Rounded Rectangle 32"/>
          <p:cNvSpPr/>
          <p:nvPr/>
        </p:nvSpPr>
        <p:spPr>
          <a:xfrm>
            <a:off x="6547104" y="3401568"/>
            <a:ext cx="4471416" cy="1591056"/>
          </a:xfrm>
          <a:prstGeom prst="roundRect">
            <a:avLst>
              <a:gd name="adj" fmla="val 8000"/>
            </a:avLst>
          </a:prstGeom>
          <a:solidFill>
            <a:srgbClr val="FCF4EB"/>
          </a:solidFill>
          <a:ln w="12700">
            <a:solidFill>
              <a:srgbClr val="FCF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720840" y="3566160"/>
            <a:ext cx="1371600" cy="182880"/>
          </a:xfrm>
          <a:prstGeom prst="rect">
            <a:avLst/>
          </a:prstGeom>
          <a:noFill/>
        </p:spPr>
        <p:txBody>
          <a:bodyPr wrap="square" lIns="36576" tIns="36576" rIns="36576" bIns="36576" anchor="t">
            <a:spAutoFit/>
          </a:bodyPr>
          <a:lstStyle/>
          <a:p>
            <a:pPr algn="l"/>
            <a:r>
              <a:rPr sz="1019" b="1">
                <a:solidFill>
                  <a:srgbClr val="D7792D"/>
                </a:solidFill>
                <a:latin typeface="Aptos"/>
              </a:rPr>
              <a:t>Interpretation</a:t>
            </a:r>
          </a:p>
        </p:txBody>
      </p:sp>
      <p:sp>
        <p:nvSpPr>
          <p:cNvPr id="35" name="TextBox 34"/>
          <p:cNvSpPr txBox="1"/>
          <p:nvPr/>
        </p:nvSpPr>
        <p:spPr>
          <a:xfrm>
            <a:off x="6720840" y="3886200"/>
            <a:ext cx="4096512" cy="795528"/>
          </a:xfrm>
          <a:prstGeom prst="rect">
            <a:avLst/>
          </a:prstGeom>
          <a:noFill/>
        </p:spPr>
        <p:txBody>
          <a:bodyPr wrap="square" lIns="36576" tIns="36576" rIns="36576" bIns="36576" anchor="t">
            <a:spAutoFit/>
          </a:bodyPr>
          <a:lstStyle/>
          <a:p>
            <a:pPr algn="l"/>
            <a:r>
              <a:rPr sz="940" b="0">
                <a:solidFill>
                  <a:srgbClr val="172033"/>
                </a:solidFill>
                <a:latin typeface="Aptos"/>
              </a:rPr>
              <a:t>E4 is narrowly best in selected accuracy while retaining the large update reduction of adaptive batch training. E2/E3/E4 remain extremely close.</a:t>
            </a:r>
          </a:p>
        </p:txBody>
      </p:sp>
      <p:sp>
        <p:nvSpPr>
          <p:cNvPr id="36" name="Rounded Rectangle 35"/>
          <p:cNvSpPr/>
          <p:nvPr/>
        </p:nvSpPr>
        <p:spPr>
          <a:xfrm>
            <a:off x="850392" y="5285232"/>
            <a:ext cx="10177272" cy="594360"/>
          </a:xfrm>
          <a:prstGeom prst="roundRect">
            <a:avLst>
              <a:gd name="adj" fmla="val 8000"/>
            </a:avLst>
          </a:prstGeom>
          <a:solidFill>
            <a:srgbClr val="E8F5F4"/>
          </a:solidFill>
          <a:ln w="12700">
            <a:solidFill>
              <a:srgbClr val="E8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115568" y="5422392"/>
            <a:ext cx="9646920" cy="310896"/>
          </a:xfrm>
          <a:prstGeom prst="rect">
            <a:avLst/>
          </a:prstGeom>
          <a:noFill/>
        </p:spPr>
        <p:txBody>
          <a:bodyPr wrap="square" lIns="36576" tIns="36576" rIns="36576" bIns="36576" anchor="t">
            <a:spAutoFit/>
          </a:bodyPr>
          <a:lstStyle/>
          <a:p>
            <a:pPr algn="ctr"/>
            <a:r>
              <a:rPr sz="950" b="1">
                <a:solidFill>
                  <a:srgbClr val="0F8B8D"/>
                </a:solidFill>
                <a:latin typeface="Aptos"/>
              </a:rPr>
              <a:t>Overall: adaptive training is useful, but there is no evidence yet that one controller universally dominates. The workload determines the accuracy–efficiency tradeoff.</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
          </a:xfrm>
          <a:prstGeom prst="rect">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347472"/>
            <a:ext cx="10789920" cy="411480"/>
          </a:xfrm>
          <a:prstGeom prst="rect">
            <a:avLst/>
          </a:prstGeom>
          <a:noFill/>
        </p:spPr>
        <p:txBody>
          <a:bodyPr wrap="square" lIns="36576" tIns="36576" rIns="36576" bIns="36576" anchor="t">
            <a:spAutoFit/>
          </a:bodyPr>
          <a:lstStyle/>
          <a:p>
            <a:pPr algn="l"/>
            <a:r>
              <a:rPr sz="2400" b="1">
                <a:solidFill>
                  <a:srgbClr val="172033"/>
                </a:solidFill>
                <a:latin typeface="Aptos Display"/>
              </a:rPr>
              <a:t>Deployed midterm demo</a:t>
            </a:r>
          </a:p>
        </p:txBody>
      </p:sp>
      <p:sp>
        <p:nvSpPr>
          <p:cNvPr id="4" name="TextBox 3"/>
          <p:cNvSpPr txBox="1"/>
          <p:nvPr/>
        </p:nvSpPr>
        <p:spPr>
          <a:xfrm>
            <a:off x="585216" y="832104"/>
            <a:ext cx="10744200" cy="301752"/>
          </a:xfrm>
          <a:prstGeom prst="rect">
            <a:avLst/>
          </a:prstGeom>
          <a:noFill/>
        </p:spPr>
        <p:txBody>
          <a:bodyPr wrap="square" lIns="36576" tIns="36576" rIns="36576" bIns="36576" anchor="t">
            <a:spAutoFit/>
          </a:bodyPr>
          <a:lstStyle/>
          <a:p>
            <a:pPr algn="l"/>
            <a:r>
              <a:rPr sz="1050" b="0">
                <a:solidFill>
                  <a:srgbClr val="5B6577"/>
                </a:solidFill>
                <a:latin typeface="Aptos"/>
              </a:rPr>
              <a:t>Public GitHub Pages deployment for the project presentation and Q&amp;A.</a:t>
            </a:r>
          </a:p>
        </p:txBody>
      </p:sp>
      <p:sp>
        <p:nvSpPr>
          <p:cNvPr id="5" name="Rounded Rectangle 4"/>
          <p:cNvSpPr/>
          <p:nvPr/>
        </p:nvSpPr>
        <p:spPr>
          <a:xfrm>
            <a:off x="585216" y="1225296"/>
            <a:ext cx="1508760" cy="256032"/>
          </a:xfrm>
          <a:prstGeom prst="roundRect">
            <a:avLst>
              <a:gd name="adj" fmla="val 8000"/>
            </a:avLst>
          </a:prstGeom>
          <a:solidFill>
            <a:srgbClr val="E8F5F4"/>
          </a:solidFill>
          <a:ln w="12700">
            <a:solidFill>
              <a:srgbClr val="E8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67512" y="1271016"/>
            <a:ext cx="1335024" cy="128016"/>
          </a:xfrm>
          <a:prstGeom prst="rect">
            <a:avLst/>
          </a:prstGeom>
          <a:noFill/>
        </p:spPr>
        <p:txBody>
          <a:bodyPr wrap="square" lIns="0" tIns="0" rIns="0" bIns="0" anchor="ctr">
            <a:spAutoFit/>
          </a:bodyPr>
          <a:lstStyle/>
          <a:p>
            <a:pPr algn="ctr"/>
            <a:r>
              <a:rPr sz="750" b="1">
                <a:solidFill>
                  <a:srgbClr val="0F8B8D"/>
                </a:solidFill>
                <a:latin typeface="Aptos"/>
              </a:rPr>
              <a:t>LIVE DEMO</a:t>
            </a:r>
          </a:p>
        </p:txBody>
      </p:sp>
      <p:sp>
        <p:nvSpPr>
          <p:cNvPr id="7" name="TextBox 6"/>
          <p:cNvSpPr txBox="1"/>
          <p:nvPr/>
        </p:nvSpPr>
        <p:spPr>
          <a:xfrm>
            <a:off x="11384280" y="6446520"/>
            <a:ext cx="320040" cy="182880"/>
          </a:xfrm>
          <a:prstGeom prst="rect">
            <a:avLst/>
          </a:prstGeom>
          <a:noFill/>
        </p:spPr>
        <p:txBody>
          <a:bodyPr wrap="square" lIns="36576" tIns="36576" rIns="36576" bIns="36576" anchor="t">
            <a:spAutoFit/>
          </a:bodyPr>
          <a:lstStyle/>
          <a:p>
            <a:r>
              <a:rPr sz="800">
                <a:solidFill>
                  <a:srgbClr val="5B6577"/>
                </a:solidFill>
                <a:latin typeface="Aptos"/>
              </a:rPr>
              <a:t>19</a:t>
            </a:r>
          </a:p>
        </p:txBody>
      </p:sp>
      <p:sp>
        <p:nvSpPr>
          <p:cNvPr id="8" name="TextBox 7"/>
          <p:cNvSpPr txBox="1"/>
          <p:nvPr/>
        </p:nvSpPr>
        <p:spPr>
          <a:xfrm>
            <a:off x="502920" y="6446520"/>
            <a:ext cx="3108960" cy="164592"/>
          </a:xfrm>
          <a:prstGeom prst="rect">
            <a:avLst/>
          </a:prstGeom>
          <a:noFill/>
        </p:spPr>
        <p:txBody>
          <a:bodyPr wrap="square" lIns="36576" tIns="36576" rIns="36576" bIns="36576" anchor="t">
            <a:spAutoFit/>
          </a:bodyPr>
          <a:lstStyle/>
          <a:p>
            <a:pPr algn="l"/>
            <a:r>
              <a:rPr sz="720" b="0">
                <a:solidFill>
                  <a:srgbClr val="7B8698"/>
                </a:solidFill>
                <a:latin typeface="Aptos"/>
              </a:rPr>
              <a:t>Adaptive Batch Size + Learning Rate • Midterm</a:t>
            </a:r>
          </a:p>
        </p:txBody>
      </p:sp>
      <p:sp>
        <p:nvSpPr>
          <p:cNvPr id="9" name="Rounded Rectangle 8"/>
          <p:cNvSpPr/>
          <p:nvPr/>
        </p:nvSpPr>
        <p:spPr>
          <a:xfrm>
            <a:off x="758952" y="1682496"/>
            <a:ext cx="6537960" cy="4407408"/>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987552" y="1938528"/>
            <a:ext cx="6080760" cy="411480"/>
          </a:xfrm>
          <a:prstGeom prst="roundRect">
            <a:avLst>
              <a:gd name="adj" fmla="val 8000"/>
            </a:avLst>
          </a:prstGeom>
          <a:solidFill>
            <a:srgbClr val="F4F7FA"/>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15568" y="2039112"/>
            <a:ext cx="685800" cy="146304"/>
          </a:xfrm>
          <a:prstGeom prst="rect">
            <a:avLst/>
          </a:prstGeom>
          <a:noFill/>
        </p:spPr>
        <p:txBody>
          <a:bodyPr wrap="square" lIns="0" tIns="0" rIns="0" bIns="0" anchor="t">
            <a:spAutoFit/>
          </a:bodyPr>
          <a:lstStyle/>
          <a:p>
            <a:pPr algn="l"/>
            <a:r>
              <a:rPr sz="860" b="0">
                <a:solidFill>
                  <a:srgbClr val="9BA5B5"/>
                </a:solidFill>
                <a:latin typeface="Aptos"/>
              </a:rPr>
              <a:t>●   ●   ●</a:t>
            </a:r>
          </a:p>
        </p:txBody>
      </p:sp>
      <p:sp>
        <p:nvSpPr>
          <p:cNvPr id="12" name="Rounded Rectangle 11"/>
          <p:cNvSpPr/>
          <p:nvPr/>
        </p:nvSpPr>
        <p:spPr>
          <a:xfrm>
            <a:off x="1874519" y="2002536"/>
            <a:ext cx="4919472" cy="256032"/>
          </a:xfrm>
          <a:prstGeom prst="roundRect">
            <a:avLst>
              <a:gd name="adj" fmla="val 8000"/>
            </a:avLst>
          </a:prstGeom>
          <a:solidFill>
            <a:srgbClr val="FFFFFF"/>
          </a:solidFill>
          <a:ln w="12700">
            <a:solidFill>
              <a:srgbClr val="D8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984248" y="2048256"/>
            <a:ext cx="4681728" cy="137160"/>
          </a:xfrm>
          <a:prstGeom prst="rect">
            <a:avLst/>
          </a:prstGeom>
          <a:noFill/>
        </p:spPr>
        <p:txBody>
          <a:bodyPr wrap="square" lIns="0" tIns="0" rIns="0" bIns="0" anchor="t">
            <a:spAutoFit/>
          </a:bodyPr>
          <a:lstStyle/>
          <a:p>
            <a:pPr algn="l"/>
            <a:r>
              <a:rPr sz="740" b="0">
                <a:solidFill>
                  <a:srgbClr val="315A8A"/>
                </a:solidFill>
                <a:latin typeface="Aptos"/>
                <a:hlinkClick r:id="rId3"/>
              </a:rPr>
              <a:t>https://tharunswaminathan.github.io/adaptive-batch-lr-cifar10/</a:t>
            </a:r>
          </a:p>
        </p:txBody>
      </p:sp>
      <p:sp>
        <p:nvSpPr>
          <p:cNvPr id="14" name="TextBox 13"/>
          <p:cNvSpPr txBox="1"/>
          <p:nvPr/>
        </p:nvSpPr>
        <p:spPr>
          <a:xfrm>
            <a:off x="1115568" y="2670048"/>
            <a:ext cx="5788152" cy="320040"/>
          </a:xfrm>
          <a:prstGeom prst="rect">
            <a:avLst/>
          </a:prstGeom>
          <a:noFill/>
        </p:spPr>
        <p:txBody>
          <a:bodyPr wrap="square" lIns="36576" tIns="36576" rIns="36576" bIns="36576" anchor="t">
            <a:spAutoFit/>
          </a:bodyPr>
          <a:lstStyle/>
          <a:p>
            <a:pPr algn="ctr"/>
            <a:r>
              <a:rPr sz="1800" b="1">
                <a:solidFill>
                  <a:srgbClr val="172033"/>
                </a:solidFill>
                <a:latin typeface="Aptos Display"/>
              </a:rPr>
              <a:t>Adaptive Batch Size + Learning Rate</a:t>
            </a:r>
          </a:p>
        </p:txBody>
      </p:sp>
      <p:sp>
        <p:nvSpPr>
          <p:cNvPr id="15" name="TextBox 14"/>
          <p:cNvSpPr txBox="1"/>
          <p:nvPr/>
        </p:nvSpPr>
        <p:spPr>
          <a:xfrm>
            <a:off x="1115568" y="3081528"/>
            <a:ext cx="5788152" cy="256032"/>
          </a:xfrm>
          <a:prstGeom prst="rect">
            <a:avLst/>
          </a:prstGeom>
          <a:noFill/>
        </p:spPr>
        <p:txBody>
          <a:bodyPr wrap="square" lIns="36576" tIns="36576" rIns="36576" bIns="36576" anchor="t">
            <a:spAutoFit/>
          </a:bodyPr>
          <a:lstStyle/>
          <a:p>
            <a:pPr algn="ctr"/>
            <a:r>
              <a:rPr sz="1100" b="1">
                <a:solidFill>
                  <a:srgbClr val="0F8B8D"/>
                </a:solidFill>
                <a:latin typeface="Aptos"/>
              </a:rPr>
              <a:t>Midterm project demo</a:t>
            </a:r>
          </a:p>
        </p:txBody>
      </p:sp>
      <p:sp>
        <p:nvSpPr>
          <p:cNvPr id="16" name="Rounded Rectangle 15"/>
          <p:cNvSpPr/>
          <p:nvPr/>
        </p:nvSpPr>
        <p:spPr>
          <a:xfrm>
            <a:off x="1234440" y="3703320"/>
            <a:ext cx="5468112" cy="1344168"/>
          </a:xfrm>
          <a:prstGeom prst="roundRect">
            <a:avLst>
              <a:gd name="adj" fmla="val 8000"/>
            </a:avLst>
          </a:prstGeom>
          <a:solidFill>
            <a:srgbClr val="E8F5F4"/>
          </a:solidFill>
          <a:ln w="12700">
            <a:solidFill>
              <a:srgbClr val="E8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508760" y="3968496"/>
            <a:ext cx="4919472" cy="585216"/>
          </a:xfrm>
          <a:prstGeom prst="rect">
            <a:avLst/>
          </a:prstGeom>
          <a:noFill/>
        </p:spPr>
        <p:txBody>
          <a:bodyPr wrap="square" lIns="36576" tIns="36576" rIns="36576" bIns="36576" anchor="ctr">
            <a:spAutoFit/>
          </a:bodyPr>
          <a:lstStyle/>
          <a:p>
            <a:pPr algn="ctr"/>
            <a:r>
              <a:rPr sz="1000" b="0">
                <a:solidFill>
                  <a:srgbClr val="172033"/>
                </a:solidFill>
                <a:latin typeface="Aptos"/>
              </a:rPr>
              <a:t>Open during the presentation to show the deployed project page.
The link is clickable in PowerPoint and the QR code can be scanned from the screen.</a:t>
            </a:r>
          </a:p>
        </p:txBody>
      </p:sp>
      <p:sp>
        <p:nvSpPr>
          <p:cNvPr id="18" name="TextBox 17"/>
          <p:cNvSpPr txBox="1"/>
          <p:nvPr/>
        </p:nvSpPr>
        <p:spPr>
          <a:xfrm>
            <a:off x="1920240" y="5230368"/>
            <a:ext cx="4096512" cy="201168"/>
          </a:xfrm>
          <a:prstGeom prst="rect">
            <a:avLst/>
          </a:prstGeom>
          <a:noFill/>
        </p:spPr>
        <p:txBody>
          <a:bodyPr wrap="square" lIns="36576" tIns="36576" rIns="36576" bIns="36576" anchor="t">
            <a:spAutoFit/>
          </a:bodyPr>
          <a:lstStyle/>
          <a:p>
            <a:pPr algn="ctr"/>
            <a:r>
              <a:rPr sz="900" b="1">
                <a:solidFill>
                  <a:srgbClr val="5B6577"/>
                </a:solidFill>
                <a:latin typeface="Aptos"/>
              </a:rPr>
              <a:t>GitHub Pages deployment</a:t>
            </a:r>
          </a:p>
        </p:txBody>
      </p:sp>
      <p:sp>
        <p:nvSpPr>
          <p:cNvPr id="19" name="Rounded Rectangle 18"/>
          <p:cNvSpPr/>
          <p:nvPr/>
        </p:nvSpPr>
        <p:spPr>
          <a:xfrm>
            <a:off x="7662672" y="1682496"/>
            <a:ext cx="3703320" cy="4407408"/>
          </a:xfrm>
          <a:prstGeom prst="roundRect">
            <a:avLst>
              <a:gd name="adj" fmla="val 8000"/>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138160" y="1993392"/>
            <a:ext cx="2743200" cy="201168"/>
          </a:xfrm>
          <a:prstGeom prst="rect">
            <a:avLst/>
          </a:prstGeom>
          <a:noFill/>
        </p:spPr>
        <p:txBody>
          <a:bodyPr wrap="square" lIns="36576" tIns="36576" rIns="36576" bIns="36576" anchor="t">
            <a:spAutoFit/>
          </a:bodyPr>
          <a:lstStyle/>
          <a:p>
            <a:pPr algn="ctr"/>
            <a:r>
              <a:rPr sz="1100" b="1">
                <a:solidFill>
                  <a:srgbClr val="315A8A"/>
                </a:solidFill>
                <a:latin typeface="Aptos"/>
              </a:rPr>
              <a:t>SCAN TO OPEN</a:t>
            </a:r>
          </a:p>
        </p:txBody>
      </p:sp>
      <p:pic>
        <p:nvPicPr>
          <p:cNvPr id="21" name="Picture 20" descr="midterm_demo_qr.png"/>
          <p:cNvPicPr>
            <a:picLocks noChangeAspect="1"/>
          </p:cNvPicPr>
          <p:nvPr/>
        </p:nvPicPr>
        <p:blipFill>
          <a:blip r:embed="rId4"/>
          <a:stretch>
            <a:fillRect/>
          </a:stretch>
        </p:blipFill>
        <p:spPr>
          <a:xfrm>
            <a:off x="8156448" y="2441448"/>
            <a:ext cx="2697480" cy="2697480"/>
          </a:xfrm>
          <a:prstGeom prst="rect">
            <a:avLst/>
          </a:prstGeom>
        </p:spPr>
      </p:pic>
      <p:sp>
        <p:nvSpPr>
          <p:cNvPr id="22" name="TextBox 21"/>
          <p:cNvSpPr txBox="1"/>
          <p:nvPr/>
        </p:nvSpPr>
        <p:spPr>
          <a:xfrm>
            <a:off x="7927848" y="5285232"/>
            <a:ext cx="3172968" cy="411480"/>
          </a:xfrm>
          <a:prstGeom prst="rect">
            <a:avLst/>
          </a:prstGeom>
          <a:noFill/>
        </p:spPr>
        <p:txBody>
          <a:bodyPr wrap="square" lIns="36576" tIns="36576" rIns="36576" bIns="36576" anchor="t">
            <a:spAutoFit/>
          </a:bodyPr>
          <a:lstStyle/>
          <a:p>
            <a:pPr algn="ctr"/>
            <a:r>
              <a:rPr sz="800" b="1">
                <a:solidFill>
                  <a:srgbClr val="172033"/>
                </a:solidFill>
                <a:latin typeface="Aptos"/>
              </a:rPr>
              <a:t>tharunswaminathan.github.io
/adaptive-batch-lr-cifar10/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Box 1"/>
          <p:cNvSpPr txBox="1"/>
          <p:nvPr/>
        </p:nvSpPr>
        <p:spPr>
          <a:xfrm>
            <a:off x="566928" y="347472"/>
            <a:ext cx="10789920" cy="411480"/>
          </a:xfrm>
          <a:prstGeom prst="rect">
            <a:avLst/>
          </a:prstGeom>
          <a:noFill/>
        </p:spPr>
        <p:txBody>
          <a:bodyPr wrap="square" lIns="36576" tIns="36576" rIns="36576" bIns="36576" anchor="t">
            <a:spAutoFit/>
          </a:bodyPr>
          <a:lstStyle/>
          <a:p>
            <a:pPr algn="l"/>
            <a:r>
              <a:rPr sz="2400" b="1">
                <a:solidFill>
                  <a:srgbClr val="172033"/>
                </a:solidFill>
                <a:latin typeface="Aptos Display"/>
              </a:rPr>
              <a:t>References</a:t>
            </a:r>
          </a:p>
        </p:txBody>
      </p:sp>
      <p:sp>
        <p:nvSpPr>
          <p:cNvPr id="3" name="TextBox 2"/>
          <p:cNvSpPr txBox="1"/>
          <p:nvPr/>
        </p:nvSpPr>
        <p:spPr>
          <a:xfrm>
            <a:off x="585216" y="832104"/>
            <a:ext cx="10744200" cy="301752"/>
          </a:xfrm>
          <a:prstGeom prst="rect">
            <a:avLst/>
          </a:prstGeom>
          <a:noFill/>
        </p:spPr>
        <p:txBody>
          <a:bodyPr wrap="square" lIns="36576" tIns="36576" rIns="36576" bIns="36576" anchor="t">
            <a:spAutoFit/>
          </a:bodyPr>
          <a:lstStyle/>
          <a:p>
            <a:pPr algn="l"/>
            <a:r>
              <a:rPr sz="1050" b="0">
                <a:solidFill>
                  <a:srgbClr val="5B6577"/>
                </a:solidFill>
                <a:latin typeface="Aptos"/>
              </a:rPr>
              <a:t>Core literature used to motivate batch-size, learning-rate, and adaptive-control choices.</a:t>
            </a:r>
          </a:p>
        </p:txBody>
      </p:sp>
      <p:sp>
        <p:nvSpPr>
          <p:cNvPr id="4" name="Rounded Rectangle 3"/>
          <p:cNvSpPr/>
          <p:nvPr/>
        </p:nvSpPr>
        <p:spPr>
          <a:xfrm>
            <a:off x="585216" y="1225296"/>
            <a:ext cx="1417320" cy="256032"/>
          </a:xfrm>
          <a:prstGeom prst="roundRect">
            <a:avLst>
              <a:gd name="adj" fmla="val 8000"/>
            </a:avLst>
          </a:prstGeom>
          <a:solidFill>
            <a:srgbClr val="E8F5F4"/>
          </a:solidFill>
          <a:ln w="12700">
            <a:solidFill>
              <a:srgbClr val="E8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67512" y="1271016"/>
            <a:ext cx="1234440" cy="128016"/>
          </a:xfrm>
          <a:prstGeom prst="rect">
            <a:avLst/>
          </a:prstGeom>
          <a:noFill/>
        </p:spPr>
        <p:txBody>
          <a:bodyPr wrap="square" lIns="0" tIns="0" rIns="0" bIns="0" anchor="ctr">
            <a:spAutoFit/>
          </a:bodyPr>
          <a:lstStyle/>
          <a:p>
            <a:pPr algn="ctr"/>
            <a:r>
              <a:rPr sz="760" b="1">
                <a:solidFill>
                  <a:srgbClr val="0F8B8D"/>
                </a:solidFill>
                <a:latin typeface="Aptos"/>
              </a:rPr>
              <a:t>REFERENCES</a:t>
            </a:r>
          </a:p>
        </p:txBody>
      </p:sp>
      <p:sp>
        <p:nvSpPr>
          <p:cNvPr id="6" name="TextBox 5"/>
          <p:cNvSpPr txBox="1"/>
          <p:nvPr/>
        </p:nvSpPr>
        <p:spPr>
          <a:xfrm>
            <a:off x="11384280" y="6446520"/>
            <a:ext cx="320040" cy="182880"/>
          </a:xfrm>
          <a:prstGeom prst="rect">
            <a:avLst/>
          </a:prstGeom>
          <a:noFill/>
        </p:spPr>
        <p:txBody>
          <a:bodyPr wrap="square" lIns="36576" tIns="36576" rIns="36576" bIns="36576" anchor="t">
            <a:spAutoFit/>
          </a:bodyPr>
          <a:lstStyle/>
          <a:p>
            <a:r>
              <a:rPr sz="800">
                <a:solidFill>
                  <a:srgbClr val="5B6577"/>
                </a:solidFill>
                <a:latin typeface="Aptos"/>
              </a:rPr>
              <a:t>20</a:t>
            </a:r>
          </a:p>
        </p:txBody>
      </p:sp>
      <p:sp>
        <p:nvSpPr>
          <p:cNvPr id="7" name="Rounded Rectangle 6"/>
          <p:cNvSpPr/>
          <p:nvPr/>
        </p:nvSpPr>
        <p:spPr>
          <a:xfrm>
            <a:off x="685800" y="1755648"/>
            <a:ext cx="5285232" cy="4224528"/>
          </a:xfrm>
          <a:prstGeom prst="roundRect">
            <a:avLst>
              <a:gd name="adj" fmla="val 8000"/>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217920" y="1755648"/>
            <a:ext cx="5285232" cy="4224528"/>
          </a:xfrm>
          <a:prstGeom prst="roundRect">
            <a:avLst>
              <a:gd name="adj" fmla="val 8000"/>
            </a:avLst>
          </a:prstGeom>
          <a:solidFill>
            <a:srgbClr val="FCF4EB"/>
          </a:solidFill>
          <a:ln w="12700">
            <a:solidFill>
              <a:srgbClr val="FCF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6112" y="1947672"/>
            <a:ext cx="4389120" cy="219456"/>
          </a:xfrm>
          <a:prstGeom prst="rect">
            <a:avLst/>
          </a:prstGeom>
          <a:noFill/>
        </p:spPr>
        <p:txBody>
          <a:bodyPr wrap="square" lIns="36576" tIns="36576" rIns="36576" bIns="36576" anchor="t">
            <a:spAutoFit/>
          </a:bodyPr>
          <a:lstStyle/>
          <a:p>
            <a:pPr algn="l"/>
            <a:r>
              <a:rPr sz="1200" b="1">
                <a:solidFill>
                  <a:srgbClr val="315A8A"/>
                </a:solidFill>
                <a:latin typeface="Aptos"/>
              </a:rPr>
              <a:t>Generalization &amp; scaling</a:t>
            </a:r>
          </a:p>
        </p:txBody>
      </p:sp>
      <p:sp>
        <p:nvSpPr>
          <p:cNvPr id="10" name="TextBox 9"/>
          <p:cNvSpPr txBox="1"/>
          <p:nvPr/>
        </p:nvSpPr>
        <p:spPr>
          <a:xfrm>
            <a:off x="6437376" y="1947672"/>
            <a:ext cx="4572000" cy="219456"/>
          </a:xfrm>
          <a:prstGeom prst="rect">
            <a:avLst/>
          </a:prstGeom>
          <a:noFill/>
        </p:spPr>
        <p:txBody>
          <a:bodyPr wrap="square" lIns="36576" tIns="36576" rIns="36576" bIns="36576" anchor="t">
            <a:spAutoFit/>
          </a:bodyPr>
          <a:lstStyle/>
          <a:p>
            <a:pPr algn="l"/>
            <a:r>
              <a:rPr sz="1200" b="1">
                <a:solidFill>
                  <a:srgbClr val="D7792D"/>
                </a:solidFill>
                <a:latin typeface="Aptos"/>
              </a:rPr>
              <a:t>Adaptive &amp; workload-aware training</a:t>
            </a:r>
          </a:p>
        </p:txBody>
      </p:sp>
      <p:sp>
        <p:nvSpPr>
          <p:cNvPr id="11" name="TextBox 10"/>
          <p:cNvSpPr txBox="1"/>
          <p:nvPr/>
        </p:nvSpPr>
        <p:spPr>
          <a:xfrm>
            <a:off x="914400" y="2432304"/>
            <a:ext cx="292608" cy="256032"/>
          </a:xfrm>
          <a:prstGeom prst="rect">
            <a:avLst/>
          </a:prstGeom>
          <a:noFill/>
        </p:spPr>
        <p:txBody>
          <a:bodyPr wrap="square" lIns="36576" tIns="36576" rIns="36576" bIns="36576" anchor="t">
            <a:spAutoFit/>
          </a:bodyPr>
          <a:lstStyle/>
          <a:p>
            <a:pPr algn="ctr"/>
            <a:r>
              <a:rPr sz="900" b="1">
                <a:solidFill>
                  <a:srgbClr val="315A8A"/>
                </a:solidFill>
                <a:latin typeface="Aptos"/>
              </a:rPr>
              <a:t>1</a:t>
            </a:r>
          </a:p>
        </p:txBody>
      </p:sp>
      <p:sp>
        <p:nvSpPr>
          <p:cNvPr id="12" name="TextBox 11"/>
          <p:cNvSpPr txBox="1"/>
          <p:nvPr/>
        </p:nvSpPr>
        <p:spPr>
          <a:xfrm>
            <a:off x="1298448" y="2377440"/>
            <a:ext cx="4279392" cy="475488"/>
          </a:xfrm>
          <a:prstGeom prst="rect">
            <a:avLst/>
          </a:prstGeom>
          <a:noFill/>
        </p:spPr>
        <p:txBody>
          <a:bodyPr wrap="square" lIns="36576" tIns="36576" rIns="36576" bIns="36576" anchor="t">
            <a:spAutoFit/>
          </a:bodyPr>
          <a:lstStyle/>
          <a:p>
            <a:pPr algn="l"/>
            <a:r>
              <a:rPr sz="919" b="0">
                <a:solidFill>
                  <a:srgbClr val="172033"/>
                </a:solidFill>
                <a:latin typeface="Aptos"/>
              </a:rPr>
              <a:t>Keskar et al. (2017) — On Large-Batch Training for Deep Learning.</a:t>
            </a:r>
          </a:p>
        </p:txBody>
      </p:sp>
      <p:sp>
        <p:nvSpPr>
          <p:cNvPr id="13" name="TextBox 12"/>
          <p:cNvSpPr txBox="1"/>
          <p:nvPr/>
        </p:nvSpPr>
        <p:spPr>
          <a:xfrm>
            <a:off x="914400" y="3172968"/>
            <a:ext cx="292608" cy="256032"/>
          </a:xfrm>
          <a:prstGeom prst="rect">
            <a:avLst/>
          </a:prstGeom>
          <a:noFill/>
        </p:spPr>
        <p:txBody>
          <a:bodyPr wrap="square" lIns="36576" tIns="36576" rIns="36576" bIns="36576" anchor="t">
            <a:spAutoFit/>
          </a:bodyPr>
          <a:lstStyle/>
          <a:p>
            <a:pPr algn="ctr"/>
            <a:r>
              <a:rPr sz="900" b="1">
                <a:solidFill>
                  <a:srgbClr val="315A8A"/>
                </a:solidFill>
                <a:latin typeface="Aptos"/>
              </a:rPr>
              <a:t>2</a:t>
            </a:r>
          </a:p>
        </p:txBody>
      </p:sp>
      <p:sp>
        <p:nvSpPr>
          <p:cNvPr id="14" name="TextBox 13"/>
          <p:cNvSpPr txBox="1"/>
          <p:nvPr/>
        </p:nvSpPr>
        <p:spPr>
          <a:xfrm>
            <a:off x="1298448" y="3118104"/>
            <a:ext cx="4279392" cy="475488"/>
          </a:xfrm>
          <a:prstGeom prst="rect">
            <a:avLst/>
          </a:prstGeom>
          <a:noFill/>
        </p:spPr>
        <p:txBody>
          <a:bodyPr wrap="square" lIns="36576" tIns="36576" rIns="36576" bIns="36576" anchor="t">
            <a:spAutoFit/>
          </a:bodyPr>
          <a:lstStyle/>
          <a:p>
            <a:pPr algn="l"/>
            <a:r>
              <a:rPr sz="919" b="0">
                <a:solidFill>
                  <a:srgbClr val="172033"/>
                </a:solidFill>
                <a:latin typeface="Aptos"/>
              </a:rPr>
              <a:t>Hoffer, Hubara &amp; Soudry (2017) — Train Longer, Generalize Better.</a:t>
            </a:r>
          </a:p>
        </p:txBody>
      </p:sp>
      <p:sp>
        <p:nvSpPr>
          <p:cNvPr id="15" name="TextBox 14"/>
          <p:cNvSpPr txBox="1"/>
          <p:nvPr/>
        </p:nvSpPr>
        <p:spPr>
          <a:xfrm>
            <a:off x="914400" y="3913632"/>
            <a:ext cx="292608" cy="256032"/>
          </a:xfrm>
          <a:prstGeom prst="rect">
            <a:avLst/>
          </a:prstGeom>
          <a:noFill/>
        </p:spPr>
        <p:txBody>
          <a:bodyPr wrap="square" lIns="36576" tIns="36576" rIns="36576" bIns="36576" anchor="t">
            <a:spAutoFit/>
          </a:bodyPr>
          <a:lstStyle/>
          <a:p>
            <a:pPr algn="ctr"/>
            <a:r>
              <a:rPr sz="900" b="1">
                <a:solidFill>
                  <a:srgbClr val="315A8A"/>
                </a:solidFill>
                <a:latin typeface="Aptos"/>
              </a:rPr>
              <a:t>3</a:t>
            </a:r>
          </a:p>
        </p:txBody>
      </p:sp>
      <p:sp>
        <p:nvSpPr>
          <p:cNvPr id="16" name="TextBox 15"/>
          <p:cNvSpPr txBox="1"/>
          <p:nvPr/>
        </p:nvSpPr>
        <p:spPr>
          <a:xfrm>
            <a:off x="1298448" y="3858768"/>
            <a:ext cx="4279392" cy="475488"/>
          </a:xfrm>
          <a:prstGeom prst="rect">
            <a:avLst/>
          </a:prstGeom>
          <a:noFill/>
        </p:spPr>
        <p:txBody>
          <a:bodyPr wrap="square" lIns="36576" tIns="36576" rIns="36576" bIns="36576" anchor="t">
            <a:spAutoFit/>
          </a:bodyPr>
          <a:lstStyle/>
          <a:p>
            <a:pPr algn="l"/>
            <a:r>
              <a:rPr sz="919" b="0">
                <a:solidFill>
                  <a:srgbClr val="172033"/>
                </a:solidFill>
                <a:latin typeface="Aptos"/>
              </a:rPr>
              <a:t>Goyal et al. (2017/2018) — Accurate, Large Minibatch SGD.</a:t>
            </a:r>
          </a:p>
        </p:txBody>
      </p:sp>
      <p:sp>
        <p:nvSpPr>
          <p:cNvPr id="17" name="TextBox 16"/>
          <p:cNvSpPr txBox="1"/>
          <p:nvPr/>
        </p:nvSpPr>
        <p:spPr>
          <a:xfrm>
            <a:off x="914400" y="4654296"/>
            <a:ext cx="292608" cy="256032"/>
          </a:xfrm>
          <a:prstGeom prst="rect">
            <a:avLst/>
          </a:prstGeom>
          <a:noFill/>
        </p:spPr>
        <p:txBody>
          <a:bodyPr wrap="square" lIns="36576" tIns="36576" rIns="36576" bIns="36576" anchor="t">
            <a:spAutoFit/>
          </a:bodyPr>
          <a:lstStyle/>
          <a:p>
            <a:pPr algn="ctr"/>
            <a:r>
              <a:rPr sz="900" b="1">
                <a:solidFill>
                  <a:srgbClr val="315A8A"/>
                </a:solidFill>
                <a:latin typeface="Aptos"/>
              </a:rPr>
              <a:t>4</a:t>
            </a:r>
          </a:p>
        </p:txBody>
      </p:sp>
      <p:sp>
        <p:nvSpPr>
          <p:cNvPr id="18" name="TextBox 17"/>
          <p:cNvSpPr txBox="1"/>
          <p:nvPr/>
        </p:nvSpPr>
        <p:spPr>
          <a:xfrm>
            <a:off x="1298448" y="4599432"/>
            <a:ext cx="4279392" cy="475488"/>
          </a:xfrm>
          <a:prstGeom prst="rect">
            <a:avLst/>
          </a:prstGeom>
          <a:noFill/>
        </p:spPr>
        <p:txBody>
          <a:bodyPr wrap="square" lIns="36576" tIns="36576" rIns="36576" bIns="36576" anchor="t">
            <a:spAutoFit/>
          </a:bodyPr>
          <a:lstStyle/>
          <a:p>
            <a:pPr algn="l"/>
            <a:r>
              <a:rPr sz="919" b="0">
                <a:solidFill>
                  <a:srgbClr val="172033"/>
                </a:solidFill>
                <a:latin typeface="Aptos"/>
              </a:rPr>
              <a:t>Smith et al. (2018) — Don’t Decay the Learning Rate, Increase the Batch Size.</a:t>
            </a:r>
          </a:p>
        </p:txBody>
      </p:sp>
      <p:sp>
        <p:nvSpPr>
          <p:cNvPr id="19" name="TextBox 18"/>
          <p:cNvSpPr txBox="1"/>
          <p:nvPr/>
        </p:nvSpPr>
        <p:spPr>
          <a:xfrm>
            <a:off x="6455664" y="2432304"/>
            <a:ext cx="292608" cy="256032"/>
          </a:xfrm>
          <a:prstGeom prst="rect">
            <a:avLst/>
          </a:prstGeom>
          <a:noFill/>
        </p:spPr>
        <p:txBody>
          <a:bodyPr wrap="square" lIns="36576" tIns="36576" rIns="36576" bIns="36576" anchor="t">
            <a:spAutoFit/>
          </a:bodyPr>
          <a:lstStyle/>
          <a:p>
            <a:pPr algn="ctr"/>
            <a:r>
              <a:rPr sz="900" b="1">
                <a:solidFill>
                  <a:srgbClr val="D7792D"/>
                </a:solidFill>
                <a:latin typeface="Aptos"/>
              </a:rPr>
              <a:t>5</a:t>
            </a:r>
          </a:p>
        </p:txBody>
      </p:sp>
      <p:sp>
        <p:nvSpPr>
          <p:cNvPr id="20" name="TextBox 19"/>
          <p:cNvSpPr txBox="1"/>
          <p:nvPr/>
        </p:nvSpPr>
        <p:spPr>
          <a:xfrm>
            <a:off x="6839712" y="2377440"/>
            <a:ext cx="4279392" cy="475488"/>
          </a:xfrm>
          <a:prstGeom prst="rect">
            <a:avLst/>
          </a:prstGeom>
          <a:noFill/>
        </p:spPr>
        <p:txBody>
          <a:bodyPr wrap="square" lIns="36576" tIns="36576" rIns="36576" bIns="36576" anchor="t">
            <a:spAutoFit/>
          </a:bodyPr>
          <a:lstStyle/>
          <a:p>
            <a:pPr algn="l"/>
            <a:r>
              <a:rPr sz="919" b="0">
                <a:solidFill>
                  <a:srgbClr val="172033"/>
                </a:solidFill>
                <a:latin typeface="Aptos"/>
              </a:rPr>
              <a:t>Devarakonda, Naumov &amp; Garland (2018) — AdaBatch.</a:t>
            </a:r>
          </a:p>
        </p:txBody>
      </p:sp>
      <p:sp>
        <p:nvSpPr>
          <p:cNvPr id="21" name="TextBox 20"/>
          <p:cNvSpPr txBox="1"/>
          <p:nvPr/>
        </p:nvSpPr>
        <p:spPr>
          <a:xfrm>
            <a:off x="6455664" y="3172968"/>
            <a:ext cx="292608" cy="256032"/>
          </a:xfrm>
          <a:prstGeom prst="rect">
            <a:avLst/>
          </a:prstGeom>
          <a:noFill/>
        </p:spPr>
        <p:txBody>
          <a:bodyPr wrap="square" lIns="36576" tIns="36576" rIns="36576" bIns="36576" anchor="t">
            <a:spAutoFit/>
          </a:bodyPr>
          <a:lstStyle/>
          <a:p>
            <a:pPr algn="ctr"/>
            <a:r>
              <a:rPr sz="900" b="1">
                <a:solidFill>
                  <a:srgbClr val="D7792D"/>
                </a:solidFill>
                <a:latin typeface="Aptos"/>
              </a:rPr>
              <a:t>6</a:t>
            </a:r>
          </a:p>
        </p:txBody>
      </p:sp>
      <p:sp>
        <p:nvSpPr>
          <p:cNvPr id="22" name="TextBox 21"/>
          <p:cNvSpPr txBox="1"/>
          <p:nvPr/>
        </p:nvSpPr>
        <p:spPr>
          <a:xfrm>
            <a:off x="6839712" y="3118104"/>
            <a:ext cx="4279392" cy="475488"/>
          </a:xfrm>
          <a:prstGeom prst="rect">
            <a:avLst/>
          </a:prstGeom>
          <a:noFill/>
        </p:spPr>
        <p:txBody>
          <a:bodyPr wrap="square" lIns="36576" tIns="36576" rIns="36576" bIns="36576" anchor="t">
            <a:spAutoFit/>
          </a:bodyPr>
          <a:lstStyle/>
          <a:p>
            <a:pPr algn="l"/>
            <a:r>
              <a:rPr sz="919" b="0">
                <a:solidFill>
                  <a:srgbClr val="172033"/>
                </a:solidFill>
                <a:latin typeface="Aptos"/>
              </a:rPr>
              <a:t>Masters &amp; Luschi (2018) — Revisiting Small Batch Training.</a:t>
            </a:r>
          </a:p>
        </p:txBody>
      </p:sp>
      <p:sp>
        <p:nvSpPr>
          <p:cNvPr id="23" name="TextBox 22"/>
          <p:cNvSpPr txBox="1"/>
          <p:nvPr/>
        </p:nvSpPr>
        <p:spPr>
          <a:xfrm>
            <a:off x="6455664" y="3913632"/>
            <a:ext cx="292608" cy="256032"/>
          </a:xfrm>
          <a:prstGeom prst="rect">
            <a:avLst/>
          </a:prstGeom>
          <a:noFill/>
        </p:spPr>
        <p:txBody>
          <a:bodyPr wrap="square" lIns="36576" tIns="36576" rIns="36576" bIns="36576" anchor="t">
            <a:spAutoFit/>
          </a:bodyPr>
          <a:lstStyle/>
          <a:p>
            <a:pPr algn="ctr"/>
            <a:r>
              <a:rPr sz="900" b="1">
                <a:solidFill>
                  <a:srgbClr val="D7792D"/>
                </a:solidFill>
                <a:latin typeface="Aptos"/>
              </a:rPr>
              <a:t>7</a:t>
            </a:r>
          </a:p>
        </p:txBody>
      </p:sp>
      <p:sp>
        <p:nvSpPr>
          <p:cNvPr id="24" name="TextBox 23"/>
          <p:cNvSpPr txBox="1"/>
          <p:nvPr/>
        </p:nvSpPr>
        <p:spPr>
          <a:xfrm>
            <a:off x="6839712" y="3858768"/>
            <a:ext cx="4279392" cy="475488"/>
          </a:xfrm>
          <a:prstGeom prst="rect">
            <a:avLst/>
          </a:prstGeom>
          <a:noFill/>
        </p:spPr>
        <p:txBody>
          <a:bodyPr wrap="square" lIns="36576" tIns="36576" rIns="36576" bIns="36576" anchor="t">
            <a:spAutoFit/>
          </a:bodyPr>
          <a:lstStyle/>
          <a:p>
            <a:pPr algn="l"/>
            <a:r>
              <a:rPr sz="919" b="0">
                <a:solidFill>
                  <a:srgbClr val="172033"/>
                </a:solidFill>
                <a:latin typeface="Aptos"/>
              </a:rPr>
              <a:t>McCandlish et al. (2018) — An Empirical Model of Large-Batch Training.</a:t>
            </a:r>
          </a:p>
        </p:txBody>
      </p:sp>
      <p:sp>
        <p:nvSpPr>
          <p:cNvPr id="25" name="TextBox 24"/>
          <p:cNvSpPr txBox="1"/>
          <p:nvPr/>
        </p:nvSpPr>
        <p:spPr>
          <a:xfrm>
            <a:off x="6455664" y="4654296"/>
            <a:ext cx="292608" cy="256032"/>
          </a:xfrm>
          <a:prstGeom prst="rect">
            <a:avLst/>
          </a:prstGeom>
          <a:noFill/>
        </p:spPr>
        <p:txBody>
          <a:bodyPr wrap="square" lIns="36576" tIns="36576" rIns="36576" bIns="36576" anchor="t">
            <a:spAutoFit/>
          </a:bodyPr>
          <a:lstStyle/>
          <a:p>
            <a:pPr algn="ctr"/>
            <a:r>
              <a:rPr sz="900" b="1">
                <a:solidFill>
                  <a:srgbClr val="D7792D"/>
                </a:solidFill>
                <a:latin typeface="Aptos"/>
              </a:rPr>
              <a:t>8</a:t>
            </a:r>
          </a:p>
        </p:txBody>
      </p:sp>
      <p:sp>
        <p:nvSpPr>
          <p:cNvPr id="26" name="TextBox 25"/>
          <p:cNvSpPr txBox="1"/>
          <p:nvPr/>
        </p:nvSpPr>
        <p:spPr>
          <a:xfrm>
            <a:off x="6839712" y="4599432"/>
            <a:ext cx="4279392" cy="475488"/>
          </a:xfrm>
          <a:prstGeom prst="rect">
            <a:avLst/>
          </a:prstGeom>
          <a:noFill/>
        </p:spPr>
        <p:txBody>
          <a:bodyPr wrap="square" lIns="36576" tIns="36576" rIns="36576" bIns="36576" anchor="t">
            <a:spAutoFit/>
          </a:bodyPr>
          <a:lstStyle/>
          <a:p>
            <a:pPr algn="l"/>
            <a:r>
              <a:rPr sz="919" b="0">
                <a:solidFill>
                  <a:srgbClr val="172033"/>
                </a:solidFill>
                <a:latin typeface="Aptos"/>
              </a:rPr>
              <a:t>Shallue et al. (2019) — Measuring the Effects of Data Parallelism.</a:t>
            </a:r>
          </a:p>
        </p:txBody>
      </p:sp>
      <p:sp>
        <p:nvSpPr>
          <p:cNvPr id="27" name="TextBox 26"/>
          <p:cNvSpPr txBox="1"/>
          <p:nvPr/>
        </p:nvSpPr>
        <p:spPr>
          <a:xfrm>
            <a:off x="914400" y="6126480"/>
            <a:ext cx="10332720" cy="182880"/>
          </a:xfrm>
          <a:prstGeom prst="rect">
            <a:avLst/>
          </a:prstGeom>
          <a:noFill/>
        </p:spPr>
        <p:txBody>
          <a:bodyPr wrap="square" lIns="36576" tIns="36576" rIns="36576" bIns="36576" anchor="t">
            <a:spAutoFit/>
          </a:bodyPr>
          <a:lstStyle/>
          <a:p>
            <a:pPr algn="ctr"/>
            <a:r>
              <a:rPr sz="840" b="0">
                <a:solidFill>
                  <a:srgbClr val="5B6577"/>
                </a:solidFill>
                <a:latin typeface="Aptos"/>
              </a:rPr>
              <a:t>These papers motivate both CIFAR-10 and CIFAR-100 experiments; dataset-specific results are kept separate rather than pooled.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4055</Words>
  <Application>Microsoft Office PowerPoint</Application>
  <PresentationFormat>Widescreen</PresentationFormat>
  <Paragraphs>517</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Deep Learning Midterm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Batch Size and Learning Rate Scheduling for Efficient CNN Training</dc:title>
  <dc:subject>Deep Learning Midterm Project</dc:subject>
  <dc:creator>Tharun Swaminathan Ravi Kumar, Dev Gurung, Jiong Zhang</dc:creator>
  <cp:lastModifiedBy>tharun Ravikumar</cp:lastModifiedBy>
  <cp:revision>10</cp:revision>
  <dcterms:created xsi:type="dcterms:W3CDTF">2026-10-11T18:45:38Z</dcterms:created>
  <dcterms:modified xsi:type="dcterms:W3CDTF">2026-10-11T21:53:29Z</dcterms:modified>
</cp:coreProperties>
</file>