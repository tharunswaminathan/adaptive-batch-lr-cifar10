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12192000"/>
  <p:embeddedFontLst>
    <p:embeddedFont>
      <p:font typeface="Play"/>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font" Target="fonts/Play-bold.fntdata"/><Relationship Id="rId10" Type="http://schemas.openxmlformats.org/officeDocument/2006/relationships/slide" Target="slides/slide6.xml"/><Relationship Id="rId21" Type="http://schemas.openxmlformats.org/officeDocument/2006/relationships/font" Target="fonts/Play-regular.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 name="Google Shape;14;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Open with the project question: instead of fixing batch size and learning rate for the whole run, can we let training behavior decide when they should change?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This midterm presentation compares the same E1–E4 experiment design on CIFAR-10 and CIFAR-100 using the current DeeperCNNWide model. The results shown here are validation-selected midterm results, not a statistical claim of universal superiority.</a:t>
            </a:r>
            <a:endParaRPr/>
          </a:p>
        </p:txBody>
      </p:sp>
      <p:sp>
        <p:nvSpPr>
          <p:cNvPr id="15" name="Google Shape;15;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 name="Google Shape;2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Use this slide to motivate the tradeoff. Small batches give more frequent, noisier updates; large batches reduce the number of optimizer steps and can improve hardware utilization, but they may lose useful stochasticity.</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Learning rate interacts with that choice, so our research question is whether validation behavior and gradient stability can drive both quantities dynamically.</a:t>
            </a:r>
            <a:endParaRPr/>
          </a:p>
        </p:txBody>
      </p:sp>
      <p:sp>
        <p:nvSpPr>
          <p:cNvPr id="28" name="Google Shape;2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Summarize the large-batch debate chronologically. Keskar connected large batches with sharper minima, while Hoffer showed that fewer optimizer updates can explain much of the apparent generalization gap.</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Goyal showed that large batches can work with careful LR scaling and warmup, and Masters &amp; Luschi emphasized the stability of smaller batches. Shallue then showed that useful batch size depends strongly on the workload and training budget.</a:t>
            </a:r>
            <a:endParaRPr/>
          </a:p>
        </p:txBody>
      </p:sp>
      <p:sp>
        <p:nvSpPr>
          <p:cNvPr id="53" name="Google Shape;5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connects the literature directly to our design. Smith motivates treating batch size and learning rate as coupled variables; AdaBatch motivates progressive batch growth; McCandlish motivates using training dynamics rather than one fixed batch size.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Be precise with terminology: our signal is gradient-norm coefficient of variation, or gradient-norm stability. It is not McCandlish et al.'s formal gradient noise scale.</a:t>
            </a:r>
            <a:endParaRPr/>
          </a:p>
        </p:txBody>
      </p:sp>
      <p:sp>
        <p:nvSpPr>
          <p:cNvPr id="93" name="Google Shape;9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Explain the factorial design: E1 is fixed batch and fixed LR, E2 isolates adaptive batch, E3 isolates adaptive LR, and E4 combines both.</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important contribution is the feedback logic. Batch growth uses both validation plateau and gradient stability, LR decay uses validation feedback, and in E4 the next learning rate is computed using the batch selected for the next epoch.</a:t>
            </a:r>
            <a:endParaRPr/>
          </a:p>
        </p:txBody>
      </p:sp>
      <p:sp>
        <p:nvSpPr>
          <p:cNvPr id="136" name="Google Shape;13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Clarify the data amounts because they matter for interpreting the two tasks. CIFAR-10 uses 20,000 training and 5,000 validation images, which is 2,000 training and 500 validation images per class. CIFAR-100 uses 45,000 training and 5,000 validation images, or 450 training and 50 validation images per class.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Both use the same augmentation recipe, optimizer family, seed, GroupNorm-based backbone, and validation-loss checkpoint selection. The official test split is held out from controller feedback and checkpoint selection.</a:t>
            </a:r>
            <a:endParaRPr/>
          </a:p>
        </p:txBody>
      </p:sp>
      <p:sp>
        <p:nvSpPr>
          <p:cNvPr id="170" name="Google Shape;17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0" name="Google Shape;23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Describe the current backbone as 12 convolution layers: four 3×3 conv blocks in each of three stages, with channels 64, 128, and 256. GroupNorm is deliberately used so normalization statistics do not depend on minibatch size.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Also point out the architecture progression: the earlier archived runs in data.zip used a 6-convolution-layer CNN, while the current midterm suite uses the 12-layer DeeperCNNWide. Only the final classifier head changes between CIFAR-10 and CIFAR-100.</a:t>
            </a:r>
            <a:endParaRPr/>
          </a:p>
        </p:txBody>
      </p:sp>
      <p:sp>
        <p:nvSpPr>
          <p:cNvPr id="231" name="Google Shape;23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8:notes"/>
          <p:cNvSpPr/>
          <p:nvPr>
            <p:ph idx="2" type="sldImg"/>
          </p:nvPr>
        </p:nvSpPr>
        <p:spPr>
          <a:xfrm>
            <a:off x="-2286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8:notes"/>
          <p:cNvSpPr txBox="1"/>
          <p:nvPr>
            <p:ph idx="1" type="body"/>
          </p:nvPr>
        </p:nvSpPr>
        <p:spPr>
          <a:xfrm>
            <a:off x="685800" y="5867400"/>
            <a:ext cx="5486400" cy="48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Walk through the batch controller from left to right. We record the global L2 gradient norm for every optimizer update, summarize the epoch with coefficient of variation, then smooth that signal over three epochs.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batch only grows when two conditions agree: validation has plateaued and the rolling stability score is at or below 0.25. The current ladder is 32 to 64 to 128 to 256, with a two-epoch cooldown after a change.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 LR controller has two components. First, a batch-aware base LR: 0.01 times the batch ratio to the power 0.2. Second, a persistent validation-driven decay multiplier that is halved when the feedback patience condition triggers.</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key E4 coupling is the order of operations: validation feedback updates the state, the next batch is selected, and then the next LR is computed from that next batch. This preserves previous decay events while still allowing batch growth to raise the base LR.</a:t>
            </a:r>
            <a:endParaRPr/>
          </a:p>
        </p:txBody>
      </p:sp>
      <p:sp>
        <p:nvSpPr>
          <p:cNvPr id="282" name="Google Shape;282;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Now connect the equations to observed behavior. The controller rules are the same on both datasets, but the triggers fire at different times because the validation and gradient-stability trajectories differ.</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For E4, CIFAR-10 first grows after epoch 37, while CIFAR-100 first grows after epoch 27. This is the main reason the batch and LR histories diverge even under the same controller logic.</a:t>
            </a:r>
            <a:endParaRPr/>
          </a:p>
        </p:txBody>
      </p:sp>
      <p:sp>
        <p:nvSpPr>
          <p:cNvPr id="332" name="Google Shape;33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8" name="Google Shape;37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These are validation-selected checkpoints using the same E1–E4 definitions. On CIFAR-10, E3 has the best selected validation accuracy at 86.34 percent. On CIFAR-100, E4 is narrowly highest at 65.02 percent.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Do not overstate the CIFAR-100 ordering: E2, E3, and E4 are extremely close, and the current results use a single seed.</a:t>
            </a:r>
            <a:endParaRPr/>
          </a:p>
        </p:txBody>
      </p:sp>
      <p:sp>
        <p:nvSpPr>
          <p:cNvPr id="379" name="Google Shape;379;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isolates optimization efficiency. Adaptive-batch runs reduce optimizer updates substantially: about 43 percent on CIFAR-10 and about 65 percent on CIFAR-100 compared with E1.</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Update count is useful because it is less hardware-specific than wall-clock time. Wall-clock time is still reported separately, since larger batches and implementation overhead can affect actual speed differently.</a:t>
            </a:r>
            <a:endParaRPr/>
          </a:p>
        </p:txBody>
      </p:sp>
      <p:sp>
        <p:nvSpPr>
          <p:cNvPr id="468" name="Google Shape;468;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summarizes the results before we open the live demonstration. For CIFAR-10, E3 achieves the highest selected validation accuracy at 86.34%, while E2 gives 85.02% with 42.7% fewer optimizer updates than E1. For CIFAR-100, E4 narrowly leads at 65.02%, while the adaptive-batch experiments reduce update counts by about 65%. Do not claim a statistically significant advantage: all results use seed 42, select checkpoints using validation loss, and the datasets have different epoch budgets. Now open the demo to show accuracy–efficiency charts and the batch-size and learning-rate trajectories.</a:t>
            </a:r>
            <a:endParaRPr/>
          </a:p>
        </p:txBody>
      </p:sp>
      <p:sp>
        <p:nvSpPr>
          <p:cNvPr id="534" name="Google Shape;534;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h176c734c9395283e_1_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7" name="Google Shape;577;h176c734c9395283e_1_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slide summarizes the results before we open the live demonstration. For CIFAR-10, E3 achieves the highest selected validation accuracy at 86.34%, while E2 gives 85.02% with 42.7% fewer optimizer updates than E1. For CIFAR-100, E4 narrowly leads at 65.02%, while the adaptive-batch experiments reduce update counts by about 65%. Do not claim a statistically significant advantage: all results use seed 42, select checkpoints using validation loss, and the datasets have different epoch budgets. Now open the demo to show accuracy–efficiency charts and the batch-size and learning-rate trajectories.</a:t>
            </a:r>
            <a:endParaRPr/>
          </a:p>
        </p:txBody>
      </p:sp>
      <p:sp>
        <p:nvSpPr>
          <p:cNvPr id="578" name="Google Shape;578;h176c734c9395283e_1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5" name="Google Shape;585;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This is our deployed midterm demo. The public GitHub Pages URL is shown on the slide and is also encoded in the QR code. During the talk, either click the URL from PowerPoint or let the audience scan the QR code.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Keep the live portion short and use it to demonstrate that the project is deployed and reproducible. If internet access is unreliable, continue with the presentation slides rather than spending time troubleshooting the live site.</a:t>
            </a:r>
            <a:endParaRPr/>
          </a:p>
        </p:txBody>
      </p:sp>
      <p:sp>
        <p:nvSpPr>
          <p:cNvPr id="586" name="Google Shape;586;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Use this as the reference or backup slide. The cited papers motivate the batch-size/generalization debate, batch-LR coupling, progressive batch growth, and workload-aware adaptation.</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If asked about the gradient-noise literature, reiterate that our implementation uses gradient-norm CV rather than the formal gradient noise scale.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deployed demo appears on the preceding slide; this final slide is for literature questions and citations.</a:t>
            </a:r>
            <a:endParaRPr/>
          </a:p>
        </p:txBody>
      </p:sp>
      <p:sp>
        <p:nvSpPr>
          <p:cNvPr id="612" name="Google Shape;612;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9FC"/>
        </a:solidFill>
      </p:bgPr>
    </p:bg>
    <p:spTree>
      <p:nvGrpSpPr>
        <p:cNvPr id="8" name="Shape 8"/>
        <p:cNvGrpSpPr/>
        <p:nvPr/>
      </p:nvGrpSpPr>
      <p:grpSpPr>
        <a:xfrm>
          <a:off x="0" y="0"/>
          <a:ext cx="0" cy="0"/>
          <a:chOff x="0" y="0"/>
          <a:chExt cx="0" cy="0"/>
        </a:xfrm>
      </p:grpSpPr>
      <p:sp>
        <p:nvSpPr>
          <p:cNvPr id="9" name="Google Shape;9;p3"/>
          <p:cNvSpPr/>
          <p:nvPr/>
        </p:nvSpPr>
        <p:spPr>
          <a:xfrm>
            <a:off x="0" y="0"/>
            <a:ext cx="12191695" cy="118872"/>
          </a:xfrm>
          <a:prstGeom prst="rect">
            <a:avLst/>
          </a:prstGeom>
          <a:solidFill>
            <a:srgbClr val="0F8B8D"/>
          </a:solidFill>
          <a:ln cap="flat" cmpd="sng" w="12700">
            <a:solidFill>
              <a:srgbClr val="0F8B8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 name="Google Shape;10;p3"/>
          <p:cNvSpPr/>
          <p:nvPr/>
        </p:nvSpPr>
        <p:spPr>
          <a:xfrm>
            <a:off x="502920" y="6519672"/>
            <a:ext cx="804672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8496"/>
              </a:buClr>
              <a:buSzPts val="750"/>
              <a:buFont typeface="Arial"/>
              <a:buNone/>
            </a:pPr>
            <a:r>
              <a:rPr lang="en-US" sz="750">
                <a:solidFill>
                  <a:srgbClr val="7B8496"/>
                </a:solidFill>
                <a:latin typeface="Arial"/>
                <a:ea typeface="Arial"/>
                <a:cs typeface="Arial"/>
                <a:sym typeface="Arial"/>
              </a:rPr>
              <a:t>Adaptive Batch Size + Learning Rate • Midterm</a:t>
            </a:r>
            <a:endParaRPr sz="750">
              <a:solidFill>
                <a:schemeClr val="dk1"/>
              </a:solidFill>
              <a:latin typeface="Arial"/>
              <a:ea typeface="Arial"/>
              <a:cs typeface="Arial"/>
              <a:sym typeface="Arial"/>
            </a:endParaRPr>
          </a:p>
        </p:txBody>
      </p:sp>
      <p:sp>
        <p:nvSpPr>
          <p:cNvPr id="11" name="Google Shape;11;p3"/>
          <p:cNvSpPr txBox="1"/>
          <p:nvPr>
            <p:ph idx="12" type="sldNum"/>
          </p:nvPr>
        </p:nvSpPr>
        <p:spPr>
          <a:xfrm>
            <a:off x="11384280" y="6473952"/>
            <a:ext cx="320040" cy="18288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sz="800">
                <a:solidFill>
                  <a:srgbClr val="7B8496"/>
                </a:solidFill>
                <a:latin typeface="Arial"/>
                <a:ea typeface="Arial"/>
                <a:cs typeface="Arial"/>
                <a:sym typeface="Arial"/>
              </a:defRPr>
            </a:lvl1pPr>
            <a:lvl2pPr indent="0" lvl="1" marL="0" marR="0" algn="r">
              <a:spcBef>
                <a:spcPts val="0"/>
              </a:spcBef>
              <a:buNone/>
              <a:defRPr b="0" sz="800">
                <a:solidFill>
                  <a:srgbClr val="7B8496"/>
                </a:solidFill>
                <a:latin typeface="Arial"/>
                <a:ea typeface="Arial"/>
                <a:cs typeface="Arial"/>
                <a:sym typeface="Arial"/>
              </a:defRPr>
            </a:lvl2pPr>
            <a:lvl3pPr indent="0" lvl="2" marL="0" marR="0" algn="r">
              <a:spcBef>
                <a:spcPts val="0"/>
              </a:spcBef>
              <a:buNone/>
              <a:defRPr b="0" sz="800">
                <a:solidFill>
                  <a:srgbClr val="7B8496"/>
                </a:solidFill>
                <a:latin typeface="Arial"/>
                <a:ea typeface="Arial"/>
                <a:cs typeface="Arial"/>
                <a:sym typeface="Arial"/>
              </a:defRPr>
            </a:lvl3pPr>
            <a:lvl4pPr indent="0" lvl="3" marL="0" marR="0" algn="r">
              <a:spcBef>
                <a:spcPts val="0"/>
              </a:spcBef>
              <a:buNone/>
              <a:defRPr b="0" sz="800">
                <a:solidFill>
                  <a:srgbClr val="7B8496"/>
                </a:solidFill>
                <a:latin typeface="Arial"/>
                <a:ea typeface="Arial"/>
                <a:cs typeface="Arial"/>
                <a:sym typeface="Arial"/>
              </a:defRPr>
            </a:lvl4pPr>
            <a:lvl5pPr indent="0" lvl="4" marL="0" marR="0" algn="r">
              <a:spcBef>
                <a:spcPts val="0"/>
              </a:spcBef>
              <a:buNone/>
              <a:defRPr b="0" sz="800">
                <a:solidFill>
                  <a:srgbClr val="7B8496"/>
                </a:solidFill>
                <a:latin typeface="Arial"/>
                <a:ea typeface="Arial"/>
                <a:cs typeface="Arial"/>
                <a:sym typeface="Arial"/>
              </a:defRPr>
            </a:lvl5pPr>
            <a:lvl6pPr indent="0" lvl="5" marL="0" marR="0" algn="r">
              <a:spcBef>
                <a:spcPts val="0"/>
              </a:spcBef>
              <a:buNone/>
              <a:defRPr b="0" sz="800">
                <a:solidFill>
                  <a:srgbClr val="7B8496"/>
                </a:solidFill>
                <a:latin typeface="Arial"/>
                <a:ea typeface="Arial"/>
                <a:cs typeface="Arial"/>
                <a:sym typeface="Arial"/>
              </a:defRPr>
            </a:lvl6pPr>
            <a:lvl7pPr indent="0" lvl="6" marL="0" marR="0" algn="r">
              <a:spcBef>
                <a:spcPts val="0"/>
              </a:spcBef>
              <a:buNone/>
              <a:defRPr b="0" sz="800">
                <a:solidFill>
                  <a:srgbClr val="7B8496"/>
                </a:solidFill>
                <a:latin typeface="Arial"/>
                <a:ea typeface="Arial"/>
                <a:cs typeface="Arial"/>
                <a:sym typeface="Arial"/>
              </a:defRPr>
            </a:lvl7pPr>
            <a:lvl8pPr indent="0" lvl="7" marL="0" marR="0" algn="r">
              <a:spcBef>
                <a:spcPts val="0"/>
              </a:spcBef>
              <a:buNone/>
              <a:defRPr b="0" sz="800">
                <a:solidFill>
                  <a:srgbClr val="7B8496"/>
                </a:solidFill>
                <a:latin typeface="Arial"/>
                <a:ea typeface="Arial"/>
                <a:cs typeface="Arial"/>
                <a:sym typeface="Arial"/>
              </a:defRPr>
            </a:lvl8pPr>
            <a:lvl9pPr indent="0" lvl="8" marL="0" marR="0" algn="r">
              <a:spcBef>
                <a:spcPts val="0"/>
              </a:spcBef>
              <a:buNone/>
              <a:defRPr b="0" sz="800">
                <a:solidFill>
                  <a:srgbClr val="7B849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11384280" y="6473952"/>
            <a:ext cx="320040" cy="18288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800" u="none" cap="none" strike="noStrike">
                <a:solidFill>
                  <a:srgbClr val="7B8496"/>
                </a:solidFill>
                <a:latin typeface="Arial"/>
                <a:ea typeface="Arial"/>
                <a:cs typeface="Arial"/>
                <a:sym typeface="Arial"/>
              </a:defRPr>
            </a:lvl1pPr>
            <a:lvl2pPr indent="0" lvl="1" marL="0" marR="0" rtl="0" algn="r">
              <a:spcBef>
                <a:spcPts val="0"/>
              </a:spcBef>
              <a:buNone/>
              <a:defRPr b="0" i="0" sz="800" u="none" cap="none" strike="noStrike">
                <a:solidFill>
                  <a:srgbClr val="7B8496"/>
                </a:solidFill>
                <a:latin typeface="Arial"/>
                <a:ea typeface="Arial"/>
                <a:cs typeface="Arial"/>
                <a:sym typeface="Arial"/>
              </a:defRPr>
            </a:lvl2pPr>
            <a:lvl3pPr indent="0" lvl="2" marL="0" marR="0" rtl="0" algn="r">
              <a:spcBef>
                <a:spcPts val="0"/>
              </a:spcBef>
              <a:buNone/>
              <a:defRPr b="0" i="0" sz="800" u="none" cap="none" strike="noStrike">
                <a:solidFill>
                  <a:srgbClr val="7B8496"/>
                </a:solidFill>
                <a:latin typeface="Arial"/>
                <a:ea typeface="Arial"/>
                <a:cs typeface="Arial"/>
                <a:sym typeface="Arial"/>
              </a:defRPr>
            </a:lvl3pPr>
            <a:lvl4pPr indent="0" lvl="3" marL="0" marR="0" rtl="0" algn="r">
              <a:spcBef>
                <a:spcPts val="0"/>
              </a:spcBef>
              <a:buNone/>
              <a:defRPr b="0" i="0" sz="800" u="none" cap="none" strike="noStrike">
                <a:solidFill>
                  <a:srgbClr val="7B8496"/>
                </a:solidFill>
                <a:latin typeface="Arial"/>
                <a:ea typeface="Arial"/>
                <a:cs typeface="Arial"/>
                <a:sym typeface="Arial"/>
              </a:defRPr>
            </a:lvl4pPr>
            <a:lvl5pPr indent="0" lvl="4" marL="0" marR="0" rtl="0" algn="r">
              <a:spcBef>
                <a:spcPts val="0"/>
              </a:spcBef>
              <a:buNone/>
              <a:defRPr b="0" i="0" sz="800" u="none" cap="none" strike="noStrike">
                <a:solidFill>
                  <a:srgbClr val="7B8496"/>
                </a:solidFill>
                <a:latin typeface="Arial"/>
                <a:ea typeface="Arial"/>
                <a:cs typeface="Arial"/>
                <a:sym typeface="Arial"/>
              </a:defRPr>
            </a:lvl5pPr>
            <a:lvl6pPr indent="0" lvl="5" marL="0" marR="0" rtl="0" algn="r">
              <a:spcBef>
                <a:spcPts val="0"/>
              </a:spcBef>
              <a:buNone/>
              <a:defRPr b="0" i="0" sz="800" u="none" cap="none" strike="noStrike">
                <a:solidFill>
                  <a:srgbClr val="7B8496"/>
                </a:solidFill>
                <a:latin typeface="Arial"/>
                <a:ea typeface="Arial"/>
                <a:cs typeface="Arial"/>
                <a:sym typeface="Arial"/>
              </a:defRPr>
            </a:lvl6pPr>
            <a:lvl7pPr indent="0" lvl="6" marL="0" marR="0" rtl="0" algn="r">
              <a:spcBef>
                <a:spcPts val="0"/>
              </a:spcBef>
              <a:buNone/>
              <a:defRPr b="0" i="0" sz="800" u="none" cap="none" strike="noStrike">
                <a:solidFill>
                  <a:srgbClr val="7B8496"/>
                </a:solidFill>
                <a:latin typeface="Arial"/>
                <a:ea typeface="Arial"/>
                <a:cs typeface="Arial"/>
                <a:sym typeface="Arial"/>
              </a:defRPr>
            </a:lvl7pPr>
            <a:lvl8pPr indent="0" lvl="7" marL="0" marR="0" rtl="0" algn="r">
              <a:spcBef>
                <a:spcPts val="0"/>
              </a:spcBef>
              <a:buNone/>
              <a:defRPr b="0" i="0" sz="800" u="none" cap="none" strike="noStrike">
                <a:solidFill>
                  <a:srgbClr val="7B8496"/>
                </a:solidFill>
                <a:latin typeface="Arial"/>
                <a:ea typeface="Arial"/>
                <a:cs typeface="Arial"/>
                <a:sym typeface="Arial"/>
              </a:defRPr>
            </a:lvl8pPr>
            <a:lvl9pPr indent="0" lvl="8" marL="0" marR="0" rtl="0" algn="r">
              <a:spcBef>
                <a:spcPts val="0"/>
              </a:spcBef>
              <a:buNone/>
              <a:defRPr b="0" i="0" sz="800" u="none" cap="none" strike="noStrike">
                <a:solidFill>
                  <a:srgbClr val="7B849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tharunswaminathan.github.io/adaptive-batch-lr-cifar10/" TargetMode="Externa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2033"/>
        </a:solidFill>
      </p:bgPr>
    </p:bg>
    <p:spTree>
      <p:nvGrpSpPr>
        <p:cNvPr id="16" name="Shape 16"/>
        <p:cNvGrpSpPr/>
        <p:nvPr/>
      </p:nvGrpSpPr>
      <p:grpSpPr>
        <a:xfrm>
          <a:off x="0" y="0"/>
          <a:ext cx="0" cy="0"/>
          <a:chOff x="0" y="0"/>
          <a:chExt cx="0" cy="0"/>
        </a:xfrm>
      </p:grpSpPr>
      <p:sp>
        <p:nvSpPr>
          <p:cNvPr id="17" name="Google Shape;17;p4"/>
          <p:cNvSpPr/>
          <p:nvPr/>
        </p:nvSpPr>
        <p:spPr>
          <a:xfrm>
            <a:off x="305" y="0"/>
            <a:ext cx="12191695" cy="6858000"/>
          </a:xfrm>
          <a:prstGeom prst="rect">
            <a:avLst/>
          </a:prstGeom>
          <a:solidFill>
            <a:srgbClr val="172033"/>
          </a:solidFill>
          <a:ln cap="flat" cmpd="sng" w="12700">
            <a:solidFill>
              <a:srgbClr val="17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4"/>
          <p:cNvSpPr/>
          <p:nvPr/>
        </p:nvSpPr>
        <p:spPr>
          <a:xfrm>
            <a:off x="658368" y="694944"/>
            <a:ext cx="109728" cy="5138928"/>
          </a:xfrm>
          <a:prstGeom prst="rect">
            <a:avLst/>
          </a:prstGeom>
          <a:solidFill>
            <a:srgbClr val="2AA7A1"/>
          </a:solidFill>
          <a:ln cap="flat" cmpd="sng" w="12700">
            <a:solidFill>
              <a:srgbClr val="2AA7A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4"/>
          <p:cNvSpPr/>
          <p:nvPr/>
        </p:nvSpPr>
        <p:spPr>
          <a:xfrm>
            <a:off x="1078992" y="960120"/>
            <a:ext cx="9875520" cy="1874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100"/>
              <a:buFont typeface="Play"/>
              <a:buNone/>
            </a:pPr>
            <a:r>
              <a:rPr b="1" lang="en-US" sz="3100">
                <a:solidFill>
                  <a:srgbClr val="FFFFFF"/>
                </a:solidFill>
                <a:latin typeface="Play"/>
                <a:ea typeface="Play"/>
                <a:cs typeface="Play"/>
                <a:sym typeface="Play"/>
              </a:rPr>
              <a:t>Adaptive Batch Size and</a:t>
            </a:r>
            <a:endParaRPr sz="31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3100"/>
              <a:buFont typeface="Play"/>
              <a:buNone/>
            </a:pPr>
            <a:r>
              <a:rPr b="1" lang="en-US" sz="3100">
                <a:solidFill>
                  <a:srgbClr val="FFFFFF"/>
                </a:solidFill>
                <a:latin typeface="Play"/>
                <a:ea typeface="Play"/>
                <a:cs typeface="Play"/>
                <a:sym typeface="Play"/>
              </a:rPr>
              <a:t>Learning Rate Scheduling</a:t>
            </a:r>
            <a:endParaRPr sz="3100">
              <a:solidFill>
                <a:schemeClr val="dk1"/>
              </a:solidFill>
              <a:latin typeface="Arial"/>
              <a:ea typeface="Arial"/>
              <a:cs typeface="Arial"/>
              <a:sym typeface="Arial"/>
            </a:endParaRPr>
          </a:p>
          <a:p>
            <a:pPr indent="0" lvl="0" marL="0" marR="0" rtl="0" algn="l">
              <a:spcBef>
                <a:spcPts val="0"/>
              </a:spcBef>
              <a:spcAft>
                <a:spcPts val="0"/>
              </a:spcAft>
              <a:buClr>
                <a:srgbClr val="FFFFFF"/>
              </a:buClr>
              <a:buSzPts val="3100"/>
              <a:buFont typeface="Play"/>
              <a:buNone/>
            </a:pPr>
            <a:r>
              <a:rPr b="1" lang="en-US" sz="3100">
                <a:solidFill>
                  <a:srgbClr val="FFFFFF"/>
                </a:solidFill>
                <a:latin typeface="Play"/>
                <a:ea typeface="Play"/>
                <a:cs typeface="Play"/>
                <a:sym typeface="Play"/>
              </a:rPr>
              <a:t>for Efficient CNN Training</a:t>
            </a:r>
            <a:endParaRPr sz="3100">
              <a:solidFill>
                <a:schemeClr val="dk1"/>
              </a:solidFill>
              <a:latin typeface="Arial"/>
              <a:ea typeface="Arial"/>
              <a:cs typeface="Arial"/>
              <a:sym typeface="Arial"/>
            </a:endParaRPr>
          </a:p>
        </p:txBody>
      </p:sp>
      <p:sp>
        <p:nvSpPr>
          <p:cNvPr id="20" name="Google Shape;20;p4"/>
          <p:cNvSpPr/>
          <p:nvPr/>
        </p:nvSpPr>
        <p:spPr>
          <a:xfrm>
            <a:off x="1097280" y="3063240"/>
            <a:ext cx="5943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D3E2"/>
              </a:buClr>
              <a:buSzPts val="1600"/>
              <a:buFont typeface="Arial"/>
              <a:buNone/>
            </a:pPr>
            <a:r>
              <a:rPr lang="en-US" sz="1600">
                <a:solidFill>
                  <a:srgbClr val="C8D3E2"/>
                </a:solidFill>
                <a:latin typeface="Arial"/>
                <a:ea typeface="Arial"/>
                <a:cs typeface="Arial"/>
                <a:sym typeface="Arial"/>
              </a:rPr>
              <a:t>Deep Learning Midterm Project</a:t>
            </a:r>
            <a:endParaRPr sz="1600">
              <a:solidFill>
                <a:schemeClr val="dk1"/>
              </a:solidFill>
              <a:latin typeface="Arial"/>
              <a:ea typeface="Arial"/>
              <a:cs typeface="Arial"/>
              <a:sym typeface="Arial"/>
            </a:endParaRPr>
          </a:p>
        </p:txBody>
      </p:sp>
      <p:sp>
        <p:nvSpPr>
          <p:cNvPr id="21" name="Google Shape;21;p4"/>
          <p:cNvSpPr/>
          <p:nvPr/>
        </p:nvSpPr>
        <p:spPr>
          <a:xfrm>
            <a:off x="1097280" y="3685032"/>
            <a:ext cx="7955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Arial"/>
              <a:buNone/>
            </a:pPr>
            <a:r>
              <a:rPr lang="en-US" sz="1200">
                <a:solidFill>
                  <a:srgbClr val="FFFFFF"/>
                </a:solidFill>
                <a:latin typeface="Arial"/>
                <a:ea typeface="Arial"/>
                <a:cs typeface="Arial"/>
                <a:sym typeface="Arial"/>
              </a:rPr>
              <a:t>Tharun Swaminathan Ravi Kumar  •  Dev Gurung  •  Jiong Zhang</a:t>
            </a:r>
            <a:endParaRPr sz="1200">
              <a:solidFill>
                <a:schemeClr val="dk1"/>
              </a:solidFill>
              <a:latin typeface="Arial"/>
              <a:ea typeface="Arial"/>
              <a:cs typeface="Arial"/>
              <a:sym typeface="Arial"/>
            </a:endParaRPr>
          </a:p>
        </p:txBody>
      </p:sp>
      <p:cxnSp>
        <p:nvCxnSpPr>
          <p:cNvPr id="22" name="Google Shape;22;p4"/>
          <p:cNvCxnSpPr/>
          <p:nvPr/>
        </p:nvCxnSpPr>
        <p:spPr>
          <a:xfrm>
            <a:off x="1097280" y="4206240"/>
            <a:ext cx="6583680" cy="0"/>
          </a:xfrm>
          <a:prstGeom prst="straightConnector1">
            <a:avLst/>
          </a:prstGeom>
          <a:noFill/>
          <a:ln cap="flat" cmpd="sng" w="16500">
            <a:solidFill>
              <a:srgbClr val="41536E"/>
            </a:solidFill>
            <a:prstDash val="solid"/>
            <a:round/>
            <a:headEnd len="sm" w="sm" type="none"/>
            <a:tailEnd len="sm" w="sm" type="none"/>
          </a:ln>
        </p:spPr>
      </p:cxnSp>
      <p:sp>
        <p:nvSpPr>
          <p:cNvPr id="23" name="Google Shape;23;p4"/>
          <p:cNvSpPr/>
          <p:nvPr/>
        </p:nvSpPr>
        <p:spPr>
          <a:xfrm>
            <a:off x="1097280" y="4443984"/>
            <a:ext cx="877824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7DA"/>
              </a:buClr>
              <a:buSzPts val="1300"/>
              <a:buFont typeface="Arial"/>
              <a:buNone/>
            </a:pPr>
            <a:r>
              <a:rPr lang="en-US" sz="1300">
                <a:solidFill>
                  <a:srgbClr val="B9C7DA"/>
                </a:solidFill>
                <a:latin typeface="Arial"/>
                <a:ea typeface="Arial"/>
                <a:cs typeface="Arial"/>
                <a:sym typeface="Arial"/>
              </a:rPr>
              <a:t>Current midterm study: feedback-driven batch growth + adaptive LR on CIFAR-10 and CIFAR-100</a:t>
            </a:r>
            <a:endParaRPr sz="1300">
              <a:solidFill>
                <a:schemeClr val="dk1"/>
              </a:solidFill>
              <a:latin typeface="Arial"/>
              <a:ea typeface="Arial"/>
              <a:cs typeface="Arial"/>
              <a:sym typeface="Arial"/>
            </a:endParaRPr>
          </a:p>
        </p:txBody>
      </p:sp>
      <p:sp>
        <p:nvSpPr>
          <p:cNvPr id="24" name="Google Shape;24;p4"/>
          <p:cNvSpPr/>
          <p:nvPr/>
        </p:nvSpPr>
        <p:spPr>
          <a:xfrm>
            <a:off x="6163056" y="5253228"/>
            <a:ext cx="2002536"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860"/>
              <a:buFont typeface="Arial"/>
              <a:buNone/>
            </a:pPr>
            <a:r>
              <a:t/>
            </a:r>
            <a:endParaRPr sz="86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5"/>
          <p:cNvSpPr/>
          <p:nvPr/>
        </p:nvSpPr>
        <p:spPr>
          <a:xfrm>
            <a:off x="594360" y="384048"/>
            <a:ext cx="10881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400"/>
              <a:buFont typeface="Play"/>
              <a:buNone/>
            </a:pPr>
            <a:r>
              <a:rPr b="1" lang="en-US" sz="2400">
                <a:solidFill>
                  <a:srgbClr val="172033"/>
                </a:solidFill>
                <a:latin typeface="Play"/>
                <a:ea typeface="Play"/>
                <a:cs typeface="Play"/>
                <a:sym typeface="Play"/>
              </a:rPr>
              <a:t>Why adapt batch size and learning rate?</a:t>
            </a:r>
            <a:endParaRPr sz="2400">
              <a:solidFill>
                <a:schemeClr val="dk1"/>
              </a:solidFill>
              <a:latin typeface="Arial"/>
              <a:ea typeface="Arial"/>
              <a:cs typeface="Arial"/>
              <a:sym typeface="Arial"/>
            </a:endParaRPr>
          </a:p>
        </p:txBody>
      </p:sp>
      <p:sp>
        <p:nvSpPr>
          <p:cNvPr id="31" name="Google Shape;31;p5"/>
          <p:cNvSpPr/>
          <p:nvPr/>
        </p:nvSpPr>
        <p:spPr>
          <a:xfrm>
            <a:off x="612648" y="850392"/>
            <a:ext cx="10789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1050"/>
              <a:buFont typeface="Arial"/>
              <a:buNone/>
            </a:pPr>
            <a:r>
              <a:rPr lang="en-US" sz="1050">
                <a:solidFill>
                  <a:srgbClr val="5B6577"/>
                </a:solidFill>
                <a:latin typeface="Arial"/>
                <a:ea typeface="Arial"/>
                <a:cs typeface="Arial"/>
                <a:sym typeface="Arial"/>
              </a:rPr>
              <a:t>Training efficiency and model quality pull SGD in different directions.</a:t>
            </a:r>
            <a:endParaRPr sz="1050">
              <a:solidFill>
                <a:schemeClr val="dk1"/>
              </a:solidFill>
              <a:latin typeface="Arial"/>
              <a:ea typeface="Arial"/>
              <a:cs typeface="Arial"/>
              <a:sym typeface="Arial"/>
            </a:endParaRPr>
          </a:p>
        </p:txBody>
      </p:sp>
      <p:sp>
        <p:nvSpPr>
          <p:cNvPr id="32" name="Google Shape;32;p5"/>
          <p:cNvSpPr/>
          <p:nvPr/>
        </p:nvSpPr>
        <p:spPr>
          <a:xfrm>
            <a:off x="612648" y="1207008"/>
            <a:ext cx="1600200" cy="320040"/>
          </a:xfrm>
          <a:prstGeom prst="roundRect">
            <a:avLst>
              <a:gd fmla="val 22857" name="adj"/>
            </a:avLst>
          </a:prstGeom>
          <a:solidFill>
            <a:srgbClr val="E8F5F4"/>
          </a:solidFill>
          <a:ln cap="flat" cmpd="sng" w="12700">
            <a:solidFill>
              <a:srgbClr val="E8F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 name="Google Shape;33;p5"/>
          <p:cNvSpPr/>
          <p:nvPr/>
        </p:nvSpPr>
        <p:spPr>
          <a:xfrm>
            <a:off x="704088" y="1289304"/>
            <a:ext cx="1417320" cy="1188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8B8D"/>
              </a:buClr>
              <a:buSzPts val="740"/>
              <a:buFont typeface="Arial"/>
              <a:buNone/>
            </a:pPr>
            <a:r>
              <a:rPr b="1" lang="en-US" sz="740">
                <a:solidFill>
                  <a:srgbClr val="0F8B8D"/>
                </a:solidFill>
                <a:latin typeface="Arial"/>
                <a:ea typeface="Arial"/>
                <a:cs typeface="Arial"/>
                <a:sym typeface="Arial"/>
              </a:rPr>
              <a:t>MOTIVATION</a:t>
            </a:r>
            <a:endParaRPr sz="740">
              <a:solidFill>
                <a:schemeClr val="dk1"/>
              </a:solidFill>
              <a:latin typeface="Arial"/>
              <a:ea typeface="Arial"/>
              <a:cs typeface="Arial"/>
              <a:sym typeface="Arial"/>
            </a:endParaRPr>
          </a:p>
        </p:txBody>
      </p:sp>
      <p:sp>
        <p:nvSpPr>
          <p:cNvPr id="34" name="Google Shape;34;p5"/>
          <p:cNvSpPr/>
          <p:nvPr/>
        </p:nvSpPr>
        <p:spPr>
          <a:xfrm>
            <a:off x="658368" y="1691640"/>
            <a:ext cx="3383280" cy="1965960"/>
          </a:xfrm>
          <a:prstGeom prst="roundRect">
            <a:avLst>
              <a:gd fmla="val 3721" name="adj"/>
            </a:avLst>
          </a:prstGeom>
          <a:solidFill>
            <a:srgbClr val="FFFFFF"/>
          </a:solidFill>
          <a:ln cap="flat" cmpd="sng" w="1270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 name="Google Shape;35;p5"/>
          <p:cNvSpPr/>
          <p:nvPr/>
        </p:nvSpPr>
        <p:spPr>
          <a:xfrm>
            <a:off x="658368" y="1691640"/>
            <a:ext cx="64008" cy="1965960"/>
          </a:xfrm>
          <a:prstGeom prst="rect">
            <a:avLst/>
          </a:prstGeom>
          <a:solidFill>
            <a:srgbClr val="6F5BD3"/>
          </a:solidFill>
          <a:ln cap="flat" cmpd="sng" w="12700">
            <a:solidFill>
              <a:srgbClr val="6F5B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 name="Google Shape;36;p5"/>
          <p:cNvSpPr/>
          <p:nvPr/>
        </p:nvSpPr>
        <p:spPr>
          <a:xfrm>
            <a:off x="859536" y="1856232"/>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300"/>
              <a:buFont typeface="Arial"/>
              <a:buNone/>
            </a:pPr>
            <a:r>
              <a:rPr b="1" lang="en-US" sz="1300">
                <a:solidFill>
                  <a:srgbClr val="172033"/>
                </a:solidFill>
                <a:latin typeface="Arial"/>
                <a:ea typeface="Arial"/>
                <a:cs typeface="Arial"/>
                <a:sym typeface="Arial"/>
              </a:rPr>
              <a:t>Small batches</a:t>
            </a:r>
            <a:endParaRPr sz="1300">
              <a:solidFill>
                <a:schemeClr val="dk1"/>
              </a:solidFill>
              <a:latin typeface="Arial"/>
              <a:ea typeface="Arial"/>
              <a:cs typeface="Arial"/>
              <a:sym typeface="Arial"/>
            </a:endParaRPr>
          </a:p>
        </p:txBody>
      </p:sp>
      <p:sp>
        <p:nvSpPr>
          <p:cNvPr id="37" name="Google Shape;37;p5"/>
          <p:cNvSpPr/>
          <p:nvPr/>
        </p:nvSpPr>
        <p:spPr>
          <a:xfrm>
            <a:off x="859536" y="2221992"/>
            <a:ext cx="2999232" cy="130759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More frequent parameter updates</a:t>
            </a:r>
            <a:endParaRPr sz="1100">
              <a:solidFill>
                <a:schemeClr val="dk1"/>
              </a:solidFill>
              <a:latin typeface="Arial"/>
              <a:ea typeface="Arial"/>
              <a:cs typeface="Arial"/>
              <a:sym typeface="Arial"/>
            </a:endParaRPr>
          </a:p>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Noisier gradients can aid exploration</a:t>
            </a:r>
            <a:endParaRPr sz="1100">
              <a:solidFill>
                <a:schemeClr val="dk1"/>
              </a:solidFill>
              <a:latin typeface="Arial"/>
              <a:ea typeface="Arial"/>
              <a:cs typeface="Arial"/>
              <a:sym typeface="Arial"/>
            </a:endParaRPr>
          </a:p>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Lower memory footprint</a:t>
            </a:r>
            <a:endParaRPr sz="1100">
              <a:solidFill>
                <a:schemeClr val="dk1"/>
              </a:solidFill>
              <a:latin typeface="Arial"/>
              <a:ea typeface="Arial"/>
              <a:cs typeface="Arial"/>
              <a:sym typeface="Arial"/>
            </a:endParaRPr>
          </a:p>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Less parallel work per step</a:t>
            </a:r>
            <a:endParaRPr sz="1100">
              <a:solidFill>
                <a:schemeClr val="dk1"/>
              </a:solidFill>
              <a:latin typeface="Arial"/>
              <a:ea typeface="Arial"/>
              <a:cs typeface="Arial"/>
              <a:sym typeface="Arial"/>
            </a:endParaRPr>
          </a:p>
        </p:txBody>
      </p:sp>
      <p:sp>
        <p:nvSpPr>
          <p:cNvPr id="38" name="Google Shape;38;p5"/>
          <p:cNvSpPr/>
          <p:nvPr/>
        </p:nvSpPr>
        <p:spPr>
          <a:xfrm>
            <a:off x="4407408" y="1691640"/>
            <a:ext cx="3383280" cy="1965960"/>
          </a:xfrm>
          <a:prstGeom prst="roundRect">
            <a:avLst>
              <a:gd fmla="val 3721" name="adj"/>
            </a:avLst>
          </a:prstGeom>
          <a:solidFill>
            <a:srgbClr val="FFFFFF"/>
          </a:solidFill>
          <a:ln cap="flat" cmpd="sng" w="1270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5"/>
          <p:cNvSpPr/>
          <p:nvPr/>
        </p:nvSpPr>
        <p:spPr>
          <a:xfrm>
            <a:off x="4407408" y="1691640"/>
            <a:ext cx="64008" cy="1965960"/>
          </a:xfrm>
          <a:prstGeom prst="rect">
            <a:avLst/>
          </a:prstGeom>
          <a:solidFill>
            <a:srgbClr val="F28E2B"/>
          </a:solidFill>
          <a:ln cap="flat" cmpd="sng" w="12700">
            <a:solidFill>
              <a:srgbClr val="F28E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5"/>
          <p:cNvSpPr/>
          <p:nvPr/>
        </p:nvSpPr>
        <p:spPr>
          <a:xfrm>
            <a:off x="4608576" y="1856232"/>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300"/>
              <a:buFont typeface="Arial"/>
              <a:buNone/>
            </a:pPr>
            <a:r>
              <a:rPr b="1" lang="en-US" sz="1300">
                <a:solidFill>
                  <a:srgbClr val="172033"/>
                </a:solidFill>
                <a:latin typeface="Arial"/>
                <a:ea typeface="Arial"/>
                <a:cs typeface="Arial"/>
                <a:sym typeface="Arial"/>
              </a:rPr>
              <a:t>Large batches</a:t>
            </a:r>
            <a:endParaRPr sz="1300">
              <a:solidFill>
                <a:schemeClr val="dk1"/>
              </a:solidFill>
              <a:latin typeface="Arial"/>
              <a:ea typeface="Arial"/>
              <a:cs typeface="Arial"/>
              <a:sym typeface="Arial"/>
            </a:endParaRPr>
          </a:p>
        </p:txBody>
      </p:sp>
      <p:sp>
        <p:nvSpPr>
          <p:cNvPr id="41" name="Google Shape;41;p5"/>
          <p:cNvSpPr/>
          <p:nvPr/>
        </p:nvSpPr>
        <p:spPr>
          <a:xfrm>
            <a:off x="4608576" y="2221992"/>
            <a:ext cx="2999232" cy="130759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Fewer optimizer updates per epoch</a:t>
            </a:r>
            <a:endParaRPr sz="1100">
              <a:solidFill>
                <a:schemeClr val="dk1"/>
              </a:solidFill>
              <a:latin typeface="Arial"/>
              <a:ea typeface="Arial"/>
              <a:cs typeface="Arial"/>
              <a:sym typeface="Arial"/>
            </a:endParaRPr>
          </a:p>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More parallelism / throughput potential</a:t>
            </a:r>
            <a:endParaRPr sz="1100">
              <a:solidFill>
                <a:schemeClr val="dk1"/>
              </a:solidFill>
              <a:latin typeface="Arial"/>
              <a:ea typeface="Arial"/>
              <a:cs typeface="Arial"/>
              <a:sym typeface="Arial"/>
            </a:endParaRPr>
          </a:p>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Lower gradient variance</a:t>
            </a:r>
            <a:endParaRPr sz="1100">
              <a:solidFill>
                <a:schemeClr val="dk1"/>
              </a:solidFill>
              <a:latin typeface="Arial"/>
              <a:ea typeface="Arial"/>
              <a:cs typeface="Arial"/>
              <a:sym typeface="Arial"/>
            </a:endParaRPr>
          </a:p>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Diminishing returns beyond a useful scale</a:t>
            </a:r>
            <a:endParaRPr sz="1100">
              <a:solidFill>
                <a:schemeClr val="dk1"/>
              </a:solidFill>
              <a:latin typeface="Arial"/>
              <a:ea typeface="Arial"/>
              <a:cs typeface="Arial"/>
              <a:sym typeface="Arial"/>
            </a:endParaRPr>
          </a:p>
        </p:txBody>
      </p:sp>
      <p:sp>
        <p:nvSpPr>
          <p:cNvPr id="42" name="Google Shape;42;p5"/>
          <p:cNvSpPr/>
          <p:nvPr/>
        </p:nvSpPr>
        <p:spPr>
          <a:xfrm>
            <a:off x="8156448" y="1691640"/>
            <a:ext cx="3383280" cy="1965960"/>
          </a:xfrm>
          <a:prstGeom prst="roundRect">
            <a:avLst>
              <a:gd fmla="val 3721" name="adj"/>
            </a:avLst>
          </a:prstGeom>
          <a:solidFill>
            <a:srgbClr val="FFFFFF"/>
          </a:solidFill>
          <a:ln cap="flat" cmpd="sng" w="1270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 name="Google Shape;43;p5"/>
          <p:cNvSpPr/>
          <p:nvPr/>
        </p:nvSpPr>
        <p:spPr>
          <a:xfrm>
            <a:off x="8156448" y="1691640"/>
            <a:ext cx="64008" cy="1965960"/>
          </a:xfrm>
          <a:prstGeom prst="rect">
            <a:avLst/>
          </a:prstGeom>
          <a:solidFill>
            <a:srgbClr val="2F6BFF"/>
          </a:solidFill>
          <a:ln cap="flat" cmpd="sng" w="12700">
            <a:solidFill>
              <a:srgbClr val="2F6B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5"/>
          <p:cNvSpPr/>
          <p:nvPr/>
        </p:nvSpPr>
        <p:spPr>
          <a:xfrm>
            <a:off x="8357616" y="1856232"/>
            <a:ext cx="3017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300"/>
              <a:buFont typeface="Arial"/>
              <a:buNone/>
            </a:pPr>
            <a:r>
              <a:rPr b="1" lang="en-US" sz="1300">
                <a:solidFill>
                  <a:srgbClr val="172033"/>
                </a:solidFill>
                <a:latin typeface="Arial"/>
                <a:ea typeface="Arial"/>
                <a:cs typeface="Arial"/>
                <a:sym typeface="Arial"/>
              </a:rPr>
              <a:t>Learning rate</a:t>
            </a:r>
            <a:endParaRPr sz="1300">
              <a:solidFill>
                <a:schemeClr val="dk1"/>
              </a:solidFill>
              <a:latin typeface="Arial"/>
              <a:ea typeface="Arial"/>
              <a:cs typeface="Arial"/>
              <a:sym typeface="Arial"/>
            </a:endParaRPr>
          </a:p>
        </p:txBody>
      </p:sp>
      <p:sp>
        <p:nvSpPr>
          <p:cNvPr id="45" name="Google Shape;45;p5"/>
          <p:cNvSpPr/>
          <p:nvPr/>
        </p:nvSpPr>
        <p:spPr>
          <a:xfrm>
            <a:off x="8357616" y="2221992"/>
            <a:ext cx="2999232" cy="1307592"/>
          </a:xfrm>
          <a:prstGeom prst="rect">
            <a:avLst/>
          </a:prstGeom>
          <a:noFill/>
          <a:ln>
            <a:noFill/>
          </a:ln>
        </p:spPr>
        <p:txBody>
          <a:bodyPr anchorCtr="0" anchor="t" bIns="250" lIns="250" spcFirstLastPara="1" rIns="250" wrap="square" tIns="250">
            <a:noAutofit/>
          </a:bodyPr>
          <a:lstStyle/>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Controls step magnitude</a:t>
            </a:r>
            <a:endParaRPr sz="1100">
              <a:solidFill>
                <a:schemeClr val="dk1"/>
              </a:solidFill>
              <a:latin typeface="Arial"/>
              <a:ea typeface="Arial"/>
              <a:cs typeface="Arial"/>
              <a:sym typeface="Arial"/>
            </a:endParaRPr>
          </a:p>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Interacts with batch size and noise</a:t>
            </a:r>
            <a:endParaRPr sz="1100">
              <a:solidFill>
                <a:schemeClr val="dk1"/>
              </a:solidFill>
              <a:latin typeface="Arial"/>
              <a:ea typeface="Arial"/>
              <a:cs typeface="Arial"/>
              <a:sym typeface="Arial"/>
            </a:endParaRPr>
          </a:p>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Often needs decay or warmup</a:t>
            </a:r>
            <a:endParaRPr sz="1100">
              <a:solidFill>
                <a:schemeClr val="dk1"/>
              </a:solidFill>
              <a:latin typeface="Arial"/>
              <a:ea typeface="Arial"/>
              <a:cs typeface="Arial"/>
              <a:sym typeface="Arial"/>
            </a:endParaRPr>
          </a:p>
          <a:p>
            <a:pPr indent="0" lvl="0" marL="0" marR="0" rtl="0" algn="l">
              <a:spcBef>
                <a:spcPts val="0"/>
              </a:spcBef>
              <a:spcAft>
                <a:spcPts val="0"/>
              </a:spcAft>
              <a:buClr>
                <a:srgbClr val="5B6577"/>
              </a:buClr>
              <a:buSzPts val="1100"/>
              <a:buFont typeface="Arial"/>
              <a:buNone/>
            </a:pPr>
            <a:r>
              <a:rPr lang="en-US" sz="1100">
                <a:solidFill>
                  <a:srgbClr val="5B6577"/>
                </a:solidFill>
                <a:latin typeface="Arial"/>
                <a:ea typeface="Arial"/>
                <a:cs typeface="Arial"/>
                <a:sym typeface="Arial"/>
              </a:rPr>
              <a:t>• A fixed schedule may react too late</a:t>
            </a:r>
            <a:endParaRPr sz="1100">
              <a:solidFill>
                <a:schemeClr val="dk1"/>
              </a:solidFill>
              <a:latin typeface="Arial"/>
              <a:ea typeface="Arial"/>
              <a:cs typeface="Arial"/>
              <a:sym typeface="Arial"/>
            </a:endParaRPr>
          </a:p>
        </p:txBody>
      </p:sp>
      <p:sp>
        <p:nvSpPr>
          <p:cNvPr id="46" name="Google Shape;46;p5"/>
          <p:cNvSpPr/>
          <p:nvPr/>
        </p:nvSpPr>
        <p:spPr>
          <a:xfrm>
            <a:off x="1243584" y="4251960"/>
            <a:ext cx="9692640" cy="1243584"/>
          </a:xfrm>
          <a:prstGeom prst="roundRect">
            <a:avLst>
              <a:gd fmla="val 5882" name="adj"/>
            </a:avLst>
          </a:prstGeom>
          <a:solidFill>
            <a:srgbClr val="172033"/>
          </a:solidFill>
          <a:ln cap="flat" cmpd="sng" w="12700">
            <a:solidFill>
              <a:srgbClr val="17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5"/>
          <p:cNvSpPr/>
          <p:nvPr/>
        </p:nvSpPr>
        <p:spPr>
          <a:xfrm>
            <a:off x="1536192" y="4498848"/>
            <a:ext cx="1828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CD7D3"/>
              </a:buClr>
              <a:buSzPts val="900"/>
              <a:buFont typeface="Arial"/>
              <a:buNone/>
            </a:pPr>
            <a:r>
              <a:rPr b="1" lang="en-US" sz="900">
                <a:solidFill>
                  <a:srgbClr val="9CD7D3"/>
                </a:solidFill>
                <a:latin typeface="Arial"/>
                <a:ea typeface="Arial"/>
                <a:cs typeface="Arial"/>
                <a:sym typeface="Arial"/>
              </a:rPr>
              <a:t>Research question</a:t>
            </a:r>
            <a:endParaRPr sz="900">
              <a:solidFill>
                <a:schemeClr val="dk1"/>
              </a:solidFill>
              <a:latin typeface="Arial"/>
              <a:ea typeface="Arial"/>
              <a:cs typeface="Arial"/>
              <a:sym typeface="Arial"/>
            </a:endParaRPr>
          </a:p>
        </p:txBody>
      </p:sp>
      <p:sp>
        <p:nvSpPr>
          <p:cNvPr id="48" name="Google Shape;48;p5"/>
          <p:cNvSpPr/>
          <p:nvPr/>
        </p:nvSpPr>
        <p:spPr>
          <a:xfrm>
            <a:off x="1536192" y="4773168"/>
            <a:ext cx="9006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Arial"/>
              <a:buNone/>
            </a:pPr>
            <a:r>
              <a:rPr b="1" lang="en-US" sz="1800">
                <a:solidFill>
                  <a:srgbClr val="FFFFFF"/>
                </a:solidFill>
                <a:latin typeface="Arial"/>
                <a:ea typeface="Arial"/>
                <a:cs typeface="Arial"/>
                <a:sym typeface="Arial"/>
              </a:rPr>
              <a:t>Can validation behavior and gradient stability drive batch-size and learning-rate changes that improve the accuracy–efficiency tradeoff?</a:t>
            </a:r>
            <a:endParaRPr sz="1800">
              <a:solidFill>
                <a:schemeClr val="dk1"/>
              </a:solidFill>
              <a:latin typeface="Arial"/>
              <a:ea typeface="Arial"/>
              <a:cs typeface="Arial"/>
              <a:sym typeface="Arial"/>
            </a:endParaRPr>
          </a:p>
        </p:txBody>
      </p:sp>
      <p:sp>
        <p:nvSpPr>
          <p:cNvPr id="49" name="Google Shape;49;p5"/>
          <p:cNvSpPr txBox="1"/>
          <p:nvPr>
            <p:ph idx="4294967295" type="sldNum"/>
          </p:nvPr>
        </p:nvSpPr>
        <p:spPr>
          <a:xfrm>
            <a:off x="11384280" y="6473952"/>
            <a:ext cx="320040" cy="18288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800">
                <a:solidFill>
                  <a:srgbClr val="5B6577"/>
                </a:solidFill>
                <a:latin typeface="Arial"/>
                <a:ea typeface="Arial"/>
                <a:cs typeface="Arial"/>
                <a:sym typeface="Arial"/>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6"/>
          <p:cNvSpPr/>
          <p:nvPr/>
        </p:nvSpPr>
        <p:spPr>
          <a:xfrm>
            <a:off x="594360" y="384048"/>
            <a:ext cx="10881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400"/>
              <a:buFont typeface="Play"/>
              <a:buNone/>
            </a:pPr>
            <a:r>
              <a:rPr b="1" lang="en-US" sz="2400">
                <a:solidFill>
                  <a:srgbClr val="172033"/>
                </a:solidFill>
                <a:latin typeface="Play"/>
                <a:ea typeface="Play"/>
                <a:cs typeface="Play"/>
                <a:sym typeface="Play"/>
              </a:rPr>
              <a:t>Literature review I — the large-batch debate</a:t>
            </a:r>
            <a:endParaRPr sz="2400">
              <a:solidFill>
                <a:schemeClr val="dk1"/>
              </a:solidFill>
              <a:latin typeface="Arial"/>
              <a:ea typeface="Arial"/>
              <a:cs typeface="Arial"/>
              <a:sym typeface="Arial"/>
            </a:endParaRPr>
          </a:p>
        </p:txBody>
      </p:sp>
      <p:sp>
        <p:nvSpPr>
          <p:cNvPr id="56" name="Google Shape;56;p6"/>
          <p:cNvSpPr/>
          <p:nvPr/>
        </p:nvSpPr>
        <p:spPr>
          <a:xfrm>
            <a:off x="612648" y="850392"/>
            <a:ext cx="10789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1050"/>
              <a:buFont typeface="Arial"/>
              <a:buNone/>
            </a:pPr>
            <a:r>
              <a:rPr lang="en-US" sz="1050">
                <a:solidFill>
                  <a:srgbClr val="5B6577"/>
                </a:solidFill>
                <a:latin typeface="Arial"/>
                <a:ea typeface="Arial"/>
                <a:cs typeface="Arial"/>
                <a:sym typeface="Arial"/>
              </a:rPr>
              <a:t>The literature moved from “large batches hurt” toward a more conditional view.</a:t>
            </a:r>
            <a:endParaRPr sz="1050">
              <a:solidFill>
                <a:schemeClr val="dk1"/>
              </a:solidFill>
              <a:latin typeface="Arial"/>
              <a:ea typeface="Arial"/>
              <a:cs typeface="Arial"/>
              <a:sym typeface="Arial"/>
            </a:endParaRPr>
          </a:p>
        </p:txBody>
      </p:sp>
      <p:sp>
        <p:nvSpPr>
          <p:cNvPr id="57" name="Google Shape;57;p6"/>
          <p:cNvSpPr/>
          <p:nvPr/>
        </p:nvSpPr>
        <p:spPr>
          <a:xfrm>
            <a:off x="612648" y="1207008"/>
            <a:ext cx="1600200" cy="320040"/>
          </a:xfrm>
          <a:prstGeom prst="roundRect">
            <a:avLst>
              <a:gd fmla="val 22857" name="adj"/>
            </a:avLst>
          </a:prstGeom>
          <a:solidFill>
            <a:srgbClr val="E8F5F4"/>
          </a:solidFill>
          <a:ln cap="flat" cmpd="sng" w="12700">
            <a:solidFill>
              <a:srgbClr val="E8F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 name="Google Shape;58;p6"/>
          <p:cNvSpPr/>
          <p:nvPr/>
        </p:nvSpPr>
        <p:spPr>
          <a:xfrm>
            <a:off x="704088" y="1289304"/>
            <a:ext cx="1417320" cy="1188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8B8D"/>
              </a:buClr>
              <a:buSzPts val="740"/>
              <a:buFont typeface="Arial"/>
              <a:buNone/>
            </a:pPr>
            <a:r>
              <a:rPr b="1" lang="en-US" sz="740">
                <a:solidFill>
                  <a:srgbClr val="0F8B8D"/>
                </a:solidFill>
                <a:latin typeface="Arial"/>
                <a:ea typeface="Arial"/>
                <a:cs typeface="Arial"/>
                <a:sym typeface="Arial"/>
              </a:rPr>
              <a:t>LITERATURE</a:t>
            </a:r>
            <a:endParaRPr sz="740">
              <a:solidFill>
                <a:schemeClr val="dk1"/>
              </a:solidFill>
              <a:latin typeface="Arial"/>
              <a:ea typeface="Arial"/>
              <a:cs typeface="Arial"/>
              <a:sym typeface="Arial"/>
            </a:endParaRPr>
          </a:p>
        </p:txBody>
      </p:sp>
      <p:sp>
        <p:nvSpPr>
          <p:cNvPr id="59" name="Google Shape;59;p6"/>
          <p:cNvSpPr/>
          <p:nvPr/>
        </p:nvSpPr>
        <p:spPr>
          <a:xfrm>
            <a:off x="658368" y="1664208"/>
            <a:ext cx="2359152" cy="1572768"/>
          </a:xfrm>
          <a:prstGeom prst="roundRect">
            <a:avLst>
              <a:gd fmla="val 3488" name="adj"/>
            </a:avLst>
          </a:prstGeom>
          <a:solidFill>
            <a:srgbClr val="FFFFFF"/>
          </a:solidFill>
          <a:ln cap="flat" cmpd="sng" w="1270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 name="Google Shape;60;p6"/>
          <p:cNvSpPr/>
          <p:nvPr/>
        </p:nvSpPr>
        <p:spPr>
          <a:xfrm>
            <a:off x="822960" y="1801368"/>
            <a:ext cx="640080" cy="292608"/>
          </a:xfrm>
          <a:prstGeom prst="roundRect">
            <a:avLst>
              <a:gd fmla="val 37500" name="adj"/>
            </a:avLst>
          </a:prstGeom>
          <a:solidFill>
            <a:srgbClr val="EEF1F5"/>
          </a:solidFill>
          <a:ln cap="flat" cmpd="sng" w="12700">
            <a:solidFill>
              <a:srgbClr val="EEF1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6"/>
          <p:cNvSpPr/>
          <p:nvPr/>
        </p:nvSpPr>
        <p:spPr>
          <a:xfrm>
            <a:off x="896112" y="1879092"/>
            <a:ext cx="493776"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033"/>
              </a:buClr>
              <a:buSzPts val="800"/>
              <a:buFont typeface="Arial"/>
              <a:buNone/>
            </a:pPr>
            <a:r>
              <a:rPr b="1" lang="en-US" sz="800">
                <a:solidFill>
                  <a:srgbClr val="172033"/>
                </a:solidFill>
                <a:latin typeface="Arial"/>
                <a:ea typeface="Arial"/>
                <a:cs typeface="Arial"/>
                <a:sym typeface="Arial"/>
              </a:rPr>
              <a:t>2017</a:t>
            </a:r>
            <a:endParaRPr sz="800">
              <a:solidFill>
                <a:schemeClr val="dk1"/>
              </a:solidFill>
              <a:latin typeface="Arial"/>
              <a:ea typeface="Arial"/>
              <a:cs typeface="Arial"/>
              <a:sym typeface="Arial"/>
            </a:endParaRPr>
          </a:p>
        </p:txBody>
      </p:sp>
      <p:sp>
        <p:nvSpPr>
          <p:cNvPr id="62" name="Google Shape;62;p6"/>
          <p:cNvSpPr/>
          <p:nvPr/>
        </p:nvSpPr>
        <p:spPr>
          <a:xfrm>
            <a:off x="822960" y="2194560"/>
            <a:ext cx="19842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84C4C"/>
              </a:buClr>
              <a:buSzPts val="1200"/>
              <a:buFont typeface="Arial"/>
              <a:buNone/>
            </a:pPr>
            <a:r>
              <a:rPr b="1" lang="en-US" sz="1200">
                <a:solidFill>
                  <a:srgbClr val="C84C4C"/>
                </a:solidFill>
                <a:latin typeface="Arial"/>
                <a:ea typeface="Arial"/>
                <a:cs typeface="Arial"/>
                <a:sym typeface="Arial"/>
              </a:rPr>
              <a:t>Keskar et al.</a:t>
            </a:r>
            <a:endParaRPr sz="1200">
              <a:solidFill>
                <a:schemeClr val="dk1"/>
              </a:solidFill>
              <a:latin typeface="Arial"/>
              <a:ea typeface="Arial"/>
              <a:cs typeface="Arial"/>
              <a:sym typeface="Arial"/>
            </a:endParaRPr>
          </a:p>
        </p:txBody>
      </p:sp>
      <p:sp>
        <p:nvSpPr>
          <p:cNvPr id="63" name="Google Shape;63;p6"/>
          <p:cNvSpPr/>
          <p:nvPr/>
        </p:nvSpPr>
        <p:spPr>
          <a:xfrm>
            <a:off x="822960" y="2523744"/>
            <a:ext cx="199339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939"/>
              <a:buFont typeface="Arial"/>
              <a:buNone/>
            </a:pPr>
            <a:r>
              <a:rPr lang="en-US" sz="940">
                <a:solidFill>
                  <a:srgbClr val="5B6577"/>
                </a:solidFill>
                <a:latin typeface="Arial"/>
                <a:ea typeface="Arial"/>
                <a:cs typeface="Arial"/>
                <a:sym typeface="Arial"/>
              </a:rPr>
              <a:t>Large-batch training was associated with sharper minima and worse generalization.</a:t>
            </a:r>
            <a:endParaRPr sz="940">
              <a:solidFill>
                <a:schemeClr val="dk1"/>
              </a:solidFill>
              <a:latin typeface="Arial"/>
              <a:ea typeface="Arial"/>
              <a:cs typeface="Arial"/>
              <a:sym typeface="Arial"/>
            </a:endParaRPr>
          </a:p>
        </p:txBody>
      </p:sp>
      <p:sp>
        <p:nvSpPr>
          <p:cNvPr id="64" name="Google Shape;64;p6"/>
          <p:cNvSpPr/>
          <p:nvPr/>
        </p:nvSpPr>
        <p:spPr>
          <a:xfrm>
            <a:off x="3502152" y="1664208"/>
            <a:ext cx="2359152" cy="1572768"/>
          </a:xfrm>
          <a:prstGeom prst="roundRect">
            <a:avLst>
              <a:gd fmla="val 3488" name="adj"/>
            </a:avLst>
          </a:prstGeom>
          <a:solidFill>
            <a:srgbClr val="FFFFFF"/>
          </a:solidFill>
          <a:ln cap="flat" cmpd="sng" w="1270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6"/>
          <p:cNvSpPr/>
          <p:nvPr/>
        </p:nvSpPr>
        <p:spPr>
          <a:xfrm>
            <a:off x="3666744" y="1801368"/>
            <a:ext cx="640080" cy="292608"/>
          </a:xfrm>
          <a:prstGeom prst="roundRect">
            <a:avLst>
              <a:gd fmla="val 37500" name="adj"/>
            </a:avLst>
          </a:prstGeom>
          <a:solidFill>
            <a:srgbClr val="EEF1F5"/>
          </a:solidFill>
          <a:ln cap="flat" cmpd="sng" w="12700">
            <a:solidFill>
              <a:srgbClr val="EEF1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6"/>
          <p:cNvSpPr/>
          <p:nvPr/>
        </p:nvSpPr>
        <p:spPr>
          <a:xfrm>
            <a:off x="3739896" y="1879092"/>
            <a:ext cx="493776"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033"/>
              </a:buClr>
              <a:buSzPts val="800"/>
              <a:buFont typeface="Arial"/>
              <a:buNone/>
            </a:pPr>
            <a:r>
              <a:rPr b="1" lang="en-US" sz="800">
                <a:solidFill>
                  <a:srgbClr val="172033"/>
                </a:solidFill>
                <a:latin typeface="Arial"/>
                <a:ea typeface="Arial"/>
                <a:cs typeface="Arial"/>
                <a:sym typeface="Arial"/>
              </a:rPr>
              <a:t>2017</a:t>
            </a:r>
            <a:endParaRPr sz="800">
              <a:solidFill>
                <a:schemeClr val="dk1"/>
              </a:solidFill>
              <a:latin typeface="Arial"/>
              <a:ea typeface="Arial"/>
              <a:cs typeface="Arial"/>
              <a:sym typeface="Arial"/>
            </a:endParaRPr>
          </a:p>
        </p:txBody>
      </p:sp>
      <p:sp>
        <p:nvSpPr>
          <p:cNvPr id="67" name="Google Shape;67;p6"/>
          <p:cNvSpPr/>
          <p:nvPr/>
        </p:nvSpPr>
        <p:spPr>
          <a:xfrm>
            <a:off x="3666744" y="2194560"/>
            <a:ext cx="19842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936C"/>
              </a:buClr>
              <a:buSzPts val="1200"/>
              <a:buFont typeface="Arial"/>
              <a:buNone/>
            </a:pPr>
            <a:r>
              <a:rPr b="1" lang="en-US" sz="1200">
                <a:solidFill>
                  <a:srgbClr val="2D936C"/>
                </a:solidFill>
                <a:latin typeface="Arial"/>
                <a:ea typeface="Arial"/>
                <a:cs typeface="Arial"/>
                <a:sym typeface="Arial"/>
              </a:rPr>
              <a:t>Hoffer et al.</a:t>
            </a:r>
            <a:endParaRPr sz="1200">
              <a:solidFill>
                <a:schemeClr val="dk1"/>
              </a:solidFill>
              <a:latin typeface="Arial"/>
              <a:ea typeface="Arial"/>
              <a:cs typeface="Arial"/>
              <a:sym typeface="Arial"/>
            </a:endParaRPr>
          </a:p>
        </p:txBody>
      </p:sp>
      <p:sp>
        <p:nvSpPr>
          <p:cNvPr id="68" name="Google Shape;68;p6"/>
          <p:cNvSpPr/>
          <p:nvPr/>
        </p:nvSpPr>
        <p:spPr>
          <a:xfrm>
            <a:off x="3666744" y="2523744"/>
            <a:ext cx="199339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939"/>
              <a:buFont typeface="Arial"/>
              <a:buNone/>
            </a:pPr>
            <a:r>
              <a:rPr lang="en-US" sz="940">
                <a:solidFill>
                  <a:srgbClr val="5B6577"/>
                </a:solidFill>
                <a:latin typeface="Arial"/>
                <a:ea typeface="Arial"/>
                <a:cs typeface="Arial"/>
                <a:sym typeface="Arial"/>
              </a:rPr>
              <a:t>The gap can shrink when large-batch runs receive enough optimizer updates / longer training.</a:t>
            </a:r>
            <a:endParaRPr sz="940">
              <a:solidFill>
                <a:schemeClr val="dk1"/>
              </a:solidFill>
              <a:latin typeface="Arial"/>
              <a:ea typeface="Arial"/>
              <a:cs typeface="Arial"/>
              <a:sym typeface="Arial"/>
            </a:endParaRPr>
          </a:p>
        </p:txBody>
      </p:sp>
      <p:sp>
        <p:nvSpPr>
          <p:cNvPr id="69" name="Google Shape;69;p6"/>
          <p:cNvSpPr/>
          <p:nvPr/>
        </p:nvSpPr>
        <p:spPr>
          <a:xfrm>
            <a:off x="6345936" y="1664208"/>
            <a:ext cx="2359152" cy="1572768"/>
          </a:xfrm>
          <a:prstGeom prst="roundRect">
            <a:avLst>
              <a:gd fmla="val 3488" name="adj"/>
            </a:avLst>
          </a:prstGeom>
          <a:solidFill>
            <a:srgbClr val="FFFFFF"/>
          </a:solidFill>
          <a:ln cap="flat" cmpd="sng" w="1270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6"/>
          <p:cNvSpPr/>
          <p:nvPr/>
        </p:nvSpPr>
        <p:spPr>
          <a:xfrm>
            <a:off x="6510528" y="1801368"/>
            <a:ext cx="640080" cy="292608"/>
          </a:xfrm>
          <a:prstGeom prst="roundRect">
            <a:avLst>
              <a:gd fmla="val 37500" name="adj"/>
            </a:avLst>
          </a:prstGeom>
          <a:solidFill>
            <a:srgbClr val="EEF1F5"/>
          </a:solidFill>
          <a:ln cap="flat" cmpd="sng" w="12700">
            <a:solidFill>
              <a:srgbClr val="EEF1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6"/>
          <p:cNvSpPr/>
          <p:nvPr/>
        </p:nvSpPr>
        <p:spPr>
          <a:xfrm>
            <a:off x="6583680" y="1879092"/>
            <a:ext cx="493776"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033"/>
              </a:buClr>
              <a:buSzPts val="800"/>
              <a:buFont typeface="Arial"/>
              <a:buNone/>
            </a:pPr>
            <a:r>
              <a:rPr b="1" lang="en-US" sz="800">
                <a:solidFill>
                  <a:srgbClr val="172033"/>
                </a:solidFill>
                <a:latin typeface="Arial"/>
                <a:ea typeface="Arial"/>
                <a:cs typeface="Arial"/>
                <a:sym typeface="Arial"/>
              </a:rPr>
              <a:t>2017</a:t>
            </a:r>
            <a:endParaRPr sz="800">
              <a:solidFill>
                <a:schemeClr val="dk1"/>
              </a:solidFill>
              <a:latin typeface="Arial"/>
              <a:ea typeface="Arial"/>
              <a:cs typeface="Arial"/>
              <a:sym typeface="Arial"/>
            </a:endParaRPr>
          </a:p>
        </p:txBody>
      </p:sp>
      <p:sp>
        <p:nvSpPr>
          <p:cNvPr id="72" name="Google Shape;72;p6"/>
          <p:cNvSpPr/>
          <p:nvPr/>
        </p:nvSpPr>
        <p:spPr>
          <a:xfrm>
            <a:off x="6510528" y="2194560"/>
            <a:ext cx="19842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1200"/>
              <a:buFont typeface="Arial"/>
              <a:buNone/>
            </a:pPr>
            <a:r>
              <a:rPr b="1" lang="en-US" sz="1200">
                <a:solidFill>
                  <a:srgbClr val="2F6BFF"/>
                </a:solidFill>
                <a:latin typeface="Arial"/>
                <a:ea typeface="Arial"/>
                <a:cs typeface="Arial"/>
                <a:sym typeface="Arial"/>
              </a:rPr>
              <a:t>Goyal et al.</a:t>
            </a:r>
            <a:endParaRPr sz="1200">
              <a:solidFill>
                <a:schemeClr val="dk1"/>
              </a:solidFill>
              <a:latin typeface="Arial"/>
              <a:ea typeface="Arial"/>
              <a:cs typeface="Arial"/>
              <a:sym typeface="Arial"/>
            </a:endParaRPr>
          </a:p>
        </p:txBody>
      </p:sp>
      <p:sp>
        <p:nvSpPr>
          <p:cNvPr id="73" name="Google Shape;73;p6"/>
          <p:cNvSpPr/>
          <p:nvPr/>
        </p:nvSpPr>
        <p:spPr>
          <a:xfrm>
            <a:off x="6510528" y="2523744"/>
            <a:ext cx="199339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939"/>
              <a:buFont typeface="Arial"/>
              <a:buNone/>
            </a:pPr>
            <a:r>
              <a:rPr lang="en-US" sz="940">
                <a:solidFill>
                  <a:srgbClr val="5B6577"/>
                </a:solidFill>
                <a:latin typeface="Arial"/>
                <a:ea typeface="Arial"/>
                <a:cs typeface="Arial"/>
                <a:sym typeface="Arial"/>
              </a:rPr>
              <a:t>Large ImageNet batches can work with learning-rate scaling and gradual warmup.</a:t>
            </a:r>
            <a:endParaRPr sz="940">
              <a:solidFill>
                <a:schemeClr val="dk1"/>
              </a:solidFill>
              <a:latin typeface="Arial"/>
              <a:ea typeface="Arial"/>
              <a:cs typeface="Arial"/>
              <a:sym typeface="Arial"/>
            </a:endParaRPr>
          </a:p>
        </p:txBody>
      </p:sp>
      <p:sp>
        <p:nvSpPr>
          <p:cNvPr id="74" name="Google Shape;74;p6"/>
          <p:cNvSpPr/>
          <p:nvPr/>
        </p:nvSpPr>
        <p:spPr>
          <a:xfrm>
            <a:off x="9189720" y="1664208"/>
            <a:ext cx="2359152" cy="1572768"/>
          </a:xfrm>
          <a:prstGeom prst="roundRect">
            <a:avLst>
              <a:gd fmla="val 3488" name="adj"/>
            </a:avLst>
          </a:prstGeom>
          <a:solidFill>
            <a:srgbClr val="FFFFFF"/>
          </a:solidFill>
          <a:ln cap="flat" cmpd="sng" w="1270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 name="Google Shape;75;p6"/>
          <p:cNvSpPr/>
          <p:nvPr/>
        </p:nvSpPr>
        <p:spPr>
          <a:xfrm>
            <a:off x="9354312" y="1801368"/>
            <a:ext cx="640080" cy="292608"/>
          </a:xfrm>
          <a:prstGeom prst="roundRect">
            <a:avLst>
              <a:gd fmla="val 37500" name="adj"/>
            </a:avLst>
          </a:prstGeom>
          <a:solidFill>
            <a:srgbClr val="EEF1F5"/>
          </a:solidFill>
          <a:ln cap="flat" cmpd="sng" w="12700">
            <a:solidFill>
              <a:srgbClr val="EEF1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6" name="Google Shape;76;p6"/>
          <p:cNvSpPr/>
          <p:nvPr/>
        </p:nvSpPr>
        <p:spPr>
          <a:xfrm>
            <a:off x="9427464" y="1879092"/>
            <a:ext cx="493776"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033"/>
              </a:buClr>
              <a:buSzPts val="800"/>
              <a:buFont typeface="Arial"/>
              <a:buNone/>
            </a:pPr>
            <a:r>
              <a:rPr b="1" lang="en-US" sz="800">
                <a:solidFill>
                  <a:srgbClr val="172033"/>
                </a:solidFill>
                <a:latin typeface="Arial"/>
                <a:ea typeface="Arial"/>
                <a:cs typeface="Arial"/>
                <a:sym typeface="Arial"/>
              </a:rPr>
              <a:t>2018</a:t>
            </a:r>
            <a:endParaRPr sz="800">
              <a:solidFill>
                <a:schemeClr val="dk1"/>
              </a:solidFill>
              <a:latin typeface="Arial"/>
              <a:ea typeface="Arial"/>
              <a:cs typeface="Arial"/>
              <a:sym typeface="Arial"/>
            </a:endParaRPr>
          </a:p>
        </p:txBody>
      </p:sp>
      <p:sp>
        <p:nvSpPr>
          <p:cNvPr id="77" name="Google Shape;77;p6"/>
          <p:cNvSpPr/>
          <p:nvPr/>
        </p:nvSpPr>
        <p:spPr>
          <a:xfrm>
            <a:off x="9354312" y="2194560"/>
            <a:ext cx="19842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5BD3"/>
              </a:buClr>
              <a:buSzPts val="1200"/>
              <a:buFont typeface="Arial"/>
              <a:buNone/>
            </a:pPr>
            <a:r>
              <a:rPr b="1" lang="en-US" sz="1200">
                <a:solidFill>
                  <a:srgbClr val="6F5BD3"/>
                </a:solidFill>
                <a:latin typeface="Arial"/>
                <a:ea typeface="Arial"/>
                <a:cs typeface="Arial"/>
                <a:sym typeface="Arial"/>
              </a:rPr>
              <a:t>Masters &amp; Luschi</a:t>
            </a:r>
            <a:endParaRPr sz="1200">
              <a:solidFill>
                <a:schemeClr val="dk1"/>
              </a:solidFill>
              <a:latin typeface="Arial"/>
              <a:ea typeface="Arial"/>
              <a:cs typeface="Arial"/>
              <a:sym typeface="Arial"/>
            </a:endParaRPr>
          </a:p>
        </p:txBody>
      </p:sp>
      <p:sp>
        <p:nvSpPr>
          <p:cNvPr id="78" name="Google Shape;78;p6"/>
          <p:cNvSpPr/>
          <p:nvPr/>
        </p:nvSpPr>
        <p:spPr>
          <a:xfrm>
            <a:off x="9354312" y="2523744"/>
            <a:ext cx="199339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939"/>
              <a:buFont typeface="Arial"/>
              <a:buNone/>
            </a:pPr>
            <a:r>
              <a:rPr lang="en-US" sz="940">
                <a:solidFill>
                  <a:srgbClr val="5B6577"/>
                </a:solidFill>
                <a:latin typeface="Arial"/>
                <a:ea typeface="Arial"/>
                <a:cs typeface="Arial"/>
                <a:sym typeface="Arial"/>
              </a:rPr>
              <a:t>Small batches can provide more stable optimization and a wider stable LR region.</a:t>
            </a:r>
            <a:endParaRPr sz="940">
              <a:solidFill>
                <a:schemeClr val="dk1"/>
              </a:solidFill>
              <a:latin typeface="Arial"/>
              <a:ea typeface="Arial"/>
              <a:cs typeface="Arial"/>
              <a:sym typeface="Arial"/>
            </a:endParaRPr>
          </a:p>
        </p:txBody>
      </p:sp>
      <p:sp>
        <p:nvSpPr>
          <p:cNvPr id="79" name="Google Shape;79;p6"/>
          <p:cNvSpPr/>
          <p:nvPr/>
        </p:nvSpPr>
        <p:spPr>
          <a:xfrm>
            <a:off x="658368" y="3886200"/>
            <a:ext cx="2359152" cy="1572768"/>
          </a:xfrm>
          <a:prstGeom prst="roundRect">
            <a:avLst>
              <a:gd fmla="val 3488" name="adj"/>
            </a:avLst>
          </a:prstGeom>
          <a:solidFill>
            <a:srgbClr val="FFFFFF"/>
          </a:solidFill>
          <a:ln cap="flat" cmpd="sng" w="1270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0" name="Google Shape;80;p6"/>
          <p:cNvSpPr/>
          <p:nvPr/>
        </p:nvSpPr>
        <p:spPr>
          <a:xfrm>
            <a:off x="822960" y="4023360"/>
            <a:ext cx="640080" cy="292608"/>
          </a:xfrm>
          <a:prstGeom prst="roundRect">
            <a:avLst>
              <a:gd fmla="val 37500" name="adj"/>
            </a:avLst>
          </a:prstGeom>
          <a:solidFill>
            <a:srgbClr val="EEF1F5"/>
          </a:solidFill>
          <a:ln cap="flat" cmpd="sng" w="12700">
            <a:solidFill>
              <a:srgbClr val="EEF1F5"/>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1" name="Google Shape;81;p6"/>
          <p:cNvSpPr/>
          <p:nvPr/>
        </p:nvSpPr>
        <p:spPr>
          <a:xfrm>
            <a:off x="896112" y="4101084"/>
            <a:ext cx="493776" cy="1097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033"/>
              </a:buClr>
              <a:buSzPts val="800"/>
              <a:buFont typeface="Arial"/>
              <a:buNone/>
            </a:pPr>
            <a:r>
              <a:rPr b="1" lang="en-US" sz="800">
                <a:solidFill>
                  <a:srgbClr val="172033"/>
                </a:solidFill>
                <a:latin typeface="Arial"/>
                <a:ea typeface="Arial"/>
                <a:cs typeface="Arial"/>
                <a:sym typeface="Arial"/>
              </a:rPr>
              <a:t>2019</a:t>
            </a:r>
            <a:endParaRPr sz="800">
              <a:solidFill>
                <a:schemeClr val="dk1"/>
              </a:solidFill>
              <a:latin typeface="Arial"/>
              <a:ea typeface="Arial"/>
              <a:cs typeface="Arial"/>
              <a:sym typeface="Arial"/>
            </a:endParaRPr>
          </a:p>
        </p:txBody>
      </p:sp>
      <p:sp>
        <p:nvSpPr>
          <p:cNvPr id="82" name="Google Shape;82;p6"/>
          <p:cNvSpPr/>
          <p:nvPr/>
        </p:nvSpPr>
        <p:spPr>
          <a:xfrm>
            <a:off x="822960" y="4416552"/>
            <a:ext cx="1984248"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8B8D"/>
              </a:buClr>
              <a:buSzPts val="1200"/>
              <a:buFont typeface="Arial"/>
              <a:buNone/>
            </a:pPr>
            <a:r>
              <a:rPr b="1" lang="en-US" sz="1200">
                <a:solidFill>
                  <a:srgbClr val="0F8B8D"/>
                </a:solidFill>
                <a:latin typeface="Arial"/>
                <a:ea typeface="Arial"/>
                <a:cs typeface="Arial"/>
                <a:sym typeface="Arial"/>
              </a:rPr>
              <a:t>Shallue et al.</a:t>
            </a:r>
            <a:endParaRPr sz="1200">
              <a:solidFill>
                <a:schemeClr val="dk1"/>
              </a:solidFill>
              <a:latin typeface="Arial"/>
              <a:ea typeface="Arial"/>
              <a:cs typeface="Arial"/>
              <a:sym typeface="Arial"/>
            </a:endParaRPr>
          </a:p>
        </p:txBody>
      </p:sp>
      <p:sp>
        <p:nvSpPr>
          <p:cNvPr id="83" name="Google Shape;83;p6"/>
          <p:cNvSpPr/>
          <p:nvPr/>
        </p:nvSpPr>
        <p:spPr>
          <a:xfrm>
            <a:off x="822960" y="4745736"/>
            <a:ext cx="1993392"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939"/>
              <a:buFont typeface="Arial"/>
              <a:buNone/>
            </a:pPr>
            <a:r>
              <a:rPr lang="en-US" sz="940">
                <a:solidFill>
                  <a:srgbClr val="5B6577"/>
                </a:solidFill>
                <a:latin typeface="Arial"/>
                <a:ea typeface="Arial"/>
                <a:cs typeface="Arial"/>
                <a:sym typeface="Arial"/>
              </a:rPr>
              <a:t>Batch scaling shows diminishing returns; tuning and compute budgets explain many disagreements.</a:t>
            </a:r>
            <a:endParaRPr sz="940">
              <a:solidFill>
                <a:schemeClr val="dk1"/>
              </a:solidFill>
              <a:latin typeface="Arial"/>
              <a:ea typeface="Arial"/>
              <a:cs typeface="Arial"/>
              <a:sym typeface="Arial"/>
            </a:endParaRPr>
          </a:p>
        </p:txBody>
      </p:sp>
      <p:sp>
        <p:nvSpPr>
          <p:cNvPr id="84" name="Google Shape;84;p6"/>
          <p:cNvSpPr/>
          <p:nvPr/>
        </p:nvSpPr>
        <p:spPr>
          <a:xfrm>
            <a:off x="3364992" y="4187952"/>
            <a:ext cx="548640" cy="685800"/>
          </a:xfrm>
          <a:prstGeom prst="chevron">
            <a:avLst>
              <a:gd fmla="val 50000" name="adj"/>
            </a:avLst>
          </a:prstGeom>
          <a:solidFill>
            <a:srgbClr val="0F8B8D"/>
          </a:solidFill>
          <a:ln cap="flat" cmpd="sng" w="12700">
            <a:solidFill>
              <a:srgbClr val="0F8B8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6"/>
          <p:cNvSpPr/>
          <p:nvPr/>
        </p:nvSpPr>
        <p:spPr>
          <a:xfrm>
            <a:off x="4160520" y="4005072"/>
            <a:ext cx="7178040" cy="1371600"/>
          </a:xfrm>
          <a:prstGeom prst="roundRect">
            <a:avLst>
              <a:gd fmla="val 5333" name="adj"/>
            </a:avLst>
          </a:prstGeom>
          <a:solidFill>
            <a:srgbClr val="E8F5F4"/>
          </a:solidFill>
          <a:ln cap="flat" cmpd="sng" w="12700">
            <a:solidFill>
              <a:srgbClr val="B8E1D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6"/>
          <p:cNvSpPr/>
          <p:nvPr/>
        </p:nvSpPr>
        <p:spPr>
          <a:xfrm>
            <a:off x="4416552" y="4279392"/>
            <a:ext cx="10515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8B8D"/>
              </a:buClr>
              <a:buSzPts val="900"/>
              <a:buFont typeface="Arial"/>
              <a:buNone/>
            </a:pPr>
            <a:r>
              <a:rPr b="1" lang="en-US" sz="900">
                <a:solidFill>
                  <a:srgbClr val="0F8B8D"/>
                </a:solidFill>
                <a:latin typeface="Arial"/>
                <a:ea typeface="Arial"/>
                <a:cs typeface="Arial"/>
                <a:sym typeface="Arial"/>
              </a:rPr>
              <a:t>Takeaway</a:t>
            </a:r>
            <a:endParaRPr sz="900">
              <a:solidFill>
                <a:schemeClr val="dk1"/>
              </a:solidFill>
              <a:latin typeface="Arial"/>
              <a:ea typeface="Arial"/>
              <a:cs typeface="Arial"/>
              <a:sym typeface="Arial"/>
            </a:endParaRPr>
          </a:p>
        </p:txBody>
      </p:sp>
      <p:sp>
        <p:nvSpPr>
          <p:cNvPr id="87" name="Google Shape;87;p6"/>
          <p:cNvSpPr/>
          <p:nvPr/>
        </p:nvSpPr>
        <p:spPr>
          <a:xfrm>
            <a:off x="4416552" y="4590288"/>
            <a:ext cx="64922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500"/>
              <a:buFont typeface="Arial"/>
              <a:buNone/>
            </a:pPr>
            <a:r>
              <a:rPr b="1" lang="en-US" sz="1500">
                <a:solidFill>
                  <a:srgbClr val="172033"/>
                </a:solidFill>
                <a:latin typeface="Arial"/>
                <a:ea typeface="Arial"/>
                <a:cs typeface="Arial"/>
                <a:sym typeface="Arial"/>
              </a:rPr>
              <a:t>Batch size cannot be judged in isolation. Learning rate, number of updates, model, dataset, and training budget all change the outcome.</a:t>
            </a:r>
            <a:endParaRPr sz="1500">
              <a:solidFill>
                <a:schemeClr val="dk1"/>
              </a:solidFill>
              <a:latin typeface="Arial"/>
              <a:ea typeface="Arial"/>
              <a:cs typeface="Arial"/>
              <a:sym typeface="Arial"/>
            </a:endParaRPr>
          </a:p>
        </p:txBody>
      </p:sp>
      <p:sp>
        <p:nvSpPr>
          <p:cNvPr id="88" name="Google Shape;88;p6"/>
          <p:cNvSpPr/>
          <p:nvPr/>
        </p:nvSpPr>
        <p:spPr>
          <a:xfrm>
            <a:off x="612648" y="6263640"/>
            <a:ext cx="105156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8496"/>
              </a:buClr>
              <a:buSzPts val="730"/>
              <a:buFont typeface="Arial"/>
              <a:buNone/>
            </a:pPr>
            <a:r>
              <a:rPr i="1" lang="en-US" sz="730">
                <a:solidFill>
                  <a:srgbClr val="7B8496"/>
                </a:solidFill>
                <a:latin typeface="Arial"/>
                <a:ea typeface="Arial"/>
                <a:cs typeface="Arial"/>
                <a:sym typeface="Arial"/>
              </a:rPr>
              <a:t>Sources: Keskar et al. (2017); Hoffer et al. (2017); Goyal et al. (2017/2018); Masters &amp; Luschi (2018); Shallue et al. (2019).</a:t>
            </a:r>
            <a:endParaRPr sz="730">
              <a:solidFill>
                <a:schemeClr val="dk1"/>
              </a:solidFill>
              <a:latin typeface="Arial"/>
              <a:ea typeface="Arial"/>
              <a:cs typeface="Arial"/>
              <a:sym typeface="Arial"/>
            </a:endParaRPr>
          </a:p>
        </p:txBody>
      </p:sp>
      <p:sp>
        <p:nvSpPr>
          <p:cNvPr id="89" name="Google Shape;89;p6"/>
          <p:cNvSpPr txBox="1"/>
          <p:nvPr>
            <p:ph idx="4294967295" type="sldNum"/>
          </p:nvPr>
        </p:nvSpPr>
        <p:spPr>
          <a:xfrm>
            <a:off x="11384280" y="6473952"/>
            <a:ext cx="320040" cy="18288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800">
                <a:solidFill>
                  <a:srgbClr val="5B6577"/>
                </a:solidFill>
                <a:latin typeface="Arial"/>
                <a:ea typeface="Arial"/>
                <a:cs typeface="Arial"/>
                <a:sym typeface="Arial"/>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7"/>
          <p:cNvSpPr/>
          <p:nvPr/>
        </p:nvSpPr>
        <p:spPr>
          <a:xfrm>
            <a:off x="594360" y="384048"/>
            <a:ext cx="10881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400"/>
              <a:buFont typeface="Play"/>
              <a:buNone/>
            </a:pPr>
            <a:r>
              <a:rPr b="1" lang="en-US" sz="2400">
                <a:solidFill>
                  <a:srgbClr val="172033"/>
                </a:solidFill>
                <a:latin typeface="Play"/>
                <a:ea typeface="Play"/>
                <a:cs typeface="Play"/>
                <a:sym typeface="Play"/>
              </a:rPr>
              <a:t>Literature review II — from scaling rules to adaptive training</a:t>
            </a:r>
            <a:endParaRPr sz="2400">
              <a:solidFill>
                <a:schemeClr val="dk1"/>
              </a:solidFill>
              <a:latin typeface="Arial"/>
              <a:ea typeface="Arial"/>
              <a:cs typeface="Arial"/>
              <a:sym typeface="Arial"/>
            </a:endParaRPr>
          </a:p>
        </p:txBody>
      </p:sp>
      <p:sp>
        <p:nvSpPr>
          <p:cNvPr id="96" name="Google Shape;96;p7"/>
          <p:cNvSpPr/>
          <p:nvPr/>
        </p:nvSpPr>
        <p:spPr>
          <a:xfrm>
            <a:off x="612648" y="850392"/>
            <a:ext cx="10789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1050"/>
              <a:buFont typeface="Arial"/>
              <a:buNone/>
            </a:pPr>
            <a:r>
              <a:rPr lang="en-US" sz="1050">
                <a:solidFill>
                  <a:srgbClr val="5B6577"/>
                </a:solidFill>
                <a:latin typeface="Arial"/>
                <a:ea typeface="Arial"/>
                <a:cs typeface="Arial"/>
                <a:sym typeface="Arial"/>
              </a:rPr>
              <a:t>The papers most directly connected to our controller motivate joint, dynamic control.</a:t>
            </a:r>
            <a:endParaRPr sz="1050">
              <a:solidFill>
                <a:schemeClr val="dk1"/>
              </a:solidFill>
              <a:latin typeface="Arial"/>
              <a:ea typeface="Arial"/>
              <a:cs typeface="Arial"/>
              <a:sym typeface="Arial"/>
            </a:endParaRPr>
          </a:p>
        </p:txBody>
      </p:sp>
      <p:sp>
        <p:nvSpPr>
          <p:cNvPr id="97" name="Google Shape;97;p7"/>
          <p:cNvSpPr/>
          <p:nvPr/>
        </p:nvSpPr>
        <p:spPr>
          <a:xfrm>
            <a:off x="612648" y="1207008"/>
            <a:ext cx="1600200" cy="320040"/>
          </a:xfrm>
          <a:prstGeom prst="roundRect">
            <a:avLst>
              <a:gd fmla="val 22857" name="adj"/>
            </a:avLst>
          </a:prstGeom>
          <a:solidFill>
            <a:srgbClr val="E8F5F4"/>
          </a:solidFill>
          <a:ln cap="flat" cmpd="sng" w="12700">
            <a:solidFill>
              <a:srgbClr val="E8F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8" name="Google Shape;98;p7"/>
          <p:cNvSpPr/>
          <p:nvPr/>
        </p:nvSpPr>
        <p:spPr>
          <a:xfrm>
            <a:off x="704088" y="1289304"/>
            <a:ext cx="1417320" cy="1188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8B8D"/>
              </a:buClr>
              <a:buSzPts val="740"/>
              <a:buFont typeface="Arial"/>
              <a:buNone/>
            </a:pPr>
            <a:r>
              <a:rPr b="1" lang="en-US" sz="740">
                <a:solidFill>
                  <a:srgbClr val="0F8B8D"/>
                </a:solidFill>
                <a:latin typeface="Arial"/>
                <a:ea typeface="Arial"/>
                <a:cs typeface="Arial"/>
                <a:sym typeface="Arial"/>
              </a:rPr>
              <a:t>LITERATURE</a:t>
            </a:r>
            <a:endParaRPr sz="740">
              <a:solidFill>
                <a:schemeClr val="dk1"/>
              </a:solidFill>
              <a:latin typeface="Arial"/>
              <a:ea typeface="Arial"/>
              <a:cs typeface="Arial"/>
              <a:sym typeface="Arial"/>
            </a:endParaRPr>
          </a:p>
        </p:txBody>
      </p:sp>
      <p:sp>
        <p:nvSpPr>
          <p:cNvPr id="99" name="Google Shape;99;p7"/>
          <p:cNvSpPr/>
          <p:nvPr/>
        </p:nvSpPr>
        <p:spPr>
          <a:xfrm>
            <a:off x="658368" y="1645920"/>
            <a:ext cx="2423160" cy="438912"/>
          </a:xfrm>
          <a:prstGeom prst="rect">
            <a:avLst/>
          </a:prstGeom>
          <a:solidFill>
            <a:srgbClr val="172033"/>
          </a:solidFill>
          <a:ln cap="flat" cmpd="sng" w="12700">
            <a:solidFill>
              <a:srgbClr val="17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7"/>
          <p:cNvSpPr/>
          <p:nvPr/>
        </p:nvSpPr>
        <p:spPr>
          <a:xfrm>
            <a:off x="795528" y="1783080"/>
            <a:ext cx="2148840"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Arial"/>
              <a:buNone/>
            </a:pPr>
            <a:r>
              <a:rPr b="1" lang="en-US" sz="950">
                <a:solidFill>
                  <a:srgbClr val="FFFFFF"/>
                </a:solidFill>
                <a:latin typeface="Arial"/>
                <a:ea typeface="Arial"/>
                <a:cs typeface="Arial"/>
                <a:sym typeface="Arial"/>
              </a:rPr>
              <a:t>Study</a:t>
            </a:r>
            <a:endParaRPr sz="950">
              <a:solidFill>
                <a:schemeClr val="dk1"/>
              </a:solidFill>
              <a:latin typeface="Arial"/>
              <a:ea typeface="Arial"/>
              <a:cs typeface="Arial"/>
              <a:sym typeface="Arial"/>
            </a:endParaRPr>
          </a:p>
        </p:txBody>
      </p:sp>
      <p:sp>
        <p:nvSpPr>
          <p:cNvPr id="101" name="Google Shape;101;p7"/>
          <p:cNvSpPr/>
          <p:nvPr/>
        </p:nvSpPr>
        <p:spPr>
          <a:xfrm>
            <a:off x="3246120" y="1645920"/>
            <a:ext cx="4389120" cy="438912"/>
          </a:xfrm>
          <a:prstGeom prst="rect">
            <a:avLst/>
          </a:prstGeom>
          <a:solidFill>
            <a:srgbClr val="172033"/>
          </a:solidFill>
          <a:ln cap="flat" cmpd="sng" w="12700">
            <a:solidFill>
              <a:srgbClr val="17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7"/>
          <p:cNvSpPr/>
          <p:nvPr/>
        </p:nvSpPr>
        <p:spPr>
          <a:xfrm>
            <a:off x="3383280" y="1783080"/>
            <a:ext cx="4114800"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Arial"/>
              <a:buNone/>
            </a:pPr>
            <a:r>
              <a:rPr b="1" lang="en-US" sz="950">
                <a:solidFill>
                  <a:srgbClr val="FFFFFF"/>
                </a:solidFill>
                <a:latin typeface="Arial"/>
                <a:ea typeface="Arial"/>
                <a:cs typeface="Arial"/>
                <a:sym typeface="Arial"/>
              </a:rPr>
              <a:t>Core result</a:t>
            </a:r>
            <a:endParaRPr sz="950">
              <a:solidFill>
                <a:schemeClr val="dk1"/>
              </a:solidFill>
              <a:latin typeface="Arial"/>
              <a:ea typeface="Arial"/>
              <a:cs typeface="Arial"/>
              <a:sym typeface="Arial"/>
            </a:endParaRPr>
          </a:p>
        </p:txBody>
      </p:sp>
      <p:sp>
        <p:nvSpPr>
          <p:cNvPr id="103" name="Google Shape;103;p7"/>
          <p:cNvSpPr/>
          <p:nvPr/>
        </p:nvSpPr>
        <p:spPr>
          <a:xfrm>
            <a:off x="7818120" y="1645920"/>
            <a:ext cx="3730752" cy="438912"/>
          </a:xfrm>
          <a:prstGeom prst="rect">
            <a:avLst/>
          </a:prstGeom>
          <a:solidFill>
            <a:srgbClr val="172033"/>
          </a:solidFill>
          <a:ln cap="flat" cmpd="sng" w="12700">
            <a:solidFill>
              <a:srgbClr val="1720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7"/>
          <p:cNvSpPr/>
          <p:nvPr/>
        </p:nvSpPr>
        <p:spPr>
          <a:xfrm>
            <a:off x="7955280" y="1783080"/>
            <a:ext cx="3456432" cy="12801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Arial"/>
              <a:buNone/>
            </a:pPr>
            <a:r>
              <a:rPr b="1" lang="en-US" sz="950">
                <a:solidFill>
                  <a:srgbClr val="FFFFFF"/>
                </a:solidFill>
                <a:latin typeface="Arial"/>
                <a:ea typeface="Arial"/>
                <a:cs typeface="Arial"/>
                <a:sym typeface="Arial"/>
              </a:rPr>
              <a:t>How it shapes our design</a:t>
            </a:r>
            <a:endParaRPr sz="950">
              <a:solidFill>
                <a:schemeClr val="dk1"/>
              </a:solidFill>
              <a:latin typeface="Arial"/>
              <a:ea typeface="Arial"/>
              <a:cs typeface="Arial"/>
              <a:sym typeface="Arial"/>
            </a:endParaRPr>
          </a:p>
        </p:txBody>
      </p:sp>
      <p:sp>
        <p:nvSpPr>
          <p:cNvPr id="105" name="Google Shape;105;p7"/>
          <p:cNvSpPr/>
          <p:nvPr/>
        </p:nvSpPr>
        <p:spPr>
          <a:xfrm>
            <a:off x="658368" y="2084832"/>
            <a:ext cx="2423160" cy="896112"/>
          </a:xfrm>
          <a:prstGeom prst="rect">
            <a:avLst/>
          </a:prstGeom>
          <a:solidFill>
            <a:srgbClr val="FFFFFF"/>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7"/>
          <p:cNvSpPr/>
          <p:nvPr/>
        </p:nvSpPr>
        <p:spPr>
          <a:xfrm>
            <a:off x="3246120" y="2084832"/>
            <a:ext cx="4389120" cy="896112"/>
          </a:xfrm>
          <a:prstGeom prst="rect">
            <a:avLst/>
          </a:prstGeom>
          <a:solidFill>
            <a:srgbClr val="FFFFFF"/>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7"/>
          <p:cNvSpPr/>
          <p:nvPr/>
        </p:nvSpPr>
        <p:spPr>
          <a:xfrm>
            <a:off x="7818120" y="2084832"/>
            <a:ext cx="3730752" cy="896112"/>
          </a:xfrm>
          <a:prstGeom prst="rect">
            <a:avLst/>
          </a:prstGeom>
          <a:solidFill>
            <a:srgbClr val="FFFFFF"/>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7"/>
          <p:cNvSpPr/>
          <p:nvPr/>
        </p:nvSpPr>
        <p:spPr>
          <a:xfrm>
            <a:off x="786384" y="2295144"/>
            <a:ext cx="216712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950"/>
              <a:buFont typeface="Arial"/>
              <a:buNone/>
            </a:pPr>
            <a:r>
              <a:rPr b="1" lang="en-US" sz="950">
                <a:solidFill>
                  <a:srgbClr val="2F6BFF"/>
                </a:solidFill>
                <a:latin typeface="Arial"/>
                <a:ea typeface="Arial"/>
                <a:cs typeface="Arial"/>
                <a:sym typeface="Arial"/>
              </a:rPr>
              <a:t>Smith et al. (2018)</a:t>
            </a:r>
            <a:endParaRPr sz="950">
              <a:solidFill>
                <a:schemeClr val="dk1"/>
              </a:solidFill>
              <a:latin typeface="Arial"/>
              <a:ea typeface="Arial"/>
              <a:cs typeface="Arial"/>
              <a:sym typeface="Arial"/>
            </a:endParaRPr>
          </a:p>
        </p:txBody>
      </p:sp>
      <p:sp>
        <p:nvSpPr>
          <p:cNvPr id="109" name="Google Shape;109;p7"/>
          <p:cNvSpPr/>
          <p:nvPr/>
        </p:nvSpPr>
        <p:spPr>
          <a:xfrm>
            <a:off x="3374136" y="2231136"/>
            <a:ext cx="4133088"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920"/>
              <a:buFont typeface="Arial"/>
              <a:buNone/>
            </a:pPr>
            <a:r>
              <a:rPr lang="en-US" sz="920">
                <a:solidFill>
                  <a:srgbClr val="5B6577"/>
                </a:solidFill>
                <a:latin typeface="Arial"/>
                <a:ea typeface="Arial"/>
                <a:cs typeface="Arial"/>
                <a:sym typeface="Arial"/>
              </a:rPr>
              <a:t>Increasing batch size can replace parts of LR decay while reducing parameter updates.</a:t>
            </a:r>
            <a:endParaRPr sz="920">
              <a:solidFill>
                <a:schemeClr val="dk1"/>
              </a:solidFill>
              <a:latin typeface="Arial"/>
              <a:ea typeface="Arial"/>
              <a:cs typeface="Arial"/>
              <a:sym typeface="Arial"/>
            </a:endParaRPr>
          </a:p>
        </p:txBody>
      </p:sp>
      <p:sp>
        <p:nvSpPr>
          <p:cNvPr id="110" name="Google Shape;110;p7"/>
          <p:cNvSpPr/>
          <p:nvPr/>
        </p:nvSpPr>
        <p:spPr>
          <a:xfrm>
            <a:off x="7946136" y="2231136"/>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920"/>
              <a:buFont typeface="Arial"/>
              <a:buNone/>
            </a:pPr>
            <a:r>
              <a:rPr b="1" lang="en-US" sz="920">
                <a:solidFill>
                  <a:srgbClr val="172033"/>
                </a:solidFill>
                <a:latin typeface="Arial"/>
                <a:ea typeface="Arial"/>
                <a:cs typeface="Arial"/>
                <a:sym typeface="Arial"/>
              </a:rPr>
              <a:t>Treat batch size and LR as coupled.</a:t>
            </a:r>
            <a:endParaRPr sz="920">
              <a:solidFill>
                <a:schemeClr val="dk1"/>
              </a:solidFill>
              <a:latin typeface="Arial"/>
              <a:ea typeface="Arial"/>
              <a:cs typeface="Arial"/>
              <a:sym typeface="Arial"/>
            </a:endParaRPr>
          </a:p>
        </p:txBody>
      </p:sp>
      <p:sp>
        <p:nvSpPr>
          <p:cNvPr id="111" name="Google Shape;111;p7"/>
          <p:cNvSpPr/>
          <p:nvPr/>
        </p:nvSpPr>
        <p:spPr>
          <a:xfrm>
            <a:off x="658368" y="2980944"/>
            <a:ext cx="2423160" cy="896112"/>
          </a:xfrm>
          <a:prstGeom prst="rect">
            <a:avLst/>
          </a:prstGeom>
          <a:solidFill>
            <a:srgbClr val="F3F6FA"/>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7"/>
          <p:cNvSpPr/>
          <p:nvPr/>
        </p:nvSpPr>
        <p:spPr>
          <a:xfrm>
            <a:off x="3246120" y="2980944"/>
            <a:ext cx="4389120" cy="896112"/>
          </a:xfrm>
          <a:prstGeom prst="rect">
            <a:avLst/>
          </a:prstGeom>
          <a:solidFill>
            <a:srgbClr val="F3F6FA"/>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3" name="Google Shape;113;p7"/>
          <p:cNvSpPr/>
          <p:nvPr/>
        </p:nvSpPr>
        <p:spPr>
          <a:xfrm>
            <a:off x="7818120" y="2980944"/>
            <a:ext cx="3730752" cy="896112"/>
          </a:xfrm>
          <a:prstGeom prst="rect">
            <a:avLst/>
          </a:prstGeom>
          <a:solidFill>
            <a:srgbClr val="F3F6FA"/>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4" name="Google Shape;114;p7"/>
          <p:cNvSpPr/>
          <p:nvPr/>
        </p:nvSpPr>
        <p:spPr>
          <a:xfrm>
            <a:off x="786384" y="3191256"/>
            <a:ext cx="216712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E2B"/>
              </a:buClr>
              <a:buSzPts val="950"/>
              <a:buFont typeface="Arial"/>
              <a:buNone/>
            </a:pPr>
            <a:r>
              <a:rPr b="1" lang="en-US" sz="950">
                <a:solidFill>
                  <a:srgbClr val="F28E2B"/>
                </a:solidFill>
                <a:latin typeface="Arial"/>
                <a:ea typeface="Arial"/>
                <a:cs typeface="Arial"/>
                <a:sym typeface="Arial"/>
              </a:rPr>
              <a:t>AdaBatch — Devarakonda et al. (2018)</a:t>
            </a:r>
            <a:endParaRPr sz="950">
              <a:solidFill>
                <a:schemeClr val="dk1"/>
              </a:solidFill>
              <a:latin typeface="Arial"/>
              <a:ea typeface="Arial"/>
              <a:cs typeface="Arial"/>
              <a:sym typeface="Arial"/>
            </a:endParaRPr>
          </a:p>
        </p:txBody>
      </p:sp>
      <p:sp>
        <p:nvSpPr>
          <p:cNvPr id="115" name="Google Shape;115;p7"/>
          <p:cNvSpPr/>
          <p:nvPr/>
        </p:nvSpPr>
        <p:spPr>
          <a:xfrm>
            <a:off x="3374136" y="3127248"/>
            <a:ext cx="4133088"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920"/>
              <a:buFont typeface="Arial"/>
              <a:buNone/>
            </a:pPr>
            <a:r>
              <a:rPr lang="en-US" sz="920">
                <a:solidFill>
                  <a:srgbClr val="5B6577"/>
                </a:solidFill>
                <a:latin typeface="Arial"/>
                <a:ea typeface="Arial"/>
                <a:cs typeface="Arial"/>
                <a:sym typeface="Arial"/>
              </a:rPr>
              <a:t>Start small, progressively increase batch size, and gain efficiency with similar accuracy.</a:t>
            </a:r>
            <a:endParaRPr sz="920">
              <a:solidFill>
                <a:schemeClr val="dk1"/>
              </a:solidFill>
              <a:latin typeface="Arial"/>
              <a:ea typeface="Arial"/>
              <a:cs typeface="Arial"/>
              <a:sym typeface="Arial"/>
            </a:endParaRPr>
          </a:p>
        </p:txBody>
      </p:sp>
      <p:sp>
        <p:nvSpPr>
          <p:cNvPr id="116" name="Google Shape;116;p7"/>
          <p:cNvSpPr/>
          <p:nvPr/>
        </p:nvSpPr>
        <p:spPr>
          <a:xfrm>
            <a:off x="7946136" y="3127248"/>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920"/>
              <a:buFont typeface="Arial"/>
              <a:buNone/>
            </a:pPr>
            <a:r>
              <a:rPr b="1" lang="en-US" sz="920">
                <a:solidFill>
                  <a:srgbClr val="172033"/>
                </a:solidFill>
                <a:latin typeface="Arial"/>
                <a:ea typeface="Arial"/>
                <a:cs typeface="Arial"/>
                <a:sym typeface="Arial"/>
              </a:rPr>
              <a:t>Grow batch rather than selecting one static value.</a:t>
            </a:r>
            <a:endParaRPr sz="920">
              <a:solidFill>
                <a:schemeClr val="dk1"/>
              </a:solidFill>
              <a:latin typeface="Arial"/>
              <a:ea typeface="Arial"/>
              <a:cs typeface="Arial"/>
              <a:sym typeface="Arial"/>
            </a:endParaRPr>
          </a:p>
        </p:txBody>
      </p:sp>
      <p:sp>
        <p:nvSpPr>
          <p:cNvPr id="117" name="Google Shape;117;p7"/>
          <p:cNvSpPr/>
          <p:nvPr/>
        </p:nvSpPr>
        <p:spPr>
          <a:xfrm>
            <a:off x="658368" y="3877056"/>
            <a:ext cx="2423160" cy="896112"/>
          </a:xfrm>
          <a:prstGeom prst="rect">
            <a:avLst/>
          </a:prstGeom>
          <a:solidFill>
            <a:srgbClr val="FFFFFF"/>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8" name="Google Shape;118;p7"/>
          <p:cNvSpPr/>
          <p:nvPr/>
        </p:nvSpPr>
        <p:spPr>
          <a:xfrm>
            <a:off x="3246120" y="3877056"/>
            <a:ext cx="4389120" cy="896112"/>
          </a:xfrm>
          <a:prstGeom prst="rect">
            <a:avLst/>
          </a:prstGeom>
          <a:solidFill>
            <a:srgbClr val="FFFFFF"/>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9" name="Google Shape;119;p7"/>
          <p:cNvSpPr/>
          <p:nvPr/>
        </p:nvSpPr>
        <p:spPr>
          <a:xfrm>
            <a:off x="7818120" y="3877056"/>
            <a:ext cx="3730752" cy="896112"/>
          </a:xfrm>
          <a:prstGeom prst="rect">
            <a:avLst/>
          </a:prstGeom>
          <a:solidFill>
            <a:srgbClr val="FFFFFF"/>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0" name="Google Shape;120;p7"/>
          <p:cNvSpPr/>
          <p:nvPr/>
        </p:nvSpPr>
        <p:spPr>
          <a:xfrm>
            <a:off x="786384" y="4087368"/>
            <a:ext cx="216712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8B8D"/>
              </a:buClr>
              <a:buSzPts val="950"/>
              <a:buFont typeface="Arial"/>
              <a:buNone/>
            </a:pPr>
            <a:r>
              <a:rPr b="1" lang="en-US" sz="950">
                <a:solidFill>
                  <a:srgbClr val="0F8B8D"/>
                </a:solidFill>
                <a:latin typeface="Arial"/>
                <a:ea typeface="Arial"/>
                <a:cs typeface="Arial"/>
                <a:sym typeface="Arial"/>
              </a:rPr>
              <a:t>McCandlish et al. (2018)</a:t>
            </a:r>
            <a:endParaRPr sz="950">
              <a:solidFill>
                <a:schemeClr val="dk1"/>
              </a:solidFill>
              <a:latin typeface="Arial"/>
              <a:ea typeface="Arial"/>
              <a:cs typeface="Arial"/>
              <a:sym typeface="Arial"/>
            </a:endParaRPr>
          </a:p>
        </p:txBody>
      </p:sp>
      <p:sp>
        <p:nvSpPr>
          <p:cNvPr id="121" name="Google Shape;121;p7"/>
          <p:cNvSpPr/>
          <p:nvPr/>
        </p:nvSpPr>
        <p:spPr>
          <a:xfrm>
            <a:off x="3374136" y="4023360"/>
            <a:ext cx="4133088"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920"/>
              <a:buFont typeface="Arial"/>
              <a:buNone/>
            </a:pPr>
            <a:r>
              <a:rPr lang="en-US" sz="920">
                <a:solidFill>
                  <a:srgbClr val="5B6577"/>
                </a:solidFill>
                <a:latin typeface="Arial"/>
                <a:ea typeface="Arial"/>
                <a:cs typeface="Arial"/>
                <a:sym typeface="Arial"/>
              </a:rPr>
              <a:t>Gradient noise scale predicts a useful batch-size region and can change during training.</a:t>
            </a:r>
            <a:endParaRPr sz="920">
              <a:solidFill>
                <a:schemeClr val="dk1"/>
              </a:solidFill>
              <a:latin typeface="Arial"/>
              <a:ea typeface="Arial"/>
              <a:cs typeface="Arial"/>
              <a:sym typeface="Arial"/>
            </a:endParaRPr>
          </a:p>
        </p:txBody>
      </p:sp>
      <p:sp>
        <p:nvSpPr>
          <p:cNvPr id="122" name="Google Shape;122;p7"/>
          <p:cNvSpPr/>
          <p:nvPr/>
        </p:nvSpPr>
        <p:spPr>
          <a:xfrm>
            <a:off x="7946136" y="4023360"/>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920"/>
              <a:buFont typeface="Arial"/>
              <a:buNone/>
            </a:pPr>
            <a:r>
              <a:rPr b="1" lang="en-US" sz="920">
                <a:solidFill>
                  <a:srgbClr val="172033"/>
                </a:solidFill>
                <a:latin typeface="Arial"/>
                <a:ea typeface="Arial"/>
                <a:cs typeface="Arial"/>
                <a:sym typeface="Arial"/>
              </a:rPr>
              <a:t>Use training dynamics as a signal for batch adaptation.</a:t>
            </a:r>
            <a:endParaRPr sz="920">
              <a:solidFill>
                <a:schemeClr val="dk1"/>
              </a:solidFill>
              <a:latin typeface="Arial"/>
              <a:ea typeface="Arial"/>
              <a:cs typeface="Arial"/>
              <a:sym typeface="Arial"/>
            </a:endParaRPr>
          </a:p>
        </p:txBody>
      </p:sp>
      <p:sp>
        <p:nvSpPr>
          <p:cNvPr id="123" name="Google Shape;123;p7"/>
          <p:cNvSpPr/>
          <p:nvPr/>
        </p:nvSpPr>
        <p:spPr>
          <a:xfrm>
            <a:off x="658368" y="4773168"/>
            <a:ext cx="2423160" cy="896112"/>
          </a:xfrm>
          <a:prstGeom prst="rect">
            <a:avLst/>
          </a:prstGeom>
          <a:solidFill>
            <a:srgbClr val="F3F6FA"/>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7"/>
          <p:cNvSpPr/>
          <p:nvPr/>
        </p:nvSpPr>
        <p:spPr>
          <a:xfrm>
            <a:off x="3246120" y="4773168"/>
            <a:ext cx="4389120" cy="896112"/>
          </a:xfrm>
          <a:prstGeom prst="rect">
            <a:avLst/>
          </a:prstGeom>
          <a:solidFill>
            <a:srgbClr val="F3F6FA"/>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7"/>
          <p:cNvSpPr/>
          <p:nvPr/>
        </p:nvSpPr>
        <p:spPr>
          <a:xfrm>
            <a:off x="7818120" y="4773168"/>
            <a:ext cx="3730752" cy="896112"/>
          </a:xfrm>
          <a:prstGeom prst="rect">
            <a:avLst/>
          </a:prstGeom>
          <a:solidFill>
            <a:srgbClr val="F3F6FA"/>
          </a:solidFill>
          <a:ln cap="flat" cmpd="sng" w="1015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7"/>
          <p:cNvSpPr/>
          <p:nvPr/>
        </p:nvSpPr>
        <p:spPr>
          <a:xfrm>
            <a:off x="786384" y="4983480"/>
            <a:ext cx="216712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5BD3"/>
              </a:buClr>
              <a:buSzPts val="950"/>
              <a:buFont typeface="Arial"/>
              <a:buNone/>
            </a:pPr>
            <a:r>
              <a:rPr b="1" lang="en-US" sz="950">
                <a:solidFill>
                  <a:srgbClr val="6F5BD3"/>
                </a:solidFill>
                <a:latin typeface="Arial"/>
                <a:ea typeface="Arial"/>
                <a:cs typeface="Arial"/>
                <a:sym typeface="Arial"/>
              </a:rPr>
              <a:t>Shallue et al. (2019)</a:t>
            </a:r>
            <a:endParaRPr sz="950">
              <a:solidFill>
                <a:schemeClr val="dk1"/>
              </a:solidFill>
              <a:latin typeface="Arial"/>
              <a:ea typeface="Arial"/>
              <a:cs typeface="Arial"/>
              <a:sym typeface="Arial"/>
            </a:endParaRPr>
          </a:p>
        </p:txBody>
      </p:sp>
      <p:sp>
        <p:nvSpPr>
          <p:cNvPr id="127" name="Google Shape;127;p7"/>
          <p:cNvSpPr/>
          <p:nvPr/>
        </p:nvSpPr>
        <p:spPr>
          <a:xfrm>
            <a:off x="3374136" y="4919472"/>
            <a:ext cx="4133088"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920"/>
              <a:buFont typeface="Arial"/>
              <a:buNone/>
            </a:pPr>
            <a:r>
              <a:rPr lang="en-US" sz="920">
                <a:solidFill>
                  <a:srgbClr val="5B6577"/>
                </a:solidFill>
                <a:latin typeface="Arial"/>
                <a:ea typeface="Arial"/>
                <a:cs typeface="Arial"/>
                <a:sym typeface="Arial"/>
              </a:rPr>
              <a:t>Maximum useful batch size is workload-dependent; simple LR scaling rules are not universal.</a:t>
            </a:r>
            <a:endParaRPr sz="920">
              <a:solidFill>
                <a:schemeClr val="dk1"/>
              </a:solidFill>
              <a:latin typeface="Arial"/>
              <a:ea typeface="Arial"/>
              <a:cs typeface="Arial"/>
              <a:sym typeface="Arial"/>
            </a:endParaRPr>
          </a:p>
        </p:txBody>
      </p:sp>
      <p:sp>
        <p:nvSpPr>
          <p:cNvPr id="128" name="Google Shape;128;p7"/>
          <p:cNvSpPr/>
          <p:nvPr/>
        </p:nvSpPr>
        <p:spPr>
          <a:xfrm>
            <a:off x="7946136" y="4919472"/>
            <a:ext cx="34747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920"/>
              <a:buFont typeface="Arial"/>
              <a:buNone/>
            </a:pPr>
            <a:r>
              <a:rPr b="1" lang="en-US" sz="920">
                <a:solidFill>
                  <a:srgbClr val="172033"/>
                </a:solidFill>
                <a:latin typeface="Arial"/>
                <a:ea typeface="Arial"/>
                <a:cs typeface="Arial"/>
                <a:sym typeface="Arial"/>
              </a:rPr>
              <a:t>Use bounded, empirical adaptation instead of assuming one global rule.</a:t>
            </a:r>
            <a:endParaRPr sz="920">
              <a:solidFill>
                <a:schemeClr val="dk1"/>
              </a:solidFill>
              <a:latin typeface="Arial"/>
              <a:ea typeface="Arial"/>
              <a:cs typeface="Arial"/>
              <a:sym typeface="Arial"/>
            </a:endParaRPr>
          </a:p>
        </p:txBody>
      </p:sp>
      <p:sp>
        <p:nvSpPr>
          <p:cNvPr id="129" name="Google Shape;129;p7"/>
          <p:cNvSpPr/>
          <p:nvPr/>
        </p:nvSpPr>
        <p:spPr>
          <a:xfrm>
            <a:off x="612648" y="5824728"/>
            <a:ext cx="123444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E2B"/>
              </a:buClr>
              <a:buSzPts val="1000"/>
              <a:buFont typeface="Arial"/>
              <a:buNone/>
            </a:pPr>
            <a:r>
              <a:rPr b="1" lang="en-US" sz="1000">
                <a:solidFill>
                  <a:srgbClr val="F28E2B"/>
                </a:solidFill>
                <a:latin typeface="Arial"/>
                <a:ea typeface="Arial"/>
                <a:cs typeface="Arial"/>
                <a:sym typeface="Arial"/>
              </a:rPr>
              <a:t>Important distinction</a:t>
            </a:r>
            <a:endParaRPr sz="1000">
              <a:solidFill>
                <a:schemeClr val="dk1"/>
              </a:solidFill>
              <a:latin typeface="Arial"/>
              <a:ea typeface="Arial"/>
              <a:cs typeface="Arial"/>
              <a:sym typeface="Arial"/>
            </a:endParaRPr>
          </a:p>
        </p:txBody>
      </p:sp>
      <p:sp>
        <p:nvSpPr>
          <p:cNvPr id="130" name="Google Shape;130;p7"/>
          <p:cNvSpPr/>
          <p:nvPr/>
        </p:nvSpPr>
        <p:spPr>
          <a:xfrm>
            <a:off x="1965960" y="5760720"/>
            <a:ext cx="932688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1020"/>
              <a:buFont typeface="Arial"/>
              <a:buNone/>
            </a:pPr>
            <a:r>
              <a:rPr b="1" lang="en-US" sz="1020">
                <a:solidFill>
                  <a:srgbClr val="5B6577"/>
                </a:solidFill>
                <a:latin typeface="Arial"/>
                <a:ea typeface="Arial"/>
                <a:cs typeface="Arial"/>
                <a:sym typeface="Arial"/>
              </a:rPr>
              <a:t>Our “gradient-norm stability” signal is a coefficient of variation of minibatch gradient norms — it is not McCandlish et al.’s formal gradient noise scale.</a:t>
            </a:r>
            <a:endParaRPr b="1" sz="1020">
              <a:solidFill>
                <a:schemeClr val="dk1"/>
              </a:solidFill>
              <a:latin typeface="Arial"/>
              <a:ea typeface="Arial"/>
              <a:cs typeface="Arial"/>
              <a:sym typeface="Arial"/>
            </a:endParaRPr>
          </a:p>
        </p:txBody>
      </p:sp>
      <p:sp>
        <p:nvSpPr>
          <p:cNvPr id="131" name="Google Shape;131;p7"/>
          <p:cNvSpPr/>
          <p:nvPr/>
        </p:nvSpPr>
        <p:spPr>
          <a:xfrm>
            <a:off x="612648" y="6263640"/>
            <a:ext cx="1051560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8496"/>
              </a:buClr>
              <a:buSzPts val="730"/>
              <a:buFont typeface="Arial"/>
              <a:buNone/>
            </a:pPr>
            <a:r>
              <a:rPr i="1" lang="en-US" sz="730">
                <a:solidFill>
                  <a:srgbClr val="7B8496"/>
                </a:solidFill>
                <a:latin typeface="Arial"/>
                <a:ea typeface="Arial"/>
                <a:cs typeface="Arial"/>
                <a:sym typeface="Arial"/>
              </a:rPr>
              <a:t>Sources: Smith et al. (2018); Devarakonda et al. (2018); McCandlish et al. (2018); Shallue et al. (2019).</a:t>
            </a:r>
            <a:endParaRPr sz="730">
              <a:solidFill>
                <a:schemeClr val="dk1"/>
              </a:solidFill>
              <a:latin typeface="Arial"/>
              <a:ea typeface="Arial"/>
              <a:cs typeface="Arial"/>
              <a:sym typeface="Arial"/>
            </a:endParaRPr>
          </a:p>
        </p:txBody>
      </p:sp>
      <p:sp>
        <p:nvSpPr>
          <p:cNvPr id="132" name="Google Shape;132;p7"/>
          <p:cNvSpPr txBox="1"/>
          <p:nvPr>
            <p:ph idx="4294967295" type="sldNum"/>
          </p:nvPr>
        </p:nvSpPr>
        <p:spPr>
          <a:xfrm>
            <a:off x="11384280" y="6473952"/>
            <a:ext cx="320040" cy="18288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800">
                <a:solidFill>
                  <a:srgbClr val="5B6577"/>
                </a:solidFill>
                <a:latin typeface="Arial"/>
                <a:ea typeface="Arial"/>
                <a:cs typeface="Arial"/>
                <a:sym typeface="Arial"/>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p:nvPr/>
        </p:nvSpPr>
        <p:spPr>
          <a:xfrm>
            <a:off x="594360" y="384048"/>
            <a:ext cx="108813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2400"/>
              <a:buFont typeface="Play"/>
              <a:buNone/>
            </a:pPr>
            <a:r>
              <a:rPr b="1" lang="en-US" sz="2400">
                <a:solidFill>
                  <a:srgbClr val="172033"/>
                </a:solidFill>
                <a:latin typeface="Play"/>
                <a:ea typeface="Play"/>
                <a:cs typeface="Play"/>
                <a:sym typeface="Play"/>
              </a:rPr>
              <a:t>Our midterm contribution</a:t>
            </a:r>
            <a:endParaRPr sz="2400">
              <a:solidFill>
                <a:schemeClr val="dk1"/>
              </a:solidFill>
              <a:latin typeface="Arial"/>
              <a:ea typeface="Arial"/>
              <a:cs typeface="Arial"/>
              <a:sym typeface="Arial"/>
            </a:endParaRPr>
          </a:p>
        </p:txBody>
      </p:sp>
      <p:sp>
        <p:nvSpPr>
          <p:cNvPr id="139" name="Google Shape;139;p8"/>
          <p:cNvSpPr/>
          <p:nvPr/>
        </p:nvSpPr>
        <p:spPr>
          <a:xfrm>
            <a:off x="612648" y="850392"/>
            <a:ext cx="107899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1050"/>
              <a:buFont typeface="Arial"/>
              <a:buNone/>
            </a:pPr>
            <a:r>
              <a:rPr lang="en-US" sz="1050">
                <a:solidFill>
                  <a:srgbClr val="5B6577"/>
                </a:solidFill>
                <a:latin typeface="Arial"/>
                <a:ea typeface="Arial"/>
                <a:cs typeface="Arial"/>
                <a:sym typeface="Arial"/>
              </a:rPr>
              <a:t>A controlled four-way comparison with feedback-driven controllers.</a:t>
            </a:r>
            <a:endParaRPr sz="1050">
              <a:solidFill>
                <a:schemeClr val="dk1"/>
              </a:solidFill>
              <a:latin typeface="Arial"/>
              <a:ea typeface="Arial"/>
              <a:cs typeface="Arial"/>
              <a:sym typeface="Arial"/>
            </a:endParaRPr>
          </a:p>
        </p:txBody>
      </p:sp>
      <p:sp>
        <p:nvSpPr>
          <p:cNvPr id="140" name="Google Shape;140;p8"/>
          <p:cNvSpPr/>
          <p:nvPr/>
        </p:nvSpPr>
        <p:spPr>
          <a:xfrm>
            <a:off x="612648" y="1207008"/>
            <a:ext cx="1600200" cy="320040"/>
          </a:xfrm>
          <a:prstGeom prst="roundRect">
            <a:avLst>
              <a:gd fmla="val 22857" name="adj"/>
            </a:avLst>
          </a:prstGeom>
          <a:solidFill>
            <a:srgbClr val="E8F5F4"/>
          </a:solidFill>
          <a:ln cap="flat" cmpd="sng" w="12700">
            <a:solidFill>
              <a:srgbClr val="E8F5F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 name="Google Shape;141;p8"/>
          <p:cNvSpPr/>
          <p:nvPr/>
        </p:nvSpPr>
        <p:spPr>
          <a:xfrm>
            <a:off x="704088" y="1289304"/>
            <a:ext cx="1417320" cy="1188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8B8D"/>
              </a:buClr>
              <a:buSzPts val="740"/>
              <a:buFont typeface="Arial"/>
              <a:buNone/>
            </a:pPr>
            <a:r>
              <a:rPr b="1" lang="en-US" sz="740">
                <a:solidFill>
                  <a:srgbClr val="0F8B8D"/>
                </a:solidFill>
                <a:latin typeface="Arial"/>
                <a:ea typeface="Arial"/>
                <a:cs typeface="Arial"/>
                <a:sym typeface="Arial"/>
              </a:rPr>
              <a:t>RESEARCH GAP</a:t>
            </a:r>
            <a:endParaRPr sz="740">
              <a:solidFill>
                <a:schemeClr val="dk1"/>
              </a:solidFill>
              <a:latin typeface="Arial"/>
              <a:ea typeface="Arial"/>
              <a:cs typeface="Arial"/>
              <a:sym typeface="Arial"/>
            </a:endParaRPr>
          </a:p>
        </p:txBody>
      </p:sp>
      <p:sp>
        <p:nvSpPr>
          <p:cNvPr id="142" name="Google Shape;142;p8"/>
          <p:cNvSpPr/>
          <p:nvPr/>
        </p:nvSpPr>
        <p:spPr>
          <a:xfrm>
            <a:off x="676656" y="1700784"/>
            <a:ext cx="5166360" cy="5760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600"/>
              <a:buFont typeface="Arial"/>
              <a:buNone/>
            </a:pPr>
            <a:r>
              <a:rPr b="1" lang="en-US" sz="1600">
                <a:solidFill>
                  <a:srgbClr val="172033"/>
                </a:solidFill>
                <a:latin typeface="Arial"/>
                <a:ea typeface="Arial"/>
                <a:cs typeface="Arial"/>
                <a:sym typeface="Arial"/>
              </a:rPr>
              <a:t>Prior approaches often use fixed batch sizes, predefined schedules, or large-scale distributed recipes.</a:t>
            </a:r>
            <a:endParaRPr sz="1600">
              <a:solidFill>
                <a:schemeClr val="dk1"/>
              </a:solidFill>
              <a:latin typeface="Arial"/>
              <a:ea typeface="Arial"/>
              <a:cs typeface="Arial"/>
              <a:sym typeface="Arial"/>
            </a:endParaRPr>
          </a:p>
        </p:txBody>
      </p:sp>
      <p:sp>
        <p:nvSpPr>
          <p:cNvPr id="143" name="Google Shape;143;p8"/>
          <p:cNvSpPr/>
          <p:nvPr/>
        </p:nvSpPr>
        <p:spPr>
          <a:xfrm>
            <a:off x="713232" y="2587752"/>
            <a:ext cx="82296" cy="82296"/>
          </a:xfrm>
          <a:prstGeom prst="ellipse">
            <a:avLst/>
          </a:prstGeom>
          <a:solidFill>
            <a:srgbClr val="0F8B8D"/>
          </a:solidFill>
          <a:ln cap="flat" cmpd="sng" w="12700">
            <a:solidFill>
              <a:srgbClr val="0F8B8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4" name="Google Shape;144;p8"/>
          <p:cNvSpPr/>
          <p:nvPr/>
        </p:nvSpPr>
        <p:spPr>
          <a:xfrm>
            <a:off x="877824" y="2514600"/>
            <a:ext cx="50474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1050"/>
              <a:buFont typeface="Arial"/>
              <a:buNone/>
            </a:pPr>
            <a:r>
              <a:rPr lang="en-US" sz="1050">
                <a:solidFill>
                  <a:srgbClr val="5B6577"/>
                </a:solidFill>
                <a:latin typeface="Arial"/>
                <a:ea typeface="Arial"/>
                <a:cs typeface="Arial"/>
                <a:sym typeface="Arial"/>
              </a:rPr>
              <a:t>We trigger batch growth from validation plateau + gradient-norm stability.</a:t>
            </a:r>
            <a:endParaRPr sz="1050">
              <a:solidFill>
                <a:schemeClr val="dk1"/>
              </a:solidFill>
              <a:latin typeface="Arial"/>
              <a:ea typeface="Arial"/>
              <a:cs typeface="Arial"/>
              <a:sym typeface="Arial"/>
            </a:endParaRPr>
          </a:p>
        </p:txBody>
      </p:sp>
      <p:sp>
        <p:nvSpPr>
          <p:cNvPr id="145" name="Google Shape;145;p8"/>
          <p:cNvSpPr/>
          <p:nvPr/>
        </p:nvSpPr>
        <p:spPr>
          <a:xfrm>
            <a:off x="713232" y="3163824"/>
            <a:ext cx="82296" cy="82296"/>
          </a:xfrm>
          <a:prstGeom prst="ellipse">
            <a:avLst/>
          </a:prstGeom>
          <a:solidFill>
            <a:srgbClr val="0F8B8D"/>
          </a:solidFill>
          <a:ln cap="flat" cmpd="sng" w="12700">
            <a:solidFill>
              <a:srgbClr val="0F8B8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8"/>
          <p:cNvSpPr/>
          <p:nvPr/>
        </p:nvSpPr>
        <p:spPr>
          <a:xfrm>
            <a:off x="877824" y="3090672"/>
            <a:ext cx="50474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1050"/>
              <a:buFont typeface="Arial"/>
              <a:buNone/>
            </a:pPr>
            <a:r>
              <a:rPr lang="en-US" sz="1050">
                <a:solidFill>
                  <a:srgbClr val="5B6577"/>
                </a:solidFill>
                <a:latin typeface="Arial"/>
                <a:ea typeface="Arial"/>
                <a:cs typeface="Arial"/>
                <a:sym typeface="Arial"/>
              </a:rPr>
              <a:t>We trigger LR decay from validation loss/accuracy feedback.</a:t>
            </a:r>
            <a:endParaRPr sz="1050">
              <a:solidFill>
                <a:schemeClr val="dk1"/>
              </a:solidFill>
              <a:latin typeface="Arial"/>
              <a:ea typeface="Arial"/>
              <a:cs typeface="Arial"/>
              <a:sym typeface="Arial"/>
            </a:endParaRPr>
          </a:p>
        </p:txBody>
      </p:sp>
      <p:sp>
        <p:nvSpPr>
          <p:cNvPr id="147" name="Google Shape;147;p8"/>
          <p:cNvSpPr/>
          <p:nvPr/>
        </p:nvSpPr>
        <p:spPr>
          <a:xfrm>
            <a:off x="713232" y="3739896"/>
            <a:ext cx="82296" cy="82296"/>
          </a:xfrm>
          <a:prstGeom prst="ellipse">
            <a:avLst/>
          </a:prstGeom>
          <a:solidFill>
            <a:srgbClr val="0F8B8D"/>
          </a:solidFill>
          <a:ln cap="flat" cmpd="sng" w="12700">
            <a:solidFill>
              <a:srgbClr val="0F8B8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 name="Google Shape;148;p8"/>
          <p:cNvSpPr/>
          <p:nvPr/>
        </p:nvSpPr>
        <p:spPr>
          <a:xfrm>
            <a:off x="877824" y="3666744"/>
            <a:ext cx="50474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1050"/>
              <a:buFont typeface="Arial"/>
              <a:buNone/>
            </a:pPr>
            <a:r>
              <a:rPr lang="en-US" sz="1050">
                <a:solidFill>
                  <a:srgbClr val="5B6577"/>
                </a:solidFill>
                <a:latin typeface="Arial"/>
                <a:ea typeface="Arial"/>
                <a:cs typeface="Arial"/>
                <a:sym typeface="Arial"/>
              </a:rPr>
              <a:t>In E4, the LR is recomputed using the batch selected for the next epoch.</a:t>
            </a:r>
            <a:endParaRPr sz="1050">
              <a:solidFill>
                <a:schemeClr val="dk1"/>
              </a:solidFill>
              <a:latin typeface="Arial"/>
              <a:ea typeface="Arial"/>
              <a:cs typeface="Arial"/>
              <a:sym typeface="Arial"/>
            </a:endParaRPr>
          </a:p>
        </p:txBody>
      </p:sp>
      <p:sp>
        <p:nvSpPr>
          <p:cNvPr id="149" name="Google Shape;149;p8"/>
          <p:cNvSpPr/>
          <p:nvPr/>
        </p:nvSpPr>
        <p:spPr>
          <a:xfrm>
            <a:off x="713232" y="4315968"/>
            <a:ext cx="82296" cy="82296"/>
          </a:xfrm>
          <a:prstGeom prst="ellipse">
            <a:avLst/>
          </a:prstGeom>
          <a:solidFill>
            <a:srgbClr val="0F8B8D"/>
          </a:solidFill>
          <a:ln cap="flat" cmpd="sng" w="12700">
            <a:solidFill>
              <a:srgbClr val="0F8B8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 name="Google Shape;150;p8"/>
          <p:cNvSpPr/>
          <p:nvPr/>
        </p:nvSpPr>
        <p:spPr>
          <a:xfrm>
            <a:off x="877824" y="4242816"/>
            <a:ext cx="5047488"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577"/>
              </a:buClr>
              <a:buSzPts val="1050"/>
              <a:buFont typeface="Arial"/>
              <a:buNone/>
            </a:pPr>
            <a:r>
              <a:rPr lang="en-US" sz="1050">
                <a:solidFill>
                  <a:srgbClr val="5B6577"/>
                </a:solidFill>
                <a:latin typeface="Arial"/>
                <a:ea typeface="Arial"/>
                <a:cs typeface="Arial"/>
                <a:sym typeface="Arial"/>
              </a:rPr>
              <a:t>We measure accuracy, loss, macro-F1, optimizer updates, and time-to-target.</a:t>
            </a:r>
            <a:endParaRPr sz="1050">
              <a:solidFill>
                <a:schemeClr val="dk1"/>
              </a:solidFill>
              <a:latin typeface="Arial"/>
              <a:ea typeface="Arial"/>
              <a:cs typeface="Arial"/>
              <a:sym typeface="Arial"/>
            </a:endParaRPr>
          </a:p>
        </p:txBody>
      </p:sp>
      <p:sp>
        <p:nvSpPr>
          <p:cNvPr id="151" name="Google Shape;151;p8"/>
          <p:cNvSpPr/>
          <p:nvPr/>
        </p:nvSpPr>
        <p:spPr>
          <a:xfrm>
            <a:off x="6263640" y="1645920"/>
            <a:ext cx="5230368" cy="3977640"/>
          </a:xfrm>
          <a:prstGeom prst="roundRect">
            <a:avLst>
              <a:gd fmla="val 1839" name="adj"/>
            </a:avLst>
          </a:prstGeom>
          <a:solidFill>
            <a:srgbClr val="FFFFFF"/>
          </a:solidFill>
          <a:ln cap="flat" cmpd="sng" w="12700">
            <a:solidFill>
              <a:srgbClr val="D8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 name="Google Shape;152;p8"/>
          <p:cNvSpPr/>
          <p:nvPr/>
        </p:nvSpPr>
        <p:spPr>
          <a:xfrm>
            <a:off x="6537960" y="1874520"/>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500"/>
              <a:buFont typeface="Arial"/>
              <a:buNone/>
            </a:pPr>
            <a:r>
              <a:rPr b="1" lang="en-US" sz="1500">
                <a:solidFill>
                  <a:srgbClr val="172033"/>
                </a:solidFill>
                <a:latin typeface="Arial"/>
                <a:ea typeface="Arial"/>
                <a:cs typeface="Arial"/>
                <a:sym typeface="Arial"/>
              </a:rPr>
              <a:t>Factorial experiment design</a:t>
            </a:r>
            <a:endParaRPr sz="1500">
              <a:solidFill>
                <a:schemeClr val="dk1"/>
              </a:solidFill>
              <a:latin typeface="Arial"/>
              <a:ea typeface="Arial"/>
              <a:cs typeface="Arial"/>
              <a:sym typeface="Arial"/>
            </a:endParaRPr>
          </a:p>
        </p:txBody>
      </p:sp>
      <p:sp>
        <p:nvSpPr>
          <p:cNvPr id="153" name="Google Shape;153;p8"/>
          <p:cNvSpPr/>
          <p:nvPr/>
        </p:nvSpPr>
        <p:spPr>
          <a:xfrm>
            <a:off x="6629400" y="2423160"/>
            <a:ext cx="2057400" cy="1143000"/>
          </a:xfrm>
          <a:prstGeom prst="roundRect">
            <a:avLst>
              <a:gd fmla="val 4000" name="adj"/>
            </a:avLst>
          </a:prstGeom>
          <a:solidFill>
            <a:srgbClr val="F8FAFD"/>
          </a:solidFill>
          <a:ln cap="flat" cmpd="sng" w="25400">
            <a:solidFill>
              <a:srgbClr val="8A94A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4" name="Google Shape;154;p8"/>
          <p:cNvSpPr/>
          <p:nvPr/>
        </p:nvSpPr>
        <p:spPr>
          <a:xfrm>
            <a:off x="6775704" y="2587752"/>
            <a:ext cx="42062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4A6"/>
              </a:buClr>
              <a:buSzPts val="1300"/>
              <a:buFont typeface="Arial"/>
              <a:buNone/>
            </a:pPr>
            <a:r>
              <a:rPr b="1" lang="en-US" sz="1300">
                <a:solidFill>
                  <a:srgbClr val="8A94A6"/>
                </a:solidFill>
                <a:latin typeface="Arial"/>
                <a:ea typeface="Arial"/>
                <a:cs typeface="Arial"/>
                <a:sym typeface="Arial"/>
              </a:rPr>
              <a:t>E1</a:t>
            </a:r>
            <a:endParaRPr sz="1300">
              <a:solidFill>
                <a:schemeClr val="dk1"/>
              </a:solidFill>
              <a:latin typeface="Arial"/>
              <a:ea typeface="Arial"/>
              <a:cs typeface="Arial"/>
              <a:sym typeface="Arial"/>
            </a:endParaRPr>
          </a:p>
        </p:txBody>
      </p:sp>
      <p:sp>
        <p:nvSpPr>
          <p:cNvPr id="155" name="Google Shape;155;p8"/>
          <p:cNvSpPr/>
          <p:nvPr/>
        </p:nvSpPr>
        <p:spPr>
          <a:xfrm>
            <a:off x="7223760" y="2624328"/>
            <a:ext cx="126187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100"/>
              <a:buFont typeface="Arial"/>
              <a:buNone/>
            </a:pPr>
            <a:r>
              <a:rPr b="1" lang="en-US" sz="1100">
                <a:solidFill>
                  <a:srgbClr val="172033"/>
                </a:solidFill>
                <a:latin typeface="Arial"/>
                <a:ea typeface="Arial"/>
                <a:cs typeface="Arial"/>
                <a:sym typeface="Arial"/>
              </a:rPr>
              <a:t>Fixed batch</a:t>
            </a:r>
            <a:endParaRPr sz="1100">
              <a:solidFill>
                <a:schemeClr val="dk1"/>
              </a:solidFill>
              <a:latin typeface="Arial"/>
              <a:ea typeface="Arial"/>
              <a:cs typeface="Arial"/>
              <a:sym typeface="Arial"/>
            </a:endParaRPr>
          </a:p>
          <a:p>
            <a:pPr indent="0" lvl="0" marL="0" marR="0" rtl="0" algn="l">
              <a:spcBef>
                <a:spcPts val="0"/>
              </a:spcBef>
              <a:spcAft>
                <a:spcPts val="0"/>
              </a:spcAft>
              <a:buClr>
                <a:srgbClr val="172033"/>
              </a:buClr>
              <a:buSzPts val="1100"/>
              <a:buFont typeface="Arial"/>
              <a:buNone/>
            </a:pPr>
            <a:r>
              <a:rPr b="1" lang="en-US" sz="1100">
                <a:solidFill>
                  <a:srgbClr val="172033"/>
                </a:solidFill>
                <a:latin typeface="Arial"/>
                <a:ea typeface="Arial"/>
                <a:cs typeface="Arial"/>
                <a:sym typeface="Arial"/>
              </a:rPr>
              <a:t>Fixed LR</a:t>
            </a:r>
            <a:endParaRPr sz="1100">
              <a:solidFill>
                <a:schemeClr val="dk1"/>
              </a:solidFill>
              <a:latin typeface="Arial"/>
              <a:ea typeface="Arial"/>
              <a:cs typeface="Arial"/>
              <a:sym typeface="Arial"/>
            </a:endParaRPr>
          </a:p>
        </p:txBody>
      </p:sp>
      <p:sp>
        <p:nvSpPr>
          <p:cNvPr id="156" name="Google Shape;156;p8"/>
          <p:cNvSpPr/>
          <p:nvPr/>
        </p:nvSpPr>
        <p:spPr>
          <a:xfrm>
            <a:off x="8961120" y="2423160"/>
            <a:ext cx="2057400" cy="1143000"/>
          </a:xfrm>
          <a:prstGeom prst="roundRect">
            <a:avLst>
              <a:gd fmla="val 4000" name="adj"/>
            </a:avLst>
          </a:prstGeom>
          <a:solidFill>
            <a:srgbClr val="F8FAFD"/>
          </a:solidFill>
          <a:ln cap="flat" cmpd="sng" w="25400">
            <a:solidFill>
              <a:srgbClr val="6F5BD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7" name="Google Shape;157;p8"/>
          <p:cNvSpPr/>
          <p:nvPr/>
        </p:nvSpPr>
        <p:spPr>
          <a:xfrm>
            <a:off x="9107424" y="2587752"/>
            <a:ext cx="42062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5BD3"/>
              </a:buClr>
              <a:buSzPts val="1300"/>
              <a:buFont typeface="Arial"/>
              <a:buNone/>
            </a:pPr>
            <a:r>
              <a:rPr b="1" lang="en-US" sz="1300">
                <a:solidFill>
                  <a:srgbClr val="6F5BD3"/>
                </a:solidFill>
                <a:latin typeface="Arial"/>
                <a:ea typeface="Arial"/>
                <a:cs typeface="Arial"/>
                <a:sym typeface="Arial"/>
              </a:rPr>
              <a:t>E2</a:t>
            </a:r>
            <a:endParaRPr sz="1300">
              <a:solidFill>
                <a:schemeClr val="dk1"/>
              </a:solidFill>
              <a:latin typeface="Arial"/>
              <a:ea typeface="Arial"/>
              <a:cs typeface="Arial"/>
              <a:sym typeface="Arial"/>
            </a:endParaRPr>
          </a:p>
        </p:txBody>
      </p:sp>
      <p:sp>
        <p:nvSpPr>
          <p:cNvPr id="158" name="Google Shape;158;p8"/>
          <p:cNvSpPr/>
          <p:nvPr/>
        </p:nvSpPr>
        <p:spPr>
          <a:xfrm>
            <a:off x="9555480" y="2624328"/>
            <a:ext cx="126187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100"/>
              <a:buFont typeface="Arial"/>
              <a:buNone/>
            </a:pPr>
            <a:r>
              <a:rPr b="1" lang="en-US" sz="1100">
                <a:solidFill>
                  <a:srgbClr val="172033"/>
                </a:solidFill>
                <a:latin typeface="Arial"/>
                <a:ea typeface="Arial"/>
                <a:cs typeface="Arial"/>
                <a:sym typeface="Arial"/>
              </a:rPr>
              <a:t>Adaptive batch</a:t>
            </a:r>
            <a:endParaRPr sz="1100">
              <a:solidFill>
                <a:schemeClr val="dk1"/>
              </a:solidFill>
              <a:latin typeface="Arial"/>
              <a:ea typeface="Arial"/>
              <a:cs typeface="Arial"/>
              <a:sym typeface="Arial"/>
            </a:endParaRPr>
          </a:p>
          <a:p>
            <a:pPr indent="0" lvl="0" marL="0" marR="0" rtl="0" algn="l">
              <a:spcBef>
                <a:spcPts val="0"/>
              </a:spcBef>
              <a:spcAft>
                <a:spcPts val="0"/>
              </a:spcAft>
              <a:buClr>
                <a:srgbClr val="172033"/>
              </a:buClr>
              <a:buSzPts val="1100"/>
              <a:buFont typeface="Arial"/>
              <a:buNone/>
            </a:pPr>
            <a:r>
              <a:rPr b="1" lang="en-US" sz="1100">
                <a:solidFill>
                  <a:srgbClr val="172033"/>
                </a:solidFill>
                <a:latin typeface="Arial"/>
                <a:ea typeface="Arial"/>
                <a:cs typeface="Arial"/>
                <a:sym typeface="Arial"/>
              </a:rPr>
              <a:t>Fixed LR</a:t>
            </a:r>
            <a:endParaRPr sz="1100">
              <a:solidFill>
                <a:schemeClr val="dk1"/>
              </a:solidFill>
              <a:latin typeface="Arial"/>
              <a:ea typeface="Arial"/>
              <a:cs typeface="Arial"/>
              <a:sym typeface="Arial"/>
            </a:endParaRPr>
          </a:p>
        </p:txBody>
      </p:sp>
      <p:sp>
        <p:nvSpPr>
          <p:cNvPr id="159" name="Google Shape;159;p8"/>
          <p:cNvSpPr/>
          <p:nvPr/>
        </p:nvSpPr>
        <p:spPr>
          <a:xfrm>
            <a:off x="6629400" y="3840480"/>
            <a:ext cx="2057400" cy="1143000"/>
          </a:xfrm>
          <a:prstGeom prst="roundRect">
            <a:avLst>
              <a:gd fmla="val 4000" name="adj"/>
            </a:avLst>
          </a:prstGeom>
          <a:solidFill>
            <a:srgbClr val="F8FAFD"/>
          </a:solidFill>
          <a:ln cap="flat" cmpd="sng" w="25400">
            <a:solidFill>
              <a:srgbClr val="2F6B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0" name="Google Shape;160;p8"/>
          <p:cNvSpPr/>
          <p:nvPr/>
        </p:nvSpPr>
        <p:spPr>
          <a:xfrm>
            <a:off x="6775704" y="4005072"/>
            <a:ext cx="42062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F6BFF"/>
              </a:buClr>
              <a:buSzPts val="1300"/>
              <a:buFont typeface="Arial"/>
              <a:buNone/>
            </a:pPr>
            <a:r>
              <a:rPr b="1" lang="en-US" sz="1300">
                <a:solidFill>
                  <a:srgbClr val="2F6BFF"/>
                </a:solidFill>
                <a:latin typeface="Arial"/>
                <a:ea typeface="Arial"/>
                <a:cs typeface="Arial"/>
                <a:sym typeface="Arial"/>
              </a:rPr>
              <a:t>E3</a:t>
            </a:r>
            <a:endParaRPr sz="1300">
              <a:solidFill>
                <a:schemeClr val="dk1"/>
              </a:solidFill>
              <a:latin typeface="Arial"/>
              <a:ea typeface="Arial"/>
              <a:cs typeface="Arial"/>
              <a:sym typeface="Arial"/>
            </a:endParaRPr>
          </a:p>
        </p:txBody>
      </p:sp>
      <p:sp>
        <p:nvSpPr>
          <p:cNvPr id="161" name="Google Shape;161;p8"/>
          <p:cNvSpPr/>
          <p:nvPr/>
        </p:nvSpPr>
        <p:spPr>
          <a:xfrm>
            <a:off x="7223760" y="4041648"/>
            <a:ext cx="126187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100"/>
              <a:buFont typeface="Arial"/>
              <a:buNone/>
            </a:pPr>
            <a:r>
              <a:rPr b="1" lang="en-US" sz="1100">
                <a:solidFill>
                  <a:srgbClr val="172033"/>
                </a:solidFill>
                <a:latin typeface="Arial"/>
                <a:ea typeface="Arial"/>
                <a:cs typeface="Arial"/>
                <a:sym typeface="Arial"/>
              </a:rPr>
              <a:t>Fixed batch</a:t>
            </a:r>
            <a:endParaRPr sz="1100">
              <a:solidFill>
                <a:schemeClr val="dk1"/>
              </a:solidFill>
              <a:latin typeface="Arial"/>
              <a:ea typeface="Arial"/>
              <a:cs typeface="Arial"/>
              <a:sym typeface="Arial"/>
            </a:endParaRPr>
          </a:p>
          <a:p>
            <a:pPr indent="0" lvl="0" marL="0" marR="0" rtl="0" algn="l">
              <a:spcBef>
                <a:spcPts val="0"/>
              </a:spcBef>
              <a:spcAft>
                <a:spcPts val="0"/>
              </a:spcAft>
              <a:buClr>
                <a:srgbClr val="172033"/>
              </a:buClr>
              <a:buSzPts val="1100"/>
              <a:buFont typeface="Arial"/>
              <a:buNone/>
            </a:pPr>
            <a:r>
              <a:rPr b="1" lang="en-US" sz="1100">
                <a:solidFill>
                  <a:srgbClr val="172033"/>
                </a:solidFill>
                <a:latin typeface="Arial"/>
                <a:ea typeface="Arial"/>
                <a:cs typeface="Arial"/>
                <a:sym typeface="Arial"/>
              </a:rPr>
              <a:t>Adaptive LR</a:t>
            </a:r>
            <a:endParaRPr sz="1100">
              <a:solidFill>
                <a:schemeClr val="dk1"/>
              </a:solidFill>
              <a:latin typeface="Arial"/>
              <a:ea typeface="Arial"/>
              <a:cs typeface="Arial"/>
              <a:sym typeface="Arial"/>
            </a:endParaRPr>
          </a:p>
        </p:txBody>
      </p:sp>
      <p:sp>
        <p:nvSpPr>
          <p:cNvPr id="162" name="Google Shape;162;p8"/>
          <p:cNvSpPr/>
          <p:nvPr/>
        </p:nvSpPr>
        <p:spPr>
          <a:xfrm>
            <a:off x="8961120" y="3840480"/>
            <a:ext cx="2057400" cy="1143000"/>
          </a:xfrm>
          <a:prstGeom prst="roundRect">
            <a:avLst>
              <a:gd fmla="val 4000" name="adj"/>
            </a:avLst>
          </a:prstGeom>
          <a:solidFill>
            <a:srgbClr val="F8FAFD"/>
          </a:solidFill>
          <a:ln cap="flat" cmpd="sng" w="25400">
            <a:solidFill>
              <a:srgbClr val="F28E2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3" name="Google Shape;163;p8"/>
          <p:cNvSpPr/>
          <p:nvPr/>
        </p:nvSpPr>
        <p:spPr>
          <a:xfrm>
            <a:off x="9107424" y="4005072"/>
            <a:ext cx="420624"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8E2B"/>
              </a:buClr>
              <a:buSzPts val="1300"/>
              <a:buFont typeface="Arial"/>
              <a:buNone/>
            </a:pPr>
            <a:r>
              <a:rPr b="1" lang="en-US" sz="1300">
                <a:solidFill>
                  <a:srgbClr val="F28E2B"/>
                </a:solidFill>
                <a:latin typeface="Arial"/>
                <a:ea typeface="Arial"/>
                <a:cs typeface="Arial"/>
                <a:sym typeface="Arial"/>
              </a:rPr>
              <a:t>E4</a:t>
            </a:r>
            <a:endParaRPr sz="1300">
              <a:solidFill>
                <a:schemeClr val="dk1"/>
              </a:solidFill>
              <a:latin typeface="Arial"/>
              <a:ea typeface="Arial"/>
              <a:cs typeface="Arial"/>
              <a:sym typeface="Arial"/>
            </a:endParaRPr>
          </a:p>
        </p:txBody>
      </p:sp>
      <p:sp>
        <p:nvSpPr>
          <p:cNvPr id="164" name="Google Shape;164;p8"/>
          <p:cNvSpPr/>
          <p:nvPr/>
        </p:nvSpPr>
        <p:spPr>
          <a:xfrm>
            <a:off x="9555480" y="4041648"/>
            <a:ext cx="126187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033"/>
              </a:buClr>
              <a:buSzPts val="1100"/>
              <a:buFont typeface="Arial"/>
              <a:buNone/>
            </a:pPr>
            <a:r>
              <a:rPr b="1" lang="en-US" sz="1100">
                <a:solidFill>
                  <a:srgbClr val="172033"/>
                </a:solidFill>
                <a:latin typeface="Arial"/>
                <a:ea typeface="Arial"/>
                <a:cs typeface="Arial"/>
                <a:sym typeface="Arial"/>
              </a:rPr>
              <a:t>Adaptive batch</a:t>
            </a:r>
            <a:endParaRPr sz="1100">
              <a:solidFill>
                <a:schemeClr val="dk1"/>
              </a:solidFill>
              <a:latin typeface="Arial"/>
              <a:ea typeface="Arial"/>
              <a:cs typeface="Arial"/>
              <a:sym typeface="Arial"/>
            </a:endParaRPr>
          </a:p>
          <a:p>
            <a:pPr indent="0" lvl="0" marL="0" marR="0" rtl="0" algn="l">
              <a:spcBef>
                <a:spcPts val="0"/>
              </a:spcBef>
              <a:spcAft>
                <a:spcPts val="0"/>
              </a:spcAft>
              <a:buClr>
                <a:srgbClr val="172033"/>
              </a:buClr>
              <a:buSzPts val="1100"/>
              <a:buFont typeface="Arial"/>
              <a:buNone/>
            </a:pPr>
            <a:r>
              <a:rPr b="1" lang="en-US" sz="1100">
                <a:solidFill>
                  <a:srgbClr val="172033"/>
                </a:solidFill>
                <a:latin typeface="Arial"/>
                <a:ea typeface="Arial"/>
                <a:cs typeface="Arial"/>
                <a:sym typeface="Arial"/>
              </a:rPr>
              <a:t>Adaptive LR</a:t>
            </a:r>
            <a:endParaRPr sz="1100">
              <a:solidFill>
                <a:schemeClr val="dk1"/>
              </a:solidFill>
              <a:latin typeface="Arial"/>
              <a:ea typeface="Arial"/>
              <a:cs typeface="Arial"/>
              <a:sym typeface="Arial"/>
            </a:endParaRPr>
          </a:p>
        </p:txBody>
      </p:sp>
      <p:sp>
        <p:nvSpPr>
          <p:cNvPr id="165" name="Google Shape;165;p8"/>
          <p:cNvSpPr/>
          <p:nvPr/>
        </p:nvSpPr>
        <p:spPr>
          <a:xfrm>
            <a:off x="6537960" y="5285232"/>
            <a:ext cx="45720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2033"/>
              </a:buClr>
              <a:buSzPts val="900"/>
              <a:buFont typeface="Arial"/>
              <a:buNone/>
            </a:pPr>
            <a:r>
              <a:rPr b="1" lang="en-US" sz="900">
                <a:solidFill>
                  <a:srgbClr val="172033"/>
                </a:solidFill>
                <a:latin typeface="Arial"/>
                <a:ea typeface="Arial"/>
                <a:cs typeface="Arial"/>
                <a:sym typeface="Arial"/>
              </a:rPr>
              <a:t>Same split within each dataset • same model • same seed • same optimizer family • fixed dataset-specific budgets (80 / 120 epochs)</a:t>
            </a:r>
            <a:endParaRPr sz="880">
              <a:solidFill>
                <a:schemeClr val="dk1"/>
              </a:solidFill>
              <a:latin typeface="Arial"/>
              <a:ea typeface="Arial"/>
              <a:cs typeface="Arial"/>
              <a:sym typeface="Arial"/>
            </a:endParaRPr>
          </a:p>
        </p:txBody>
      </p:sp>
      <p:sp>
        <p:nvSpPr>
          <p:cNvPr id="166" name="Google Shape;166;p8"/>
          <p:cNvSpPr txBox="1"/>
          <p:nvPr>
            <p:ph idx="4294967295" type="sldNum"/>
          </p:nvPr>
        </p:nvSpPr>
        <p:spPr>
          <a:xfrm>
            <a:off x="11384280" y="6473952"/>
            <a:ext cx="320040" cy="18288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800">
                <a:solidFill>
                  <a:srgbClr val="5B6577"/>
                </a:solidFill>
                <a:latin typeface="Arial"/>
                <a:ea typeface="Arial"/>
                <a:cs typeface="Arial"/>
                <a:sym typeface="Arial"/>
              </a:rPr>
              <a:t>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nvSpPr>
        <p:spPr>
          <a:xfrm>
            <a:off x="566928" y="347472"/>
            <a:ext cx="10789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400">
                <a:solidFill>
                  <a:srgbClr val="172033"/>
                </a:solidFill>
                <a:latin typeface="Play"/>
                <a:ea typeface="Play"/>
                <a:cs typeface="Play"/>
                <a:sym typeface="Play"/>
              </a:rPr>
              <a:t>Experimental setup — data, budget, and training controls</a:t>
            </a:r>
            <a:endParaRPr/>
          </a:p>
        </p:txBody>
      </p:sp>
      <p:sp>
        <p:nvSpPr>
          <p:cNvPr id="173" name="Google Shape;173;p9"/>
          <p:cNvSpPr txBox="1"/>
          <p:nvPr/>
        </p:nvSpPr>
        <p:spPr>
          <a:xfrm>
            <a:off x="585216" y="832104"/>
            <a:ext cx="10744200" cy="30175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050">
                <a:solidFill>
                  <a:srgbClr val="5B6577"/>
                </a:solidFill>
                <a:latin typeface="Arial"/>
                <a:ea typeface="Arial"/>
                <a:cs typeface="Arial"/>
                <a:sym typeface="Arial"/>
              </a:rPr>
              <a:t>The backbone and optimizer recipe are shared; dataset size, class count, and epoch budget differ.</a:t>
            </a:r>
            <a:endParaRPr/>
          </a:p>
        </p:txBody>
      </p:sp>
      <p:sp>
        <p:nvSpPr>
          <p:cNvPr id="174" name="Google Shape;174;p9"/>
          <p:cNvSpPr/>
          <p:nvPr/>
        </p:nvSpPr>
        <p:spPr>
          <a:xfrm>
            <a:off x="585216" y="1225296"/>
            <a:ext cx="1417320" cy="256032"/>
          </a:xfrm>
          <a:prstGeom prst="roundRect">
            <a:avLst>
              <a:gd fmla="val 16667"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5" name="Google Shape;175;p9"/>
          <p:cNvSpPr txBox="1"/>
          <p:nvPr/>
        </p:nvSpPr>
        <p:spPr>
          <a:xfrm>
            <a:off x="667512" y="1271016"/>
            <a:ext cx="1234440" cy="12801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760">
                <a:solidFill>
                  <a:srgbClr val="0F8B8D"/>
                </a:solidFill>
                <a:latin typeface="Arial"/>
                <a:ea typeface="Arial"/>
                <a:cs typeface="Arial"/>
                <a:sym typeface="Arial"/>
              </a:rPr>
              <a:t>SETUP</a:t>
            </a:r>
            <a:endParaRPr/>
          </a:p>
        </p:txBody>
      </p:sp>
      <p:sp>
        <p:nvSpPr>
          <p:cNvPr id="176" name="Google Shape;176;p9"/>
          <p:cNvSpPr/>
          <p:nvPr/>
        </p:nvSpPr>
        <p:spPr>
          <a:xfrm>
            <a:off x="6044183" y="1527048"/>
            <a:ext cx="45719" cy="4315968"/>
          </a:xfrm>
          <a:prstGeom prst="rect">
            <a:avLst/>
          </a:prstGeom>
          <a:solidFill>
            <a:srgbClr val="D8E0E8"/>
          </a:solidFill>
          <a:ln cap="flat" cmpd="sng" w="9525">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 name="Google Shape;177;p9"/>
          <p:cNvSpPr/>
          <p:nvPr/>
        </p:nvSpPr>
        <p:spPr>
          <a:xfrm>
            <a:off x="576072" y="1572768"/>
            <a:ext cx="5230368" cy="475488"/>
          </a:xfrm>
          <a:prstGeom prst="rect">
            <a:avLst/>
          </a:prstGeom>
          <a:solidFill>
            <a:srgbClr val="EEF4FA"/>
          </a:solidFill>
          <a:ln cap="flat" cmpd="sng" w="12700">
            <a:solidFill>
              <a:srgbClr val="EEF4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8" name="Google Shape;178;p9"/>
          <p:cNvSpPr txBox="1"/>
          <p:nvPr/>
        </p:nvSpPr>
        <p:spPr>
          <a:xfrm>
            <a:off x="749808" y="1664208"/>
            <a:ext cx="1828800" cy="2011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315A8A"/>
                </a:solidFill>
                <a:latin typeface="Arial"/>
                <a:ea typeface="Arial"/>
                <a:cs typeface="Arial"/>
                <a:sym typeface="Arial"/>
              </a:rPr>
              <a:t>CIFAR-10</a:t>
            </a:r>
            <a:endParaRPr/>
          </a:p>
        </p:txBody>
      </p:sp>
      <p:sp>
        <p:nvSpPr>
          <p:cNvPr id="179" name="Google Shape;179;p9"/>
          <p:cNvSpPr txBox="1"/>
          <p:nvPr/>
        </p:nvSpPr>
        <p:spPr>
          <a:xfrm>
            <a:off x="4239444" y="1691640"/>
            <a:ext cx="1274388" cy="153888"/>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000">
                <a:solidFill>
                  <a:srgbClr val="5B6577"/>
                </a:solidFill>
                <a:latin typeface="Arial"/>
                <a:ea typeface="Arial"/>
                <a:cs typeface="Arial"/>
                <a:sym typeface="Arial"/>
              </a:rPr>
              <a:t>80 epochs • 10 classes</a:t>
            </a:r>
            <a:endParaRPr/>
          </a:p>
        </p:txBody>
      </p:sp>
      <p:sp>
        <p:nvSpPr>
          <p:cNvPr id="180" name="Google Shape;180;p9"/>
          <p:cNvSpPr/>
          <p:nvPr/>
        </p:nvSpPr>
        <p:spPr>
          <a:xfrm>
            <a:off x="6300216" y="1572768"/>
            <a:ext cx="5285232" cy="475488"/>
          </a:xfrm>
          <a:prstGeom prst="rect">
            <a:avLst/>
          </a:prstGeom>
          <a:solidFill>
            <a:srgbClr val="FCF4EB"/>
          </a:solidFill>
          <a:ln cap="flat" cmpd="sng" w="12700">
            <a:solidFill>
              <a:srgbClr val="FCF4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1" name="Google Shape;181;p9"/>
          <p:cNvSpPr txBox="1"/>
          <p:nvPr/>
        </p:nvSpPr>
        <p:spPr>
          <a:xfrm>
            <a:off x="6473952" y="1664208"/>
            <a:ext cx="1828800" cy="2011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D7792D"/>
                </a:solidFill>
                <a:latin typeface="Arial"/>
                <a:ea typeface="Arial"/>
                <a:cs typeface="Arial"/>
                <a:sym typeface="Arial"/>
              </a:rPr>
              <a:t>CIFAR-100</a:t>
            </a:r>
            <a:endParaRPr/>
          </a:p>
        </p:txBody>
      </p:sp>
      <p:sp>
        <p:nvSpPr>
          <p:cNvPr id="182" name="Google Shape;182;p9"/>
          <p:cNvSpPr txBox="1"/>
          <p:nvPr/>
        </p:nvSpPr>
        <p:spPr>
          <a:xfrm>
            <a:off x="9782449" y="1691640"/>
            <a:ext cx="1455527" cy="153888"/>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1000">
                <a:solidFill>
                  <a:srgbClr val="5B6577"/>
                </a:solidFill>
                <a:latin typeface="Arial"/>
                <a:ea typeface="Arial"/>
                <a:cs typeface="Arial"/>
                <a:sym typeface="Arial"/>
              </a:rPr>
              <a:t>120 epochs • 100 classes</a:t>
            </a:r>
            <a:endParaRPr/>
          </a:p>
        </p:txBody>
      </p:sp>
      <p:sp>
        <p:nvSpPr>
          <p:cNvPr id="183" name="Google Shape;183;p9"/>
          <p:cNvSpPr/>
          <p:nvPr/>
        </p:nvSpPr>
        <p:spPr>
          <a:xfrm>
            <a:off x="685800" y="2267712"/>
            <a:ext cx="1508760" cy="822960"/>
          </a:xfrm>
          <a:prstGeom prst="roundRect">
            <a:avLst>
              <a:gd fmla="val 16667"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4" name="Google Shape;184;p9"/>
          <p:cNvSpPr txBox="1"/>
          <p:nvPr/>
        </p:nvSpPr>
        <p:spPr>
          <a:xfrm>
            <a:off x="813816" y="2377440"/>
            <a:ext cx="1252728" cy="137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720">
                <a:solidFill>
                  <a:srgbClr val="5B6577"/>
                </a:solidFill>
                <a:latin typeface="Arial"/>
                <a:ea typeface="Arial"/>
                <a:cs typeface="Arial"/>
                <a:sym typeface="Arial"/>
              </a:rPr>
              <a:t>TRAIN / VAL</a:t>
            </a:r>
            <a:endParaRPr/>
          </a:p>
        </p:txBody>
      </p:sp>
      <p:sp>
        <p:nvSpPr>
          <p:cNvPr id="185" name="Google Shape;185;p9"/>
          <p:cNvSpPr txBox="1"/>
          <p:nvPr/>
        </p:nvSpPr>
        <p:spPr>
          <a:xfrm>
            <a:off x="795528" y="2542032"/>
            <a:ext cx="1325880" cy="201168"/>
          </a:xfrm>
          <a:prstGeom prst="rect">
            <a:avLst/>
          </a:prstGeom>
          <a:noFill/>
          <a:ln>
            <a:noFill/>
          </a:ln>
        </p:spPr>
        <p:txBody>
          <a:bodyPr anchorCtr="0" anchor="t" bIns="0" lIns="9125" spcFirstLastPara="1" rIns="9125" wrap="square" tIns="0">
            <a:spAutoFit/>
          </a:bodyPr>
          <a:lstStyle/>
          <a:p>
            <a:pPr indent="0" lvl="0" marL="0" marR="0" rtl="0" algn="l">
              <a:spcBef>
                <a:spcPts val="0"/>
              </a:spcBef>
              <a:spcAft>
                <a:spcPts val="0"/>
              </a:spcAft>
              <a:buNone/>
            </a:pPr>
            <a:r>
              <a:rPr b="1" lang="en-US" sz="1120">
                <a:solidFill>
                  <a:srgbClr val="315A8A"/>
                </a:solidFill>
                <a:latin typeface="Arial"/>
                <a:ea typeface="Arial"/>
                <a:cs typeface="Arial"/>
                <a:sym typeface="Arial"/>
              </a:rPr>
              <a:t>20k / 5k</a:t>
            </a:r>
            <a:endParaRPr/>
          </a:p>
        </p:txBody>
      </p:sp>
      <p:sp>
        <p:nvSpPr>
          <p:cNvPr id="186" name="Google Shape;186;p9"/>
          <p:cNvSpPr txBox="1"/>
          <p:nvPr/>
        </p:nvSpPr>
        <p:spPr>
          <a:xfrm>
            <a:off x="795528" y="2770632"/>
            <a:ext cx="1325880" cy="329184"/>
          </a:xfrm>
          <a:prstGeom prst="rect">
            <a:avLst/>
          </a:prstGeom>
          <a:noFill/>
          <a:ln>
            <a:noFill/>
          </a:ln>
        </p:spPr>
        <p:txBody>
          <a:bodyPr anchorCtr="0" anchor="t" bIns="0" lIns="9125" spcFirstLastPara="1" rIns="9125" wrap="square" tIns="0">
            <a:spAutoFit/>
          </a:bodyPr>
          <a:lstStyle/>
          <a:p>
            <a:pPr indent="0" lvl="0" marL="0" marR="0" rtl="0" algn="l">
              <a:spcBef>
                <a:spcPts val="0"/>
              </a:spcBef>
              <a:spcAft>
                <a:spcPts val="0"/>
              </a:spcAft>
              <a:buNone/>
            </a:pPr>
            <a:r>
              <a:rPr b="1" lang="en-US" sz="1120">
                <a:solidFill>
                  <a:srgbClr val="172033"/>
                </a:solidFill>
                <a:latin typeface="Arial"/>
                <a:ea typeface="Arial"/>
                <a:cs typeface="Arial"/>
                <a:sym typeface="Arial"/>
              </a:rPr>
              <a:t>2,000 train/class</a:t>
            </a:r>
            <a:endParaRPr/>
          </a:p>
          <a:p>
            <a:pPr indent="0" lvl="0" marL="0" marR="0" rtl="0" algn="l">
              <a:spcBef>
                <a:spcPts val="0"/>
              </a:spcBef>
              <a:spcAft>
                <a:spcPts val="0"/>
              </a:spcAft>
              <a:buNone/>
            </a:pPr>
            <a:r>
              <a:rPr b="1" lang="en-US" sz="1120">
                <a:solidFill>
                  <a:srgbClr val="172033"/>
                </a:solidFill>
                <a:latin typeface="Arial"/>
                <a:ea typeface="Arial"/>
                <a:cs typeface="Arial"/>
                <a:sym typeface="Arial"/>
              </a:rPr>
              <a:t>500 val/class</a:t>
            </a:r>
            <a:endParaRPr/>
          </a:p>
        </p:txBody>
      </p:sp>
      <p:sp>
        <p:nvSpPr>
          <p:cNvPr id="187" name="Google Shape;187;p9"/>
          <p:cNvSpPr/>
          <p:nvPr/>
        </p:nvSpPr>
        <p:spPr>
          <a:xfrm>
            <a:off x="2350008" y="2267712"/>
            <a:ext cx="1508760" cy="822960"/>
          </a:xfrm>
          <a:prstGeom prst="roundRect">
            <a:avLst>
              <a:gd fmla="val 16667"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 name="Google Shape;188;p9"/>
          <p:cNvSpPr txBox="1"/>
          <p:nvPr/>
        </p:nvSpPr>
        <p:spPr>
          <a:xfrm>
            <a:off x="2478024" y="2377440"/>
            <a:ext cx="1252728" cy="137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720">
                <a:solidFill>
                  <a:srgbClr val="5B6577"/>
                </a:solidFill>
                <a:latin typeface="Arial"/>
                <a:ea typeface="Arial"/>
                <a:cs typeface="Arial"/>
                <a:sym typeface="Arial"/>
              </a:rPr>
              <a:t>OFFICIAL TEST</a:t>
            </a:r>
            <a:endParaRPr/>
          </a:p>
        </p:txBody>
      </p:sp>
      <p:sp>
        <p:nvSpPr>
          <p:cNvPr id="189" name="Google Shape;189;p9"/>
          <p:cNvSpPr txBox="1"/>
          <p:nvPr/>
        </p:nvSpPr>
        <p:spPr>
          <a:xfrm>
            <a:off x="2478024" y="2542032"/>
            <a:ext cx="1252728"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315A8A"/>
                </a:solidFill>
                <a:latin typeface="Arial"/>
                <a:ea typeface="Arial"/>
                <a:cs typeface="Arial"/>
                <a:sym typeface="Arial"/>
              </a:rPr>
              <a:t>10k</a:t>
            </a:r>
            <a:endParaRPr/>
          </a:p>
        </p:txBody>
      </p:sp>
      <p:sp>
        <p:nvSpPr>
          <p:cNvPr id="190" name="Google Shape;190;p9"/>
          <p:cNvSpPr txBox="1"/>
          <p:nvPr/>
        </p:nvSpPr>
        <p:spPr>
          <a:xfrm>
            <a:off x="2478024" y="2862072"/>
            <a:ext cx="1252728" cy="1280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710">
                <a:solidFill>
                  <a:srgbClr val="5B6577"/>
                </a:solidFill>
                <a:latin typeface="Arial"/>
                <a:ea typeface="Arial"/>
                <a:cs typeface="Arial"/>
                <a:sym typeface="Arial"/>
              </a:rPr>
              <a:t>held out</a:t>
            </a:r>
            <a:endParaRPr/>
          </a:p>
        </p:txBody>
      </p:sp>
      <p:sp>
        <p:nvSpPr>
          <p:cNvPr id="191" name="Google Shape;191;p9"/>
          <p:cNvSpPr/>
          <p:nvPr/>
        </p:nvSpPr>
        <p:spPr>
          <a:xfrm>
            <a:off x="4014215" y="2267712"/>
            <a:ext cx="1508760" cy="822960"/>
          </a:xfrm>
          <a:prstGeom prst="roundRect">
            <a:avLst>
              <a:gd fmla="val 16667"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 name="Google Shape;192;p9"/>
          <p:cNvSpPr txBox="1"/>
          <p:nvPr/>
        </p:nvSpPr>
        <p:spPr>
          <a:xfrm>
            <a:off x="4142231" y="2377440"/>
            <a:ext cx="1252728" cy="137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720">
                <a:solidFill>
                  <a:srgbClr val="5B6577"/>
                </a:solidFill>
                <a:latin typeface="Arial"/>
                <a:ea typeface="Arial"/>
                <a:cs typeface="Arial"/>
                <a:sym typeface="Arial"/>
              </a:rPr>
              <a:t>BASE BATCH</a:t>
            </a:r>
            <a:endParaRPr/>
          </a:p>
        </p:txBody>
      </p:sp>
      <p:sp>
        <p:nvSpPr>
          <p:cNvPr id="193" name="Google Shape;193;p9"/>
          <p:cNvSpPr txBox="1"/>
          <p:nvPr/>
        </p:nvSpPr>
        <p:spPr>
          <a:xfrm>
            <a:off x="4142231" y="2542032"/>
            <a:ext cx="1252728"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315A8A"/>
                </a:solidFill>
                <a:latin typeface="Arial"/>
                <a:ea typeface="Arial"/>
                <a:cs typeface="Arial"/>
                <a:sym typeface="Arial"/>
              </a:rPr>
              <a:t>32</a:t>
            </a:r>
            <a:endParaRPr/>
          </a:p>
        </p:txBody>
      </p:sp>
      <p:sp>
        <p:nvSpPr>
          <p:cNvPr id="194" name="Google Shape;194;p9"/>
          <p:cNvSpPr txBox="1"/>
          <p:nvPr/>
        </p:nvSpPr>
        <p:spPr>
          <a:xfrm>
            <a:off x="4142231" y="2862072"/>
            <a:ext cx="1252728" cy="1280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710">
                <a:solidFill>
                  <a:srgbClr val="5B6577"/>
                </a:solidFill>
                <a:latin typeface="Arial"/>
                <a:ea typeface="Arial"/>
                <a:cs typeface="Arial"/>
                <a:sym typeface="Arial"/>
              </a:rPr>
              <a:t>adaptive → 256</a:t>
            </a:r>
            <a:endParaRPr/>
          </a:p>
        </p:txBody>
      </p:sp>
      <p:sp>
        <p:nvSpPr>
          <p:cNvPr id="195" name="Google Shape;195;p9"/>
          <p:cNvSpPr/>
          <p:nvPr/>
        </p:nvSpPr>
        <p:spPr>
          <a:xfrm>
            <a:off x="6400800" y="2267712"/>
            <a:ext cx="1508760" cy="822960"/>
          </a:xfrm>
          <a:prstGeom prst="roundRect">
            <a:avLst>
              <a:gd fmla="val 16667"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6" name="Google Shape;196;p9"/>
          <p:cNvSpPr txBox="1"/>
          <p:nvPr/>
        </p:nvSpPr>
        <p:spPr>
          <a:xfrm>
            <a:off x="6528816" y="2377440"/>
            <a:ext cx="1252728" cy="137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720">
                <a:solidFill>
                  <a:srgbClr val="5B6577"/>
                </a:solidFill>
                <a:latin typeface="Arial"/>
                <a:ea typeface="Arial"/>
                <a:cs typeface="Arial"/>
                <a:sym typeface="Arial"/>
              </a:rPr>
              <a:t>TRAIN / VAL</a:t>
            </a:r>
            <a:endParaRPr/>
          </a:p>
        </p:txBody>
      </p:sp>
      <p:sp>
        <p:nvSpPr>
          <p:cNvPr id="197" name="Google Shape;197;p9"/>
          <p:cNvSpPr txBox="1"/>
          <p:nvPr/>
        </p:nvSpPr>
        <p:spPr>
          <a:xfrm>
            <a:off x="6510528" y="2542032"/>
            <a:ext cx="1325880" cy="201168"/>
          </a:xfrm>
          <a:prstGeom prst="rect">
            <a:avLst/>
          </a:prstGeom>
          <a:noFill/>
          <a:ln>
            <a:noFill/>
          </a:ln>
        </p:spPr>
        <p:txBody>
          <a:bodyPr anchorCtr="0" anchor="t" bIns="0" lIns="9125" spcFirstLastPara="1" rIns="9125" wrap="square" tIns="0">
            <a:spAutoFit/>
          </a:bodyPr>
          <a:lstStyle/>
          <a:p>
            <a:pPr indent="0" lvl="0" marL="0" marR="0" rtl="0" algn="l">
              <a:spcBef>
                <a:spcPts val="0"/>
              </a:spcBef>
              <a:spcAft>
                <a:spcPts val="0"/>
              </a:spcAft>
              <a:buNone/>
            </a:pPr>
            <a:r>
              <a:rPr b="1" lang="en-US" sz="1120">
                <a:solidFill>
                  <a:srgbClr val="D7792D"/>
                </a:solidFill>
                <a:latin typeface="Arial"/>
                <a:ea typeface="Arial"/>
                <a:cs typeface="Arial"/>
                <a:sym typeface="Arial"/>
              </a:rPr>
              <a:t>45k / 5k</a:t>
            </a:r>
            <a:endParaRPr/>
          </a:p>
        </p:txBody>
      </p:sp>
      <p:sp>
        <p:nvSpPr>
          <p:cNvPr id="198" name="Google Shape;198;p9"/>
          <p:cNvSpPr txBox="1"/>
          <p:nvPr/>
        </p:nvSpPr>
        <p:spPr>
          <a:xfrm>
            <a:off x="6510528" y="2770632"/>
            <a:ext cx="1325880" cy="329184"/>
          </a:xfrm>
          <a:prstGeom prst="rect">
            <a:avLst/>
          </a:prstGeom>
          <a:noFill/>
          <a:ln>
            <a:noFill/>
          </a:ln>
        </p:spPr>
        <p:txBody>
          <a:bodyPr anchorCtr="0" anchor="t" bIns="0" lIns="9125" spcFirstLastPara="1" rIns="9125" wrap="square" tIns="0">
            <a:spAutoFit/>
          </a:bodyPr>
          <a:lstStyle/>
          <a:p>
            <a:pPr indent="0" lvl="0" marL="0" marR="0" rtl="0" algn="l">
              <a:spcBef>
                <a:spcPts val="0"/>
              </a:spcBef>
              <a:spcAft>
                <a:spcPts val="0"/>
              </a:spcAft>
              <a:buNone/>
            </a:pPr>
            <a:r>
              <a:rPr b="1" lang="en-US" sz="1120">
                <a:solidFill>
                  <a:srgbClr val="172033"/>
                </a:solidFill>
                <a:latin typeface="Arial"/>
                <a:ea typeface="Arial"/>
                <a:cs typeface="Arial"/>
                <a:sym typeface="Arial"/>
              </a:rPr>
              <a:t>450 train/class</a:t>
            </a:r>
            <a:endParaRPr/>
          </a:p>
          <a:p>
            <a:pPr indent="0" lvl="0" marL="0" marR="0" rtl="0" algn="l">
              <a:spcBef>
                <a:spcPts val="0"/>
              </a:spcBef>
              <a:spcAft>
                <a:spcPts val="0"/>
              </a:spcAft>
              <a:buNone/>
            </a:pPr>
            <a:r>
              <a:rPr b="1" lang="en-US" sz="1120">
                <a:solidFill>
                  <a:srgbClr val="172033"/>
                </a:solidFill>
                <a:latin typeface="Arial"/>
                <a:ea typeface="Arial"/>
                <a:cs typeface="Arial"/>
                <a:sym typeface="Arial"/>
              </a:rPr>
              <a:t>50 val/class</a:t>
            </a:r>
            <a:endParaRPr/>
          </a:p>
        </p:txBody>
      </p:sp>
      <p:sp>
        <p:nvSpPr>
          <p:cNvPr id="199" name="Google Shape;199;p9"/>
          <p:cNvSpPr/>
          <p:nvPr/>
        </p:nvSpPr>
        <p:spPr>
          <a:xfrm>
            <a:off x="8065008" y="2267712"/>
            <a:ext cx="1508760" cy="822960"/>
          </a:xfrm>
          <a:prstGeom prst="roundRect">
            <a:avLst>
              <a:gd fmla="val 16667"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 name="Google Shape;200;p9"/>
          <p:cNvSpPr txBox="1"/>
          <p:nvPr/>
        </p:nvSpPr>
        <p:spPr>
          <a:xfrm>
            <a:off x="8193024" y="2377440"/>
            <a:ext cx="1252728" cy="137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720">
                <a:solidFill>
                  <a:srgbClr val="5B6577"/>
                </a:solidFill>
                <a:latin typeface="Arial"/>
                <a:ea typeface="Arial"/>
                <a:cs typeface="Arial"/>
                <a:sym typeface="Arial"/>
              </a:rPr>
              <a:t>OFFICIAL TEST</a:t>
            </a:r>
            <a:endParaRPr/>
          </a:p>
        </p:txBody>
      </p:sp>
      <p:sp>
        <p:nvSpPr>
          <p:cNvPr id="201" name="Google Shape;201;p9"/>
          <p:cNvSpPr txBox="1"/>
          <p:nvPr/>
        </p:nvSpPr>
        <p:spPr>
          <a:xfrm>
            <a:off x="8193024" y="2542032"/>
            <a:ext cx="1252728"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D7792D"/>
                </a:solidFill>
                <a:latin typeface="Arial"/>
                <a:ea typeface="Arial"/>
                <a:cs typeface="Arial"/>
                <a:sym typeface="Arial"/>
              </a:rPr>
              <a:t>10k</a:t>
            </a:r>
            <a:endParaRPr/>
          </a:p>
        </p:txBody>
      </p:sp>
      <p:sp>
        <p:nvSpPr>
          <p:cNvPr id="202" name="Google Shape;202;p9"/>
          <p:cNvSpPr txBox="1"/>
          <p:nvPr/>
        </p:nvSpPr>
        <p:spPr>
          <a:xfrm>
            <a:off x="8193024" y="2862072"/>
            <a:ext cx="1252728" cy="1280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710">
                <a:solidFill>
                  <a:srgbClr val="5B6577"/>
                </a:solidFill>
                <a:latin typeface="Arial"/>
                <a:ea typeface="Arial"/>
                <a:cs typeface="Arial"/>
                <a:sym typeface="Arial"/>
              </a:rPr>
              <a:t>held out</a:t>
            </a:r>
            <a:endParaRPr/>
          </a:p>
        </p:txBody>
      </p:sp>
      <p:sp>
        <p:nvSpPr>
          <p:cNvPr id="203" name="Google Shape;203;p9"/>
          <p:cNvSpPr/>
          <p:nvPr/>
        </p:nvSpPr>
        <p:spPr>
          <a:xfrm>
            <a:off x="9729216" y="2267712"/>
            <a:ext cx="1508760" cy="822960"/>
          </a:xfrm>
          <a:prstGeom prst="roundRect">
            <a:avLst>
              <a:gd fmla="val 16667"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4" name="Google Shape;204;p9"/>
          <p:cNvSpPr txBox="1"/>
          <p:nvPr/>
        </p:nvSpPr>
        <p:spPr>
          <a:xfrm>
            <a:off x="9857232" y="2377440"/>
            <a:ext cx="1252728" cy="137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720">
                <a:solidFill>
                  <a:srgbClr val="5B6577"/>
                </a:solidFill>
                <a:latin typeface="Arial"/>
                <a:ea typeface="Arial"/>
                <a:cs typeface="Arial"/>
                <a:sym typeface="Arial"/>
              </a:rPr>
              <a:t>BASE BATCH</a:t>
            </a:r>
            <a:endParaRPr/>
          </a:p>
        </p:txBody>
      </p:sp>
      <p:sp>
        <p:nvSpPr>
          <p:cNvPr id="205" name="Google Shape;205;p9"/>
          <p:cNvSpPr txBox="1"/>
          <p:nvPr/>
        </p:nvSpPr>
        <p:spPr>
          <a:xfrm>
            <a:off x="9857232" y="2542032"/>
            <a:ext cx="1252728" cy="2560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50">
                <a:solidFill>
                  <a:srgbClr val="D7792D"/>
                </a:solidFill>
                <a:latin typeface="Arial"/>
                <a:ea typeface="Arial"/>
                <a:cs typeface="Arial"/>
                <a:sym typeface="Arial"/>
              </a:rPr>
              <a:t>32</a:t>
            </a:r>
            <a:endParaRPr/>
          </a:p>
        </p:txBody>
      </p:sp>
      <p:sp>
        <p:nvSpPr>
          <p:cNvPr id="206" name="Google Shape;206;p9"/>
          <p:cNvSpPr txBox="1"/>
          <p:nvPr/>
        </p:nvSpPr>
        <p:spPr>
          <a:xfrm>
            <a:off x="9857232" y="2862072"/>
            <a:ext cx="1252728" cy="1280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710">
                <a:solidFill>
                  <a:srgbClr val="5B6577"/>
                </a:solidFill>
                <a:latin typeface="Arial"/>
                <a:ea typeface="Arial"/>
                <a:cs typeface="Arial"/>
                <a:sym typeface="Arial"/>
              </a:rPr>
              <a:t>adaptive → 256</a:t>
            </a:r>
            <a:endParaRPr/>
          </a:p>
        </p:txBody>
      </p:sp>
      <p:sp>
        <p:nvSpPr>
          <p:cNvPr id="207" name="Google Shape;207;p9"/>
          <p:cNvSpPr/>
          <p:nvPr/>
        </p:nvSpPr>
        <p:spPr>
          <a:xfrm>
            <a:off x="685800" y="3273552"/>
            <a:ext cx="4837176" cy="1572768"/>
          </a:xfrm>
          <a:prstGeom prst="roundRect">
            <a:avLst>
              <a:gd fmla="val 16667" name="adj"/>
            </a:avLst>
          </a:prstGeom>
          <a:solidFill>
            <a:srgbClr val="F4F7FA"/>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8" name="Google Shape;208;p9"/>
          <p:cNvSpPr txBox="1"/>
          <p:nvPr/>
        </p:nvSpPr>
        <p:spPr>
          <a:xfrm>
            <a:off x="832104" y="3429000"/>
            <a:ext cx="210312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172033"/>
                </a:solidFill>
                <a:latin typeface="Arial"/>
                <a:ea typeface="Arial"/>
                <a:cs typeface="Arial"/>
                <a:sym typeface="Arial"/>
              </a:rPr>
              <a:t>Data pipeline</a:t>
            </a:r>
            <a:endParaRPr/>
          </a:p>
        </p:txBody>
      </p:sp>
      <p:sp>
        <p:nvSpPr>
          <p:cNvPr id="209" name="Google Shape;209;p9"/>
          <p:cNvSpPr/>
          <p:nvPr/>
        </p:nvSpPr>
        <p:spPr>
          <a:xfrm>
            <a:off x="832104" y="3781044"/>
            <a:ext cx="73152" cy="73152"/>
          </a:xfrm>
          <a:prstGeom prst="ellipse">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0" name="Google Shape;210;p9"/>
          <p:cNvSpPr txBox="1"/>
          <p:nvPr/>
        </p:nvSpPr>
        <p:spPr>
          <a:xfrm>
            <a:off x="978408" y="3730752"/>
            <a:ext cx="435254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32×32 RGB input; dataset-specific normalization</a:t>
            </a:r>
            <a:endParaRPr/>
          </a:p>
        </p:txBody>
      </p:sp>
      <p:sp>
        <p:nvSpPr>
          <p:cNvPr id="211" name="Google Shape;211;p9"/>
          <p:cNvSpPr/>
          <p:nvPr/>
        </p:nvSpPr>
        <p:spPr>
          <a:xfrm>
            <a:off x="832104" y="4101083"/>
            <a:ext cx="73152" cy="73152"/>
          </a:xfrm>
          <a:prstGeom prst="ellipse">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2" name="Google Shape;212;p9"/>
          <p:cNvSpPr txBox="1"/>
          <p:nvPr/>
        </p:nvSpPr>
        <p:spPr>
          <a:xfrm>
            <a:off x="978408" y="4050791"/>
            <a:ext cx="435254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Training: random crop (padding 4) + horizontal flip</a:t>
            </a:r>
            <a:endParaRPr/>
          </a:p>
        </p:txBody>
      </p:sp>
      <p:sp>
        <p:nvSpPr>
          <p:cNvPr id="213" name="Google Shape;213;p9"/>
          <p:cNvSpPr/>
          <p:nvPr/>
        </p:nvSpPr>
        <p:spPr>
          <a:xfrm>
            <a:off x="832104" y="4421124"/>
            <a:ext cx="73152" cy="73152"/>
          </a:xfrm>
          <a:prstGeom prst="ellipse">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4" name="Google Shape;214;p9"/>
          <p:cNvSpPr txBox="1"/>
          <p:nvPr/>
        </p:nvSpPr>
        <p:spPr>
          <a:xfrm>
            <a:off x="978408" y="4370832"/>
            <a:ext cx="435254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Validation/test: deterministic transforms; no random augmentation</a:t>
            </a:r>
            <a:endParaRPr/>
          </a:p>
        </p:txBody>
      </p:sp>
      <p:sp>
        <p:nvSpPr>
          <p:cNvPr id="215" name="Google Shape;215;p9"/>
          <p:cNvSpPr/>
          <p:nvPr/>
        </p:nvSpPr>
        <p:spPr>
          <a:xfrm>
            <a:off x="6400800" y="3273552"/>
            <a:ext cx="4837176" cy="1572768"/>
          </a:xfrm>
          <a:prstGeom prst="roundRect">
            <a:avLst>
              <a:gd fmla="val 16667" name="adj"/>
            </a:avLst>
          </a:prstGeom>
          <a:solidFill>
            <a:srgbClr val="F4F7FA"/>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6" name="Google Shape;216;p9"/>
          <p:cNvSpPr txBox="1"/>
          <p:nvPr/>
        </p:nvSpPr>
        <p:spPr>
          <a:xfrm>
            <a:off x="6547104" y="3429000"/>
            <a:ext cx="210312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050">
                <a:solidFill>
                  <a:srgbClr val="172033"/>
                </a:solidFill>
                <a:latin typeface="Arial"/>
                <a:ea typeface="Arial"/>
                <a:cs typeface="Arial"/>
                <a:sym typeface="Arial"/>
              </a:rPr>
              <a:t>Data pipeline</a:t>
            </a:r>
            <a:endParaRPr/>
          </a:p>
        </p:txBody>
      </p:sp>
      <p:sp>
        <p:nvSpPr>
          <p:cNvPr id="217" name="Google Shape;217;p9"/>
          <p:cNvSpPr/>
          <p:nvPr/>
        </p:nvSpPr>
        <p:spPr>
          <a:xfrm>
            <a:off x="6547104" y="3781044"/>
            <a:ext cx="73152" cy="73152"/>
          </a:xfrm>
          <a:prstGeom prst="ellipse">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 name="Google Shape;218;p9"/>
          <p:cNvSpPr txBox="1"/>
          <p:nvPr/>
        </p:nvSpPr>
        <p:spPr>
          <a:xfrm>
            <a:off x="6693408" y="3730752"/>
            <a:ext cx="435254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32×32 RGB input; dataset-specific normalization</a:t>
            </a:r>
            <a:endParaRPr/>
          </a:p>
        </p:txBody>
      </p:sp>
      <p:sp>
        <p:nvSpPr>
          <p:cNvPr id="219" name="Google Shape;219;p9"/>
          <p:cNvSpPr/>
          <p:nvPr/>
        </p:nvSpPr>
        <p:spPr>
          <a:xfrm>
            <a:off x="6547104" y="4101083"/>
            <a:ext cx="73152" cy="73152"/>
          </a:xfrm>
          <a:prstGeom prst="ellipse">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 name="Google Shape;220;p9"/>
          <p:cNvSpPr txBox="1"/>
          <p:nvPr/>
        </p:nvSpPr>
        <p:spPr>
          <a:xfrm>
            <a:off x="6693408" y="4050791"/>
            <a:ext cx="435254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Training: random crop (padding 4) + horizontal flip</a:t>
            </a:r>
            <a:endParaRPr/>
          </a:p>
        </p:txBody>
      </p:sp>
      <p:sp>
        <p:nvSpPr>
          <p:cNvPr id="221" name="Google Shape;221;p9"/>
          <p:cNvSpPr/>
          <p:nvPr/>
        </p:nvSpPr>
        <p:spPr>
          <a:xfrm>
            <a:off x="6547104" y="4421124"/>
            <a:ext cx="73152" cy="73152"/>
          </a:xfrm>
          <a:prstGeom prst="ellipse">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 name="Google Shape;222;p9"/>
          <p:cNvSpPr txBox="1"/>
          <p:nvPr/>
        </p:nvSpPr>
        <p:spPr>
          <a:xfrm>
            <a:off x="6693408" y="4370832"/>
            <a:ext cx="4352544"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Validation/test: deterministic transforms; no random augmentation</a:t>
            </a:r>
            <a:endParaRPr/>
          </a:p>
        </p:txBody>
      </p:sp>
      <p:sp>
        <p:nvSpPr>
          <p:cNvPr id="223" name="Google Shape;223;p9"/>
          <p:cNvSpPr/>
          <p:nvPr/>
        </p:nvSpPr>
        <p:spPr>
          <a:xfrm>
            <a:off x="731520" y="5129784"/>
            <a:ext cx="10652760" cy="713232"/>
          </a:xfrm>
          <a:prstGeom prst="roundRect">
            <a:avLst>
              <a:gd fmla="val 16667"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 name="Google Shape;224;p9"/>
          <p:cNvSpPr txBox="1"/>
          <p:nvPr/>
        </p:nvSpPr>
        <p:spPr>
          <a:xfrm>
            <a:off x="932688" y="5248656"/>
            <a:ext cx="1901952" cy="1645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910">
                <a:solidFill>
                  <a:srgbClr val="0F8B8D"/>
                </a:solidFill>
                <a:latin typeface="Arial"/>
                <a:ea typeface="Arial"/>
                <a:cs typeface="Arial"/>
                <a:sym typeface="Arial"/>
              </a:rPr>
              <a:t>Shared training controls</a:t>
            </a:r>
            <a:endParaRPr/>
          </a:p>
        </p:txBody>
      </p:sp>
      <p:sp>
        <p:nvSpPr>
          <p:cNvPr id="225" name="Google Shape;225;p9"/>
          <p:cNvSpPr txBox="1"/>
          <p:nvPr/>
        </p:nvSpPr>
        <p:spPr>
          <a:xfrm>
            <a:off x="2761488" y="5239512"/>
            <a:ext cx="827532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844">
                <a:solidFill>
                  <a:srgbClr val="172033"/>
                </a:solidFill>
                <a:latin typeface="Arial"/>
                <a:ea typeface="Arial"/>
                <a:cs typeface="Arial"/>
                <a:sym typeface="Arial"/>
              </a:rPr>
              <a:t>DeeperCNNWide • GroupNorm(8) • SGD • momentum 0.9 • weight decay 1e−3 • reference LR 0.01 • dropout 0.2 • seed 42</a:t>
            </a:r>
            <a:endParaRPr/>
          </a:p>
        </p:txBody>
      </p:sp>
      <p:sp>
        <p:nvSpPr>
          <p:cNvPr id="226" name="Google Shape;226;p9"/>
          <p:cNvSpPr txBox="1"/>
          <p:nvPr/>
        </p:nvSpPr>
        <p:spPr>
          <a:xfrm>
            <a:off x="932688" y="5532120"/>
            <a:ext cx="10149840" cy="1645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830">
                <a:solidFill>
                  <a:srgbClr val="5B6577"/>
                </a:solidFill>
                <a:latin typeface="Arial"/>
                <a:ea typeface="Arial"/>
                <a:cs typeface="Arial"/>
                <a:sym typeface="Arial"/>
              </a:rPr>
              <a:t>Model selection uses validation loss. The official test split is excluded from controller feedback and checkpoint selection.</a:t>
            </a:r>
            <a:endParaRPr/>
          </a:p>
        </p:txBody>
      </p:sp>
      <p:sp>
        <p:nvSpPr>
          <p:cNvPr id="227" name="Google Shape;227;p9"/>
          <p:cNvSpPr txBox="1"/>
          <p:nvPr/>
        </p:nvSpPr>
        <p:spPr>
          <a:xfrm>
            <a:off x="749808" y="5870448"/>
            <a:ext cx="10652760" cy="34747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720">
                <a:solidFill>
                  <a:srgbClr val="5B6577"/>
                </a:solidFill>
                <a:latin typeface="Arial"/>
                <a:ea typeface="Arial"/>
                <a:cs typeface="Arial"/>
                <a:sym typeface="Arial"/>
              </a:rPr>
              <a:t>Per-class split: CIFAR-10 uses 2,000 training + 500 validation images per class; CIFAR-100 uses 450 training + 50 validation images per class. CIFAR-100 is also a harder 100-class task with a longer training budget.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a_clean_infographic_slide_with_a_white_light_backg_1_batch_1.png" id="233" name="Google Shape;233;p1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4" name="Google Shape;234;p10"/>
          <p:cNvSpPr/>
          <p:nvPr/>
        </p:nvSpPr>
        <p:spPr>
          <a:xfrm>
            <a:off x="7909560" y="1033271"/>
            <a:ext cx="3657600" cy="274320"/>
          </a:xfrm>
          <a:prstGeom prst="roundRect">
            <a:avLst>
              <a:gd fmla="val 12000" name="adj"/>
            </a:avLst>
          </a:prstGeom>
          <a:solidFill>
            <a:srgbClr val="E8F5F4"/>
          </a:solidFill>
          <a:ln cap="flat" cmpd="sng" w="10150">
            <a:solidFill>
              <a:srgbClr val="0F8B8D"/>
            </a:solidFill>
            <a:prstDash val="solid"/>
            <a:miter lim="8000"/>
            <a:headEnd len="sm" w="sm" type="none"/>
            <a:tailEnd len="sm" w="sm" type="none"/>
          </a:ln>
        </p:spPr>
        <p:txBody>
          <a:bodyPr anchorCtr="0" anchor="ctr" bIns="9125" lIns="27425" spcFirstLastPara="1" rIns="27425" wrap="square" tIns="9125">
            <a:noAutofit/>
          </a:bodyPr>
          <a:lstStyle/>
          <a:p>
            <a:pPr indent="0" lvl="0" marL="0" marR="0" rtl="0" algn="ctr">
              <a:spcBef>
                <a:spcPts val="0"/>
              </a:spcBef>
              <a:spcAft>
                <a:spcPts val="0"/>
              </a:spcAft>
              <a:buNone/>
            </a:pPr>
            <a:r>
              <a:rPr b="1" lang="en-US" sz="810">
                <a:solidFill>
                  <a:srgbClr val="0F8B8D"/>
                </a:solidFill>
                <a:latin typeface="Arial"/>
                <a:ea typeface="Arial"/>
                <a:cs typeface="Arial"/>
                <a:sym typeface="Arial"/>
              </a:rPr>
              <a:t>Current: 12 conv layers   •   Earlier archive: 6 conv layers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38" name="Shape 238"/>
        <p:cNvGrpSpPr/>
        <p:nvPr/>
      </p:nvGrpSpPr>
      <p:grpSpPr>
        <a:xfrm>
          <a:off x="0" y="0"/>
          <a:ext cx="0" cy="0"/>
          <a:chOff x="0" y="0"/>
          <a:chExt cx="0" cy="0"/>
        </a:xfrm>
      </p:grpSpPr>
      <p:sp>
        <p:nvSpPr>
          <p:cNvPr id="239" name="Google Shape;239;p11"/>
          <p:cNvSpPr txBox="1"/>
          <p:nvPr/>
        </p:nvSpPr>
        <p:spPr>
          <a:xfrm>
            <a:off x="566928" y="347472"/>
            <a:ext cx="10789920" cy="4114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2400">
                <a:solidFill>
                  <a:srgbClr val="172033"/>
                </a:solidFill>
                <a:latin typeface="Play"/>
                <a:ea typeface="Play"/>
                <a:cs typeface="Play"/>
                <a:sym typeface="Play"/>
              </a:rPr>
              <a:t>Adaptive batch-size controller design</a:t>
            </a:r>
            <a:endParaRPr/>
          </a:p>
        </p:txBody>
      </p:sp>
      <p:sp>
        <p:nvSpPr>
          <p:cNvPr id="240" name="Google Shape;240;p11"/>
          <p:cNvSpPr txBox="1"/>
          <p:nvPr/>
        </p:nvSpPr>
        <p:spPr>
          <a:xfrm>
            <a:off x="585216" y="832104"/>
            <a:ext cx="10744200" cy="30175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1050">
                <a:solidFill>
                  <a:srgbClr val="5B6577"/>
                </a:solidFill>
                <a:latin typeface="Arial"/>
                <a:ea typeface="Arial"/>
                <a:cs typeface="Arial"/>
                <a:sym typeface="Arial"/>
              </a:rPr>
              <a:t>Gradient-norm stability + validation plateau determine when the next batch grows.</a:t>
            </a:r>
            <a:endParaRPr/>
          </a:p>
        </p:txBody>
      </p:sp>
      <p:sp>
        <p:nvSpPr>
          <p:cNvPr id="241" name="Google Shape;241;p11"/>
          <p:cNvSpPr/>
          <p:nvPr/>
        </p:nvSpPr>
        <p:spPr>
          <a:xfrm>
            <a:off x="585216" y="1225296"/>
            <a:ext cx="1600200" cy="256032"/>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2" name="Google Shape;242;p11"/>
          <p:cNvSpPr txBox="1"/>
          <p:nvPr/>
        </p:nvSpPr>
        <p:spPr>
          <a:xfrm>
            <a:off x="667512" y="1271016"/>
            <a:ext cx="1435608" cy="12801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730">
                <a:solidFill>
                  <a:srgbClr val="0F8B8D"/>
                </a:solidFill>
                <a:latin typeface="Arial"/>
                <a:ea typeface="Arial"/>
                <a:cs typeface="Arial"/>
                <a:sym typeface="Arial"/>
              </a:rPr>
              <a:t>BATCH CONTROLLER</a:t>
            </a:r>
            <a:endParaRPr/>
          </a:p>
        </p:txBody>
      </p:sp>
      <p:sp>
        <p:nvSpPr>
          <p:cNvPr id="243" name="Google Shape;243;p11"/>
          <p:cNvSpPr txBox="1"/>
          <p:nvPr/>
        </p:nvSpPr>
        <p:spPr>
          <a:xfrm>
            <a:off x="11384280" y="6446520"/>
            <a:ext cx="320040" cy="1828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lang="en-US" sz="800">
                <a:solidFill>
                  <a:srgbClr val="5B6577"/>
                </a:solidFill>
                <a:latin typeface="Arial"/>
                <a:ea typeface="Arial"/>
                <a:cs typeface="Arial"/>
                <a:sym typeface="Arial"/>
              </a:rPr>
              <a:t>8</a:t>
            </a:r>
            <a:endParaRPr/>
          </a:p>
        </p:txBody>
      </p:sp>
      <p:sp>
        <p:nvSpPr>
          <p:cNvPr id="244" name="Google Shape;244;p11"/>
          <p:cNvSpPr txBox="1"/>
          <p:nvPr/>
        </p:nvSpPr>
        <p:spPr>
          <a:xfrm>
            <a:off x="493776" y="6455664"/>
            <a:ext cx="292608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30">
                <a:solidFill>
                  <a:srgbClr val="7E8796"/>
                </a:solidFill>
                <a:latin typeface="Arial"/>
                <a:ea typeface="Arial"/>
                <a:cs typeface="Arial"/>
                <a:sym typeface="Arial"/>
              </a:rPr>
              <a:t>Adaptive Batch Size + Learning Rate • Midterm</a:t>
            </a:r>
            <a:endParaRPr/>
          </a:p>
        </p:txBody>
      </p:sp>
      <p:sp>
        <p:nvSpPr>
          <p:cNvPr id="245" name="Google Shape;245;p11"/>
          <p:cNvSpPr/>
          <p:nvPr/>
        </p:nvSpPr>
        <p:spPr>
          <a:xfrm>
            <a:off x="640080" y="1664208"/>
            <a:ext cx="5321808" cy="4242816"/>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 name="Google Shape;246;p11"/>
          <p:cNvSpPr txBox="1"/>
          <p:nvPr/>
        </p:nvSpPr>
        <p:spPr>
          <a:xfrm>
            <a:off x="850392" y="1847088"/>
            <a:ext cx="448056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315A8A"/>
                </a:solidFill>
                <a:latin typeface="Arial"/>
                <a:ea typeface="Arial"/>
                <a:cs typeface="Arial"/>
                <a:sym typeface="Arial"/>
              </a:rPr>
              <a:t>1  Measure minibatch gradient magnitude</a:t>
            </a:r>
            <a:endParaRPr/>
          </a:p>
        </p:txBody>
      </p:sp>
      <p:pic>
        <p:nvPicPr>
          <p:cNvPr descr="gradnorm.png" id="247" name="Google Shape;247;p11"/>
          <p:cNvPicPr preferRelativeResize="0"/>
          <p:nvPr/>
        </p:nvPicPr>
        <p:blipFill rotWithShape="1">
          <a:blip r:embed="rId3">
            <a:alphaModFix/>
          </a:blip>
          <a:srcRect b="0" l="0" r="0" t="0"/>
          <a:stretch/>
        </p:blipFill>
        <p:spPr>
          <a:xfrm>
            <a:off x="1033271" y="2084831"/>
            <a:ext cx="3854415" cy="632888"/>
          </a:xfrm>
          <a:prstGeom prst="rect">
            <a:avLst/>
          </a:prstGeom>
          <a:noFill/>
          <a:ln>
            <a:noFill/>
          </a:ln>
        </p:spPr>
      </p:pic>
      <p:sp>
        <p:nvSpPr>
          <p:cNvPr id="248" name="Google Shape;248;p11"/>
          <p:cNvSpPr txBox="1"/>
          <p:nvPr/>
        </p:nvSpPr>
        <p:spPr>
          <a:xfrm>
            <a:off x="987552" y="2688336"/>
            <a:ext cx="4526280" cy="27432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0">
                <a:solidFill>
                  <a:srgbClr val="5B6577"/>
                </a:solidFill>
                <a:latin typeface="Arial"/>
                <a:ea typeface="Arial"/>
                <a:cs typeface="Arial"/>
                <a:sym typeface="Arial"/>
              </a:rPr>
              <a:t>One global gradient-norm value is recorded for each optimizer update.</a:t>
            </a:r>
            <a:endParaRPr/>
          </a:p>
        </p:txBody>
      </p:sp>
      <p:sp>
        <p:nvSpPr>
          <p:cNvPr id="249" name="Google Shape;249;p11"/>
          <p:cNvSpPr txBox="1"/>
          <p:nvPr/>
        </p:nvSpPr>
        <p:spPr>
          <a:xfrm>
            <a:off x="850392" y="3090672"/>
            <a:ext cx="448056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0F8B8D"/>
                </a:solidFill>
                <a:latin typeface="Arial"/>
                <a:ea typeface="Arial"/>
                <a:cs typeface="Arial"/>
                <a:sym typeface="Arial"/>
              </a:rPr>
              <a:t>2  Convert the epoch to a stability signal</a:t>
            </a:r>
            <a:endParaRPr/>
          </a:p>
        </p:txBody>
      </p:sp>
      <p:pic>
        <p:nvPicPr>
          <p:cNvPr descr="cv.png" id="250" name="Google Shape;250;p11"/>
          <p:cNvPicPr preferRelativeResize="0"/>
          <p:nvPr/>
        </p:nvPicPr>
        <p:blipFill rotWithShape="1">
          <a:blip r:embed="rId4">
            <a:alphaModFix/>
          </a:blip>
          <a:srcRect b="0" l="0" r="0" t="0"/>
          <a:stretch/>
        </p:blipFill>
        <p:spPr>
          <a:xfrm>
            <a:off x="1033271" y="3346704"/>
            <a:ext cx="4315968" cy="525253"/>
          </a:xfrm>
          <a:prstGeom prst="rect">
            <a:avLst/>
          </a:prstGeom>
          <a:noFill/>
          <a:ln>
            <a:noFill/>
          </a:ln>
        </p:spPr>
      </p:pic>
      <p:sp>
        <p:nvSpPr>
          <p:cNvPr id="251" name="Google Shape;251;p11"/>
          <p:cNvSpPr txBox="1"/>
          <p:nvPr/>
        </p:nvSpPr>
        <p:spPr>
          <a:xfrm>
            <a:off x="987552" y="3931920"/>
            <a:ext cx="4526280" cy="31089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0">
                <a:solidFill>
                  <a:srgbClr val="5B6577"/>
                </a:solidFill>
                <a:latin typeface="Arial"/>
                <a:ea typeface="Arial"/>
                <a:cs typeface="Arial"/>
                <a:sym typeface="Arial"/>
              </a:rPr>
              <a:t>Lower CV means the minibatch gradient magnitudes were more stable during that epoch.</a:t>
            </a:r>
            <a:endParaRPr/>
          </a:p>
        </p:txBody>
      </p:sp>
      <p:sp>
        <p:nvSpPr>
          <p:cNvPr id="252" name="Google Shape;252;p11"/>
          <p:cNvSpPr txBox="1"/>
          <p:nvPr/>
        </p:nvSpPr>
        <p:spPr>
          <a:xfrm>
            <a:off x="850392" y="4379976"/>
            <a:ext cx="448056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3D8F68"/>
                </a:solidFill>
                <a:latin typeface="Arial"/>
                <a:ea typeface="Arial"/>
                <a:cs typeface="Arial"/>
                <a:sym typeface="Arial"/>
              </a:rPr>
              <a:t>3  Smooth over a short history</a:t>
            </a:r>
            <a:endParaRPr/>
          </a:p>
        </p:txBody>
      </p:sp>
      <p:pic>
        <p:nvPicPr>
          <p:cNvPr descr="rolling.png" id="253" name="Google Shape;253;p11"/>
          <p:cNvPicPr preferRelativeResize="0"/>
          <p:nvPr/>
        </p:nvPicPr>
        <p:blipFill rotWithShape="1">
          <a:blip r:embed="rId5">
            <a:alphaModFix/>
          </a:blip>
          <a:srcRect b="0" l="0" r="0" t="0"/>
          <a:stretch/>
        </p:blipFill>
        <p:spPr>
          <a:xfrm>
            <a:off x="1093797" y="4560162"/>
            <a:ext cx="4160520" cy="691187"/>
          </a:xfrm>
          <a:prstGeom prst="rect">
            <a:avLst/>
          </a:prstGeom>
          <a:noFill/>
          <a:ln>
            <a:noFill/>
          </a:ln>
        </p:spPr>
      </p:pic>
      <p:sp>
        <p:nvSpPr>
          <p:cNvPr id="254" name="Google Shape;254;p11"/>
          <p:cNvSpPr txBox="1"/>
          <p:nvPr/>
        </p:nvSpPr>
        <p:spPr>
          <a:xfrm>
            <a:off x="987552" y="5230368"/>
            <a:ext cx="4526280" cy="25603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69">
                <a:solidFill>
                  <a:srgbClr val="172033"/>
                </a:solidFill>
                <a:latin typeface="Arial"/>
                <a:ea typeface="Arial"/>
                <a:cs typeface="Arial"/>
                <a:sym typeface="Arial"/>
              </a:rPr>
              <a:t>Current midterm window: w = 3 epochs.  Stability threshold: 0.25.</a:t>
            </a:r>
            <a:endParaRPr/>
          </a:p>
        </p:txBody>
      </p:sp>
      <p:sp>
        <p:nvSpPr>
          <p:cNvPr id="255" name="Google Shape;255;p11"/>
          <p:cNvSpPr txBox="1"/>
          <p:nvPr/>
        </p:nvSpPr>
        <p:spPr>
          <a:xfrm>
            <a:off x="987552" y="5541264"/>
            <a:ext cx="4526280" cy="25603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80">
                <a:solidFill>
                  <a:srgbClr val="B84B4B"/>
                </a:solidFill>
                <a:latin typeface="Arial"/>
                <a:ea typeface="Arial"/>
                <a:cs typeface="Arial"/>
                <a:sym typeface="Arial"/>
              </a:rPr>
              <a:t>Terminology: this is gradient-norm stability / gradient-norm CV — not the formal gradient noise scale.</a:t>
            </a:r>
            <a:endParaRPr/>
          </a:p>
        </p:txBody>
      </p:sp>
      <p:sp>
        <p:nvSpPr>
          <p:cNvPr id="256" name="Google Shape;256;p11"/>
          <p:cNvSpPr/>
          <p:nvPr/>
        </p:nvSpPr>
        <p:spPr>
          <a:xfrm>
            <a:off x="6199632" y="1664208"/>
            <a:ext cx="5321808" cy="4242816"/>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7" name="Google Shape;257;p11"/>
          <p:cNvSpPr txBox="1"/>
          <p:nvPr/>
        </p:nvSpPr>
        <p:spPr>
          <a:xfrm>
            <a:off x="6400800" y="1847088"/>
            <a:ext cx="452628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D7792D"/>
                </a:solidFill>
                <a:latin typeface="Arial"/>
                <a:ea typeface="Arial"/>
                <a:cs typeface="Arial"/>
                <a:sym typeface="Arial"/>
              </a:rPr>
              <a:t>4  Require a validation plateau</a:t>
            </a:r>
            <a:endParaRPr/>
          </a:p>
        </p:txBody>
      </p:sp>
      <p:sp>
        <p:nvSpPr>
          <p:cNvPr id="258" name="Google Shape;258;p11"/>
          <p:cNvSpPr txBox="1"/>
          <p:nvPr/>
        </p:nvSpPr>
        <p:spPr>
          <a:xfrm>
            <a:off x="6419088" y="2176272"/>
            <a:ext cx="1627632"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19">
                <a:solidFill>
                  <a:srgbClr val="5B6577"/>
                </a:solidFill>
                <a:latin typeface="Arial"/>
                <a:ea typeface="Arial"/>
                <a:cs typeface="Arial"/>
                <a:sym typeface="Arial"/>
              </a:rPr>
              <a:t>Significant improvement:</a:t>
            </a:r>
            <a:endParaRPr/>
          </a:p>
        </p:txBody>
      </p:sp>
      <p:sp>
        <p:nvSpPr>
          <p:cNvPr id="259" name="Google Shape;259;p11"/>
          <p:cNvSpPr txBox="1"/>
          <p:nvPr/>
        </p:nvSpPr>
        <p:spPr>
          <a:xfrm>
            <a:off x="7973568" y="2148840"/>
            <a:ext cx="3063240" cy="21945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000">
                <a:solidFill>
                  <a:srgbClr val="172033"/>
                </a:solidFill>
                <a:latin typeface="Arial"/>
                <a:ea typeface="Arial"/>
                <a:cs typeface="Arial"/>
                <a:sym typeface="Arial"/>
              </a:rPr>
              <a:t>Lₜ &lt; L_best − Δ,  with  Δ = 0.01</a:t>
            </a:r>
            <a:endParaRPr/>
          </a:p>
        </p:txBody>
      </p:sp>
      <p:sp>
        <p:nvSpPr>
          <p:cNvPr id="260" name="Google Shape;260;p11"/>
          <p:cNvSpPr txBox="1"/>
          <p:nvPr/>
        </p:nvSpPr>
        <p:spPr>
          <a:xfrm>
            <a:off x="6419088" y="2487168"/>
            <a:ext cx="4736592" cy="47548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9">
                <a:solidFill>
                  <a:srgbClr val="5B6577"/>
                </a:solidFill>
                <a:latin typeface="Arial"/>
                <a:ea typeface="Arial"/>
                <a:cs typeface="Arial"/>
                <a:sym typeface="Arial"/>
              </a:rPr>
              <a:t>If meaningful improvement does not occur for the plateau patience window, the validation signal is considered plateaued.</a:t>
            </a:r>
            <a:endParaRPr/>
          </a:p>
        </p:txBody>
      </p:sp>
      <p:sp>
        <p:nvSpPr>
          <p:cNvPr id="261" name="Google Shape;261;p11"/>
          <p:cNvSpPr txBox="1"/>
          <p:nvPr/>
        </p:nvSpPr>
        <p:spPr>
          <a:xfrm>
            <a:off x="6400800" y="3090672"/>
            <a:ext cx="452628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8066A9"/>
                </a:solidFill>
                <a:latin typeface="Arial"/>
                <a:ea typeface="Arial"/>
                <a:cs typeface="Arial"/>
                <a:sym typeface="Arial"/>
              </a:rPr>
              <a:t>5  Grow only when both conditions agree</a:t>
            </a:r>
            <a:endParaRPr/>
          </a:p>
        </p:txBody>
      </p:sp>
      <p:pic>
        <p:nvPicPr>
          <p:cNvPr descr="batchdecision.png" id="262" name="Google Shape;262;p11"/>
          <p:cNvPicPr preferRelativeResize="0"/>
          <p:nvPr/>
        </p:nvPicPr>
        <p:blipFill rotWithShape="1">
          <a:blip r:embed="rId6">
            <a:alphaModFix/>
          </a:blip>
          <a:srcRect b="0" l="0" r="0" t="0"/>
          <a:stretch/>
        </p:blipFill>
        <p:spPr>
          <a:xfrm>
            <a:off x="6565392" y="3337560"/>
            <a:ext cx="4617720" cy="561976"/>
          </a:xfrm>
          <a:prstGeom prst="rect">
            <a:avLst/>
          </a:prstGeom>
          <a:noFill/>
          <a:ln>
            <a:noFill/>
          </a:ln>
        </p:spPr>
      </p:pic>
      <p:sp>
        <p:nvSpPr>
          <p:cNvPr id="263" name="Google Shape;263;p11"/>
          <p:cNvSpPr txBox="1"/>
          <p:nvPr/>
        </p:nvSpPr>
        <p:spPr>
          <a:xfrm>
            <a:off x="6565392" y="4069080"/>
            <a:ext cx="4617720" cy="20116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900">
                <a:solidFill>
                  <a:srgbClr val="172033"/>
                </a:solidFill>
                <a:latin typeface="Arial"/>
                <a:ea typeface="Arial"/>
                <a:cs typeface="Arial"/>
                <a:sym typeface="Arial"/>
              </a:rPr>
              <a:t>only if: plateau  AND  Sₜ ≤ 0.25; otherwise keep Bₜ</a:t>
            </a:r>
            <a:endParaRPr/>
          </a:p>
        </p:txBody>
      </p:sp>
      <p:sp>
        <p:nvSpPr>
          <p:cNvPr id="264" name="Google Shape;264;p11"/>
          <p:cNvSpPr txBox="1"/>
          <p:nvPr/>
        </p:nvSpPr>
        <p:spPr>
          <a:xfrm>
            <a:off x="6437376" y="4727448"/>
            <a:ext cx="1554480"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40">
                <a:solidFill>
                  <a:srgbClr val="5B6577"/>
                </a:solidFill>
                <a:latin typeface="Arial"/>
                <a:ea typeface="Arial"/>
                <a:cs typeface="Arial"/>
                <a:sym typeface="Arial"/>
              </a:rPr>
              <a:t>Allowed batch ladder</a:t>
            </a:r>
            <a:endParaRPr/>
          </a:p>
        </p:txBody>
      </p:sp>
      <p:sp>
        <p:nvSpPr>
          <p:cNvPr id="265" name="Google Shape;265;p11"/>
          <p:cNvSpPr/>
          <p:nvPr/>
        </p:nvSpPr>
        <p:spPr>
          <a:xfrm>
            <a:off x="6473952" y="5020056"/>
            <a:ext cx="914400" cy="484632"/>
          </a:xfrm>
          <a:prstGeom prst="roundRect">
            <a:avLst>
              <a:gd fmla="val 8000" name="adj"/>
            </a:avLst>
          </a:prstGeom>
          <a:solidFill>
            <a:srgbClr val="315A8A"/>
          </a:solidFill>
          <a:ln cap="flat" cmpd="sng" w="12700">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6" name="Google Shape;266;p11"/>
          <p:cNvSpPr txBox="1"/>
          <p:nvPr/>
        </p:nvSpPr>
        <p:spPr>
          <a:xfrm>
            <a:off x="6473952" y="5138928"/>
            <a:ext cx="914400"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32</a:t>
            </a:r>
            <a:endParaRPr/>
          </a:p>
        </p:txBody>
      </p:sp>
      <p:sp>
        <p:nvSpPr>
          <p:cNvPr id="267" name="Google Shape;267;p11"/>
          <p:cNvSpPr txBox="1"/>
          <p:nvPr/>
        </p:nvSpPr>
        <p:spPr>
          <a:xfrm>
            <a:off x="7360920" y="5120640"/>
            <a:ext cx="22860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1100">
                <a:solidFill>
                  <a:srgbClr val="5B6577"/>
                </a:solidFill>
                <a:latin typeface="Arial"/>
                <a:ea typeface="Arial"/>
                <a:cs typeface="Arial"/>
                <a:sym typeface="Arial"/>
              </a:rPr>
              <a:t>→</a:t>
            </a:r>
            <a:endParaRPr/>
          </a:p>
        </p:txBody>
      </p:sp>
      <p:sp>
        <p:nvSpPr>
          <p:cNvPr id="268" name="Google Shape;268;p11"/>
          <p:cNvSpPr/>
          <p:nvPr/>
        </p:nvSpPr>
        <p:spPr>
          <a:xfrm>
            <a:off x="7589520" y="5020056"/>
            <a:ext cx="914400" cy="484632"/>
          </a:xfrm>
          <a:prstGeom prst="roundRect">
            <a:avLst>
              <a:gd fmla="val 8000" name="adj"/>
            </a:avLst>
          </a:prstGeom>
          <a:solidFill>
            <a:srgbClr val="0F8B8D"/>
          </a:solidFill>
          <a:ln cap="flat" cmpd="sng" w="12700">
            <a:solidFill>
              <a:srgbClr val="0F8B8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9" name="Google Shape;269;p11"/>
          <p:cNvSpPr txBox="1"/>
          <p:nvPr/>
        </p:nvSpPr>
        <p:spPr>
          <a:xfrm>
            <a:off x="7589520" y="5138928"/>
            <a:ext cx="914400"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64</a:t>
            </a:r>
            <a:endParaRPr/>
          </a:p>
        </p:txBody>
      </p:sp>
      <p:sp>
        <p:nvSpPr>
          <p:cNvPr id="270" name="Google Shape;270;p11"/>
          <p:cNvSpPr txBox="1"/>
          <p:nvPr/>
        </p:nvSpPr>
        <p:spPr>
          <a:xfrm>
            <a:off x="8476488" y="5120640"/>
            <a:ext cx="22860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1100">
                <a:solidFill>
                  <a:srgbClr val="5B6577"/>
                </a:solidFill>
                <a:latin typeface="Arial"/>
                <a:ea typeface="Arial"/>
                <a:cs typeface="Arial"/>
                <a:sym typeface="Arial"/>
              </a:rPr>
              <a:t>→</a:t>
            </a:r>
            <a:endParaRPr/>
          </a:p>
        </p:txBody>
      </p:sp>
      <p:sp>
        <p:nvSpPr>
          <p:cNvPr id="271" name="Google Shape;271;p11"/>
          <p:cNvSpPr/>
          <p:nvPr/>
        </p:nvSpPr>
        <p:spPr>
          <a:xfrm>
            <a:off x="8705088" y="5020056"/>
            <a:ext cx="914400" cy="484632"/>
          </a:xfrm>
          <a:prstGeom prst="roundRect">
            <a:avLst>
              <a:gd fmla="val 8000" name="adj"/>
            </a:avLst>
          </a:prstGeom>
          <a:solidFill>
            <a:srgbClr val="3D8F68"/>
          </a:solidFill>
          <a:ln cap="flat" cmpd="sng" w="12700">
            <a:solidFill>
              <a:srgbClr val="3D8F6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2" name="Google Shape;272;p11"/>
          <p:cNvSpPr txBox="1"/>
          <p:nvPr/>
        </p:nvSpPr>
        <p:spPr>
          <a:xfrm>
            <a:off x="8705088" y="5138928"/>
            <a:ext cx="914400"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128</a:t>
            </a:r>
            <a:endParaRPr/>
          </a:p>
        </p:txBody>
      </p:sp>
      <p:sp>
        <p:nvSpPr>
          <p:cNvPr id="273" name="Google Shape;273;p11"/>
          <p:cNvSpPr txBox="1"/>
          <p:nvPr/>
        </p:nvSpPr>
        <p:spPr>
          <a:xfrm>
            <a:off x="9592056" y="5120640"/>
            <a:ext cx="22860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1100">
                <a:solidFill>
                  <a:srgbClr val="5B6577"/>
                </a:solidFill>
                <a:latin typeface="Arial"/>
                <a:ea typeface="Arial"/>
                <a:cs typeface="Arial"/>
                <a:sym typeface="Arial"/>
              </a:rPr>
              <a:t>→</a:t>
            </a:r>
            <a:endParaRPr/>
          </a:p>
        </p:txBody>
      </p:sp>
      <p:sp>
        <p:nvSpPr>
          <p:cNvPr id="274" name="Google Shape;274;p11"/>
          <p:cNvSpPr/>
          <p:nvPr/>
        </p:nvSpPr>
        <p:spPr>
          <a:xfrm>
            <a:off x="9820656" y="5020056"/>
            <a:ext cx="914400" cy="484632"/>
          </a:xfrm>
          <a:prstGeom prst="roundRect">
            <a:avLst>
              <a:gd fmla="val 8000" name="adj"/>
            </a:avLst>
          </a:prstGeom>
          <a:solidFill>
            <a:srgbClr val="8066A9"/>
          </a:solidFill>
          <a:ln cap="flat" cmpd="sng" w="12700">
            <a:solidFill>
              <a:srgbClr val="8066A9"/>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5" name="Google Shape;275;p11"/>
          <p:cNvSpPr txBox="1"/>
          <p:nvPr/>
        </p:nvSpPr>
        <p:spPr>
          <a:xfrm>
            <a:off x="9820656" y="5138928"/>
            <a:ext cx="914400"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FFFFFF"/>
                </a:solidFill>
                <a:latin typeface="Arial"/>
                <a:ea typeface="Arial"/>
                <a:cs typeface="Arial"/>
                <a:sym typeface="Arial"/>
              </a:rPr>
              <a:t>256</a:t>
            </a:r>
            <a:endParaRPr/>
          </a:p>
        </p:txBody>
      </p:sp>
      <p:sp>
        <p:nvSpPr>
          <p:cNvPr id="276" name="Google Shape;276;p11"/>
          <p:cNvSpPr txBox="1"/>
          <p:nvPr/>
        </p:nvSpPr>
        <p:spPr>
          <a:xfrm>
            <a:off x="6437376" y="5577840"/>
            <a:ext cx="4663440" cy="21945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90">
                <a:solidFill>
                  <a:srgbClr val="5B6577"/>
                </a:solidFill>
                <a:latin typeface="Arial"/>
                <a:ea typeface="Arial"/>
                <a:cs typeface="Arial"/>
                <a:sym typeface="Arial"/>
              </a:rPr>
              <a:t>Cooldown = 2 epochs after a batch change; the current suite uses grow-only adaptation.</a:t>
            </a:r>
            <a:endParaRPr/>
          </a:p>
        </p:txBody>
      </p:sp>
      <p:sp>
        <p:nvSpPr>
          <p:cNvPr id="277" name="Google Shape;277;p11"/>
          <p:cNvSpPr/>
          <p:nvPr/>
        </p:nvSpPr>
        <p:spPr>
          <a:xfrm>
            <a:off x="868680" y="5989320"/>
            <a:ext cx="10424160" cy="310896"/>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8" name="Google Shape;278;p11"/>
          <p:cNvSpPr txBox="1"/>
          <p:nvPr/>
        </p:nvSpPr>
        <p:spPr>
          <a:xfrm>
            <a:off x="987552" y="6062472"/>
            <a:ext cx="10168128"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69">
                <a:solidFill>
                  <a:srgbClr val="0F8B8D"/>
                </a:solidFill>
                <a:latin typeface="Arial"/>
                <a:ea typeface="Arial"/>
                <a:cs typeface="Arial"/>
                <a:sym typeface="Arial"/>
              </a:rPr>
              <a:t>Decision summary:  validation plateau  +  rolling gradient stability ≤ 0.25  ⇒  select the next larger batch for the following epoch.</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7FA"/>
        </a:solidFill>
      </p:bgPr>
    </p:bg>
    <p:spTree>
      <p:nvGrpSpPr>
        <p:cNvPr id="283" name="Shape 283"/>
        <p:cNvGrpSpPr/>
        <p:nvPr/>
      </p:nvGrpSpPr>
      <p:grpSpPr>
        <a:xfrm>
          <a:off x="0" y="0"/>
          <a:ext cx="0" cy="0"/>
          <a:chOff x="0" y="0"/>
          <a:chExt cx="0" cy="0"/>
        </a:xfrm>
      </p:grpSpPr>
      <p:sp>
        <p:nvSpPr>
          <p:cNvPr id="284" name="Google Shape;284;p12"/>
          <p:cNvSpPr txBox="1"/>
          <p:nvPr/>
        </p:nvSpPr>
        <p:spPr>
          <a:xfrm>
            <a:off x="566928" y="347472"/>
            <a:ext cx="10789920" cy="4114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2400">
                <a:solidFill>
                  <a:srgbClr val="172033"/>
                </a:solidFill>
                <a:latin typeface="Play"/>
                <a:ea typeface="Play"/>
                <a:cs typeface="Play"/>
                <a:sym typeface="Play"/>
              </a:rPr>
              <a:t>Adaptive learning-rate controller design</a:t>
            </a:r>
            <a:endParaRPr/>
          </a:p>
        </p:txBody>
      </p:sp>
      <p:sp>
        <p:nvSpPr>
          <p:cNvPr id="285" name="Google Shape;285;p12"/>
          <p:cNvSpPr txBox="1"/>
          <p:nvPr/>
        </p:nvSpPr>
        <p:spPr>
          <a:xfrm>
            <a:off x="585216" y="832104"/>
            <a:ext cx="10744200" cy="30175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1050">
                <a:solidFill>
                  <a:srgbClr val="5B6577"/>
                </a:solidFill>
                <a:latin typeface="Arial"/>
                <a:ea typeface="Arial"/>
                <a:cs typeface="Arial"/>
                <a:sym typeface="Arial"/>
              </a:rPr>
              <a:t>Batch-aware LR scaling + validation decay; E4 computes the next LR from the next selected batch.</a:t>
            </a:r>
            <a:endParaRPr/>
          </a:p>
        </p:txBody>
      </p:sp>
      <p:sp>
        <p:nvSpPr>
          <p:cNvPr id="286" name="Google Shape;286;p12"/>
          <p:cNvSpPr/>
          <p:nvPr/>
        </p:nvSpPr>
        <p:spPr>
          <a:xfrm>
            <a:off x="585216" y="1225296"/>
            <a:ext cx="1600200" cy="256032"/>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 name="Google Shape;287;p12"/>
          <p:cNvSpPr txBox="1"/>
          <p:nvPr/>
        </p:nvSpPr>
        <p:spPr>
          <a:xfrm>
            <a:off x="667512" y="1271016"/>
            <a:ext cx="1435608" cy="12801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730">
                <a:solidFill>
                  <a:srgbClr val="0F8B8D"/>
                </a:solidFill>
                <a:latin typeface="Arial"/>
                <a:ea typeface="Arial"/>
                <a:cs typeface="Arial"/>
                <a:sym typeface="Arial"/>
              </a:rPr>
              <a:t>LR CONTROLLER</a:t>
            </a:r>
            <a:endParaRPr/>
          </a:p>
        </p:txBody>
      </p:sp>
      <p:sp>
        <p:nvSpPr>
          <p:cNvPr id="288" name="Google Shape;288;p12"/>
          <p:cNvSpPr txBox="1"/>
          <p:nvPr/>
        </p:nvSpPr>
        <p:spPr>
          <a:xfrm>
            <a:off x="11384280" y="6446520"/>
            <a:ext cx="320040" cy="1828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lang="en-US" sz="800">
                <a:solidFill>
                  <a:srgbClr val="5B6577"/>
                </a:solidFill>
                <a:latin typeface="Arial"/>
                <a:ea typeface="Arial"/>
                <a:cs typeface="Arial"/>
                <a:sym typeface="Arial"/>
              </a:rPr>
              <a:t>9</a:t>
            </a:r>
            <a:endParaRPr/>
          </a:p>
        </p:txBody>
      </p:sp>
      <p:sp>
        <p:nvSpPr>
          <p:cNvPr id="289" name="Google Shape;289;p12"/>
          <p:cNvSpPr txBox="1"/>
          <p:nvPr/>
        </p:nvSpPr>
        <p:spPr>
          <a:xfrm>
            <a:off x="493776" y="6455664"/>
            <a:ext cx="292608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30">
                <a:solidFill>
                  <a:srgbClr val="7E8796"/>
                </a:solidFill>
                <a:latin typeface="Arial"/>
                <a:ea typeface="Arial"/>
                <a:cs typeface="Arial"/>
                <a:sym typeface="Arial"/>
              </a:rPr>
              <a:t>Adaptive Batch Size + Learning Rate • Midterm</a:t>
            </a:r>
            <a:endParaRPr/>
          </a:p>
        </p:txBody>
      </p:sp>
      <p:sp>
        <p:nvSpPr>
          <p:cNvPr id="290" name="Google Shape;290;p12"/>
          <p:cNvSpPr/>
          <p:nvPr/>
        </p:nvSpPr>
        <p:spPr>
          <a:xfrm>
            <a:off x="640080" y="1664208"/>
            <a:ext cx="5321808" cy="4169663"/>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1" name="Google Shape;291;p12"/>
          <p:cNvSpPr txBox="1"/>
          <p:nvPr/>
        </p:nvSpPr>
        <p:spPr>
          <a:xfrm>
            <a:off x="850392" y="1847088"/>
            <a:ext cx="438912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315A8A"/>
                </a:solidFill>
                <a:latin typeface="Arial"/>
                <a:ea typeface="Arial"/>
                <a:cs typeface="Arial"/>
                <a:sym typeface="Arial"/>
              </a:rPr>
              <a:t>1  Batch-aware LR scaling</a:t>
            </a:r>
            <a:endParaRPr/>
          </a:p>
        </p:txBody>
      </p:sp>
      <p:pic>
        <p:nvPicPr>
          <p:cNvPr descr="lrbase.png" id="292" name="Google Shape;292;p12"/>
          <p:cNvPicPr preferRelativeResize="0"/>
          <p:nvPr/>
        </p:nvPicPr>
        <p:blipFill rotWithShape="1">
          <a:blip r:embed="rId3">
            <a:alphaModFix/>
          </a:blip>
          <a:srcRect b="0" l="0" r="0" t="0"/>
          <a:stretch/>
        </p:blipFill>
        <p:spPr>
          <a:xfrm>
            <a:off x="941832" y="2103120"/>
            <a:ext cx="4617720" cy="561976"/>
          </a:xfrm>
          <a:prstGeom prst="rect">
            <a:avLst/>
          </a:prstGeom>
          <a:noFill/>
          <a:ln>
            <a:noFill/>
          </a:ln>
        </p:spPr>
      </p:pic>
      <p:sp>
        <p:nvSpPr>
          <p:cNvPr id="293" name="Google Shape;293;p12"/>
          <p:cNvSpPr txBox="1"/>
          <p:nvPr/>
        </p:nvSpPr>
        <p:spPr>
          <a:xfrm>
            <a:off x="914400" y="2697480"/>
            <a:ext cx="466344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50">
                <a:solidFill>
                  <a:srgbClr val="172033"/>
                </a:solidFill>
                <a:latin typeface="Arial"/>
                <a:ea typeface="Arial"/>
                <a:cs typeface="Arial"/>
                <a:sym typeface="Arial"/>
              </a:rPr>
              <a:t>Current midterm parameters: reference LR = 0.01 • reference batch = 32 • alpha = 0.2</a:t>
            </a:r>
            <a:endParaRPr/>
          </a:p>
        </p:txBody>
      </p:sp>
      <p:sp>
        <p:nvSpPr>
          <p:cNvPr id="294" name="Google Shape;294;p12"/>
          <p:cNvSpPr txBox="1"/>
          <p:nvPr/>
        </p:nvSpPr>
        <p:spPr>
          <a:xfrm>
            <a:off x="914400" y="2980944"/>
            <a:ext cx="4663440" cy="34747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30">
                <a:solidFill>
                  <a:srgbClr val="5B6577"/>
                </a:solidFill>
                <a:latin typeface="Arial"/>
                <a:ea typeface="Arial"/>
                <a:cs typeface="Arial"/>
                <a:sym typeface="Arial"/>
              </a:rPr>
              <a:t>Sublinear scaling raises the LR as batch size grows, but less aggressively than the linear scaling rule.</a:t>
            </a:r>
            <a:endParaRPr/>
          </a:p>
        </p:txBody>
      </p:sp>
      <p:sp>
        <p:nvSpPr>
          <p:cNvPr id="295" name="Google Shape;295;p12"/>
          <p:cNvSpPr/>
          <p:nvPr/>
        </p:nvSpPr>
        <p:spPr>
          <a:xfrm>
            <a:off x="841248" y="3511296"/>
            <a:ext cx="1078992" cy="786384"/>
          </a:xfrm>
          <a:prstGeom prst="roundRect">
            <a:avLst>
              <a:gd fmla="val 8000" name="adj"/>
            </a:avLst>
          </a:prstGeom>
          <a:solidFill>
            <a:srgbClr val="F8FAFC"/>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6" name="Google Shape;296;p12"/>
          <p:cNvSpPr txBox="1"/>
          <p:nvPr/>
        </p:nvSpPr>
        <p:spPr>
          <a:xfrm>
            <a:off x="841248" y="3630168"/>
            <a:ext cx="1078992" cy="14630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780">
                <a:solidFill>
                  <a:srgbClr val="315A8A"/>
                </a:solidFill>
                <a:latin typeface="Arial"/>
                <a:ea typeface="Arial"/>
                <a:cs typeface="Arial"/>
                <a:sym typeface="Arial"/>
              </a:rPr>
              <a:t>B=32</a:t>
            </a:r>
            <a:endParaRPr/>
          </a:p>
        </p:txBody>
      </p:sp>
      <p:sp>
        <p:nvSpPr>
          <p:cNvPr id="297" name="Google Shape;297;p12"/>
          <p:cNvSpPr txBox="1"/>
          <p:nvPr/>
        </p:nvSpPr>
        <p:spPr>
          <a:xfrm>
            <a:off x="841248" y="3931920"/>
            <a:ext cx="1078992"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172033"/>
                </a:solidFill>
                <a:latin typeface="Arial"/>
                <a:ea typeface="Arial"/>
                <a:cs typeface="Arial"/>
                <a:sym typeface="Arial"/>
              </a:rPr>
              <a:t>0.01000</a:t>
            </a:r>
            <a:endParaRPr/>
          </a:p>
        </p:txBody>
      </p:sp>
      <p:sp>
        <p:nvSpPr>
          <p:cNvPr id="298" name="Google Shape;298;p12"/>
          <p:cNvSpPr/>
          <p:nvPr/>
        </p:nvSpPr>
        <p:spPr>
          <a:xfrm>
            <a:off x="2066544" y="3511296"/>
            <a:ext cx="1078992" cy="786384"/>
          </a:xfrm>
          <a:prstGeom prst="roundRect">
            <a:avLst>
              <a:gd fmla="val 8000" name="adj"/>
            </a:avLst>
          </a:prstGeom>
          <a:solidFill>
            <a:srgbClr val="F8FAFC"/>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9" name="Google Shape;299;p12"/>
          <p:cNvSpPr txBox="1"/>
          <p:nvPr/>
        </p:nvSpPr>
        <p:spPr>
          <a:xfrm>
            <a:off x="2066544" y="3630168"/>
            <a:ext cx="1078992" cy="14630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780">
                <a:solidFill>
                  <a:srgbClr val="0F8B8D"/>
                </a:solidFill>
                <a:latin typeface="Arial"/>
                <a:ea typeface="Arial"/>
                <a:cs typeface="Arial"/>
                <a:sym typeface="Arial"/>
              </a:rPr>
              <a:t>B=64</a:t>
            </a:r>
            <a:endParaRPr/>
          </a:p>
        </p:txBody>
      </p:sp>
      <p:sp>
        <p:nvSpPr>
          <p:cNvPr id="300" name="Google Shape;300;p12"/>
          <p:cNvSpPr txBox="1"/>
          <p:nvPr/>
        </p:nvSpPr>
        <p:spPr>
          <a:xfrm>
            <a:off x="2066544" y="3931920"/>
            <a:ext cx="1078992"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172033"/>
                </a:solidFill>
                <a:latin typeface="Arial"/>
                <a:ea typeface="Arial"/>
                <a:cs typeface="Arial"/>
                <a:sym typeface="Arial"/>
              </a:rPr>
              <a:t>0.01149</a:t>
            </a:r>
            <a:endParaRPr/>
          </a:p>
        </p:txBody>
      </p:sp>
      <p:sp>
        <p:nvSpPr>
          <p:cNvPr id="301" name="Google Shape;301;p12"/>
          <p:cNvSpPr/>
          <p:nvPr/>
        </p:nvSpPr>
        <p:spPr>
          <a:xfrm>
            <a:off x="3291840" y="3511296"/>
            <a:ext cx="1078992" cy="786384"/>
          </a:xfrm>
          <a:prstGeom prst="roundRect">
            <a:avLst>
              <a:gd fmla="val 8000" name="adj"/>
            </a:avLst>
          </a:prstGeom>
          <a:solidFill>
            <a:srgbClr val="F8FAFC"/>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2" name="Google Shape;302;p12"/>
          <p:cNvSpPr txBox="1"/>
          <p:nvPr/>
        </p:nvSpPr>
        <p:spPr>
          <a:xfrm>
            <a:off x="3291840" y="3630168"/>
            <a:ext cx="1078992" cy="14630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780">
                <a:solidFill>
                  <a:srgbClr val="3D8F68"/>
                </a:solidFill>
                <a:latin typeface="Arial"/>
                <a:ea typeface="Arial"/>
                <a:cs typeface="Arial"/>
                <a:sym typeface="Arial"/>
              </a:rPr>
              <a:t>B=128</a:t>
            </a:r>
            <a:endParaRPr/>
          </a:p>
        </p:txBody>
      </p:sp>
      <p:sp>
        <p:nvSpPr>
          <p:cNvPr id="303" name="Google Shape;303;p12"/>
          <p:cNvSpPr txBox="1"/>
          <p:nvPr/>
        </p:nvSpPr>
        <p:spPr>
          <a:xfrm>
            <a:off x="3291840" y="3931920"/>
            <a:ext cx="1078992"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172033"/>
                </a:solidFill>
                <a:latin typeface="Arial"/>
                <a:ea typeface="Arial"/>
                <a:cs typeface="Arial"/>
                <a:sym typeface="Arial"/>
              </a:rPr>
              <a:t>0.01320</a:t>
            </a:r>
            <a:endParaRPr/>
          </a:p>
        </p:txBody>
      </p:sp>
      <p:sp>
        <p:nvSpPr>
          <p:cNvPr id="304" name="Google Shape;304;p12"/>
          <p:cNvSpPr/>
          <p:nvPr/>
        </p:nvSpPr>
        <p:spPr>
          <a:xfrm>
            <a:off x="4517136" y="3511296"/>
            <a:ext cx="1078992" cy="786384"/>
          </a:xfrm>
          <a:prstGeom prst="roundRect">
            <a:avLst>
              <a:gd fmla="val 8000" name="adj"/>
            </a:avLst>
          </a:prstGeom>
          <a:solidFill>
            <a:srgbClr val="F8FAFC"/>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5" name="Google Shape;305;p12"/>
          <p:cNvSpPr txBox="1"/>
          <p:nvPr/>
        </p:nvSpPr>
        <p:spPr>
          <a:xfrm>
            <a:off x="4517136" y="3630168"/>
            <a:ext cx="1078992" cy="14630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780">
                <a:solidFill>
                  <a:srgbClr val="8066A9"/>
                </a:solidFill>
                <a:latin typeface="Arial"/>
                <a:ea typeface="Arial"/>
                <a:cs typeface="Arial"/>
                <a:sym typeface="Arial"/>
              </a:rPr>
              <a:t>B=256</a:t>
            </a:r>
            <a:endParaRPr/>
          </a:p>
        </p:txBody>
      </p:sp>
      <p:sp>
        <p:nvSpPr>
          <p:cNvPr id="306" name="Google Shape;306;p12"/>
          <p:cNvSpPr txBox="1"/>
          <p:nvPr/>
        </p:nvSpPr>
        <p:spPr>
          <a:xfrm>
            <a:off x="4517136" y="3931920"/>
            <a:ext cx="1078992"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000">
                <a:solidFill>
                  <a:srgbClr val="172033"/>
                </a:solidFill>
                <a:latin typeface="Arial"/>
                <a:ea typeface="Arial"/>
                <a:cs typeface="Arial"/>
                <a:sym typeface="Arial"/>
              </a:rPr>
              <a:t>0.01516</a:t>
            </a:r>
            <a:endParaRPr/>
          </a:p>
        </p:txBody>
      </p:sp>
      <p:sp>
        <p:nvSpPr>
          <p:cNvPr id="307" name="Google Shape;307;p12"/>
          <p:cNvSpPr txBox="1"/>
          <p:nvPr/>
        </p:nvSpPr>
        <p:spPr>
          <a:xfrm>
            <a:off x="1371600" y="4425696"/>
            <a:ext cx="3840480"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0" lang="en-US" sz="770">
                <a:solidFill>
                  <a:srgbClr val="5B6577"/>
                </a:solidFill>
                <a:latin typeface="Arial"/>
                <a:ea typeface="Arial"/>
                <a:cs typeface="Arial"/>
                <a:sym typeface="Arial"/>
              </a:rPr>
              <a:t>Base LR before validation-driven decay</a:t>
            </a:r>
            <a:endParaRPr/>
          </a:p>
        </p:txBody>
      </p:sp>
      <p:sp>
        <p:nvSpPr>
          <p:cNvPr id="308" name="Google Shape;308;p12"/>
          <p:cNvSpPr txBox="1"/>
          <p:nvPr/>
        </p:nvSpPr>
        <p:spPr>
          <a:xfrm>
            <a:off x="914400" y="4800600"/>
            <a:ext cx="4663440" cy="43891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40">
                <a:solidFill>
                  <a:srgbClr val="5B6577"/>
                </a:solidFill>
                <a:latin typeface="Arial"/>
                <a:ea typeface="Arial"/>
                <a:cs typeface="Arial"/>
                <a:sym typeface="Arial"/>
              </a:rPr>
              <a:t>These values explain the 0.0100 → 0.01149 → 0.01320 → 0.01516 growth seen in E4 before decay events.</a:t>
            </a:r>
            <a:endParaRPr/>
          </a:p>
        </p:txBody>
      </p:sp>
      <p:sp>
        <p:nvSpPr>
          <p:cNvPr id="309" name="Google Shape;309;p12"/>
          <p:cNvSpPr/>
          <p:nvPr/>
        </p:nvSpPr>
        <p:spPr>
          <a:xfrm>
            <a:off x="6199632" y="1664208"/>
            <a:ext cx="5321808" cy="4169663"/>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0" name="Google Shape;310;p12"/>
          <p:cNvSpPr txBox="1"/>
          <p:nvPr/>
        </p:nvSpPr>
        <p:spPr>
          <a:xfrm>
            <a:off x="6400800" y="1847088"/>
            <a:ext cx="452628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D7792D"/>
                </a:solidFill>
                <a:latin typeface="Arial"/>
                <a:ea typeface="Arial"/>
                <a:cs typeface="Arial"/>
                <a:sym typeface="Arial"/>
              </a:rPr>
              <a:t>2  Validation-driven decay multiplier</a:t>
            </a:r>
            <a:endParaRPr/>
          </a:p>
        </p:txBody>
      </p:sp>
      <p:sp>
        <p:nvSpPr>
          <p:cNvPr id="311" name="Google Shape;311;p12"/>
          <p:cNvSpPr txBox="1"/>
          <p:nvPr/>
        </p:nvSpPr>
        <p:spPr>
          <a:xfrm>
            <a:off x="6428232" y="2194560"/>
            <a:ext cx="4681728" cy="49377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0">
                <a:solidFill>
                  <a:srgbClr val="5B6577"/>
                </a:solidFill>
                <a:latin typeface="Arial"/>
                <a:ea typeface="Arial"/>
                <a:cs typeface="Arial"/>
                <a:sym typeface="Arial"/>
              </a:rPr>
              <a:t>Validation outcomes are classified as improvement, worsening, or plateau. Consecutive feedback conditions drive a persistent decay multiplier.</a:t>
            </a:r>
            <a:endParaRPr/>
          </a:p>
        </p:txBody>
      </p:sp>
      <p:pic>
        <p:nvPicPr>
          <p:cNvPr descr="decay.png" id="312" name="Google Shape;312;p12"/>
          <p:cNvPicPr preferRelativeResize="0"/>
          <p:nvPr/>
        </p:nvPicPr>
        <p:blipFill rotWithShape="1">
          <a:blip r:embed="rId4">
            <a:alphaModFix/>
          </a:blip>
          <a:srcRect b="0" l="0" r="0" t="0"/>
          <a:stretch/>
        </p:blipFill>
        <p:spPr>
          <a:xfrm>
            <a:off x="6537960" y="2743200"/>
            <a:ext cx="4663440" cy="567540"/>
          </a:xfrm>
          <a:prstGeom prst="rect">
            <a:avLst/>
          </a:prstGeom>
          <a:noFill/>
          <a:ln>
            <a:noFill/>
          </a:ln>
        </p:spPr>
      </p:pic>
      <p:sp>
        <p:nvSpPr>
          <p:cNvPr id="313" name="Google Shape;313;p12"/>
          <p:cNvSpPr txBox="1"/>
          <p:nvPr/>
        </p:nvSpPr>
        <p:spPr>
          <a:xfrm>
            <a:off x="6492240" y="3182112"/>
            <a:ext cx="4663440"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00">
                <a:solidFill>
                  <a:srgbClr val="5B6577"/>
                </a:solidFill>
                <a:latin typeface="Arial"/>
                <a:ea typeface="Arial"/>
                <a:cs typeface="Arial"/>
                <a:sym typeface="Arial"/>
              </a:rPr>
              <a:t>when plateau/worsening feedback reaches its patience threshold</a:t>
            </a:r>
            <a:endParaRPr/>
          </a:p>
        </p:txBody>
      </p:sp>
      <p:sp>
        <p:nvSpPr>
          <p:cNvPr id="314" name="Google Shape;314;p12"/>
          <p:cNvSpPr txBox="1"/>
          <p:nvPr/>
        </p:nvSpPr>
        <p:spPr>
          <a:xfrm>
            <a:off x="6419088" y="3410712"/>
            <a:ext cx="4700016" cy="23774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69">
                <a:solidFill>
                  <a:srgbClr val="172033"/>
                </a:solidFill>
                <a:latin typeface="Arial"/>
                <a:ea typeface="Arial"/>
                <a:cs typeface="Arial"/>
                <a:sym typeface="Arial"/>
              </a:rPr>
              <a:t>Current suite: decay factor = 0.5 • cooldown = 2 • no warmup • LR floor = 1e−5</a:t>
            </a:r>
            <a:endParaRPr/>
          </a:p>
        </p:txBody>
      </p:sp>
      <p:sp>
        <p:nvSpPr>
          <p:cNvPr id="315" name="Google Shape;315;p12"/>
          <p:cNvSpPr txBox="1"/>
          <p:nvPr/>
        </p:nvSpPr>
        <p:spPr>
          <a:xfrm>
            <a:off x="6400800" y="3931920"/>
            <a:ext cx="452628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8066A9"/>
                </a:solidFill>
                <a:latin typeface="Arial"/>
                <a:ea typeface="Arial"/>
                <a:cs typeface="Arial"/>
                <a:sym typeface="Arial"/>
              </a:rPr>
              <a:t>3  E4 uses the next batch size</a:t>
            </a:r>
            <a:endParaRPr/>
          </a:p>
        </p:txBody>
      </p:sp>
      <p:pic>
        <p:nvPicPr>
          <p:cNvPr descr="lrcoupled.png" id="316" name="Google Shape;316;p12"/>
          <p:cNvPicPr preferRelativeResize="0"/>
          <p:nvPr/>
        </p:nvPicPr>
        <p:blipFill rotWithShape="1">
          <a:blip r:embed="rId5">
            <a:alphaModFix/>
          </a:blip>
          <a:srcRect b="0" l="0" r="0" t="0"/>
          <a:stretch/>
        </p:blipFill>
        <p:spPr>
          <a:xfrm>
            <a:off x="6446520" y="4187952"/>
            <a:ext cx="4800600" cy="584232"/>
          </a:xfrm>
          <a:prstGeom prst="rect">
            <a:avLst/>
          </a:prstGeom>
          <a:noFill/>
          <a:ln>
            <a:noFill/>
          </a:ln>
        </p:spPr>
      </p:pic>
      <p:sp>
        <p:nvSpPr>
          <p:cNvPr id="317" name="Google Shape;317;p12"/>
          <p:cNvSpPr txBox="1"/>
          <p:nvPr/>
        </p:nvSpPr>
        <p:spPr>
          <a:xfrm>
            <a:off x="6419088" y="4864608"/>
            <a:ext cx="4700016" cy="38404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40">
                <a:solidFill>
                  <a:srgbClr val="5B6577"/>
                </a:solidFill>
                <a:latin typeface="Arial"/>
                <a:ea typeface="Arial"/>
                <a:cs typeface="Arial"/>
                <a:sym typeface="Arial"/>
              </a:rPr>
              <a:t>All prior decay events stay in dₜ; batch growth can still raise the base LR while preserving that decay history.</a:t>
            </a:r>
            <a:endParaRPr/>
          </a:p>
        </p:txBody>
      </p:sp>
      <p:sp>
        <p:nvSpPr>
          <p:cNvPr id="318" name="Google Shape;318;p12"/>
          <p:cNvSpPr/>
          <p:nvPr/>
        </p:nvSpPr>
        <p:spPr>
          <a:xfrm>
            <a:off x="868680" y="5925312"/>
            <a:ext cx="10424160" cy="402336"/>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9" name="Google Shape;319;p12"/>
          <p:cNvSpPr txBox="1"/>
          <p:nvPr/>
        </p:nvSpPr>
        <p:spPr>
          <a:xfrm>
            <a:off x="969264" y="6025896"/>
            <a:ext cx="1508760"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10">
                <a:solidFill>
                  <a:srgbClr val="D7792D"/>
                </a:solidFill>
                <a:latin typeface="Arial"/>
                <a:ea typeface="Arial"/>
                <a:cs typeface="Arial"/>
                <a:sym typeface="Arial"/>
              </a:rPr>
              <a:t>Validation feedback</a:t>
            </a:r>
            <a:endParaRPr/>
          </a:p>
        </p:txBody>
      </p:sp>
      <p:sp>
        <p:nvSpPr>
          <p:cNvPr id="320" name="Google Shape;320;p12"/>
          <p:cNvSpPr txBox="1"/>
          <p:nvPr/>
        </p:nvSpPr>
        <p:spPr>
          <a:xfrm>
            <a:off x="2496312" y="5998464"/>
            <a:ext cx="292608" cy="1828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100">
                <a:solidFill>
                  <a:srgbClr val="5B6577"/>
                </a:solidFill>
                <a:latin typeface="Arial"/>
                <a:ea typeface="Arial"/>
                <a:cs typeface="Arial"/>
                <a:sym typeface="Arial"/>
              </a:rPr>
              <a:t>→</a:t>
            </a:r>
            <a:endParaRPr/>
          </a:p>
        </p:txBody>
      </p:sp>
      <p:sp>
        <p:nvSpPr>
          <p:cNvPr id="321" name="Google Shape;321;p12"/>
          <p:cNvSpPr txBox="1"/>
          <p:nvPr/>
        </p:nvSpPr>
        <p:spPr>
          <a:xfrm>
            <a:off x="2907792" y="6025896"/>
            <a:ext cx="1508760"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10">
                <a:solidFill>
                  <a:srgbClr val="D7792D"/>
                </a:solidFill>
                <a:latin typeface="Arial"/>
                <a:ea typeface="Arial"/>
                <a:cs typeface="Arial"/>
                <a:sym typeface="Arial"/>
              </a:rPr>
              <a:t>update decay</a:t>
            </a:r>
            <a:endParaRPr/>
          </a:p>
        </p:txBody>
      </p:sp>
      <p:sp>
        <p:nvSpPr>
          <p:cNvPr id="322" name="Google Shape;322;p12"/>
          <p:cNvSpPr txBox="1"/>
          <p:nvPr/>
        </p:nvSpPr>
        <p:spPr>
          <a:xfrm>
            <a:off x="4434840" y="5998464"/>
            <a:ext cx="292608" cy="1828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100">
                <a:solidFill>
                  <a:srgbClr val="5B6577"/>
                </a:solidFill>
                <a:latin typeface="Arial"/>
                <a:ea typeface="Arial"/>
                <a:cs typeface="Arial"/>
                <a:sym typeface="Arial"/>
              </a:rPr>
              <a:t>→</a:t>
            </a:r>
            <a:endParaRPr/>
          </a:p>
        </p:txBody>
      </p:sp>
      <p:sp>
        <p:nvSpPr>
          <p:cNvPr id="323" name="Google Shape;323;p12"/>
          <p:cNvSpPr txBox="1"/>
          <p:nvPr/>
        </p:nvSpPr>
        <p:spPr>
          <a:xfrm>
            <a:off x="4645152" y="6025896"/>
            <a:ext cx="1508760"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10">
                <a:solidFill>
                  <a:srgbClr val="0F8B8D"/>
                </a:solidFill>
                <a:latin typeface="Arial"/>
                <a:ea typeface="Arial"/>
                <a:cs typeface="Arial"/>
                <a:sym typeface="Arial"/>
              </a:rPr>
              <a:t>select next batch</a:t>
            </a:r>
            <a:endParaRPr/>
          </a:p>
        </p:txBody>
      </p:sp>
      <p:sp>
        <p:nvSpPr>
          <p:cNvPr id="324" name="Google Shape;324;p12"/>
          <p:cNvSpPr txBox="1"/>
          <p:nvPr/>
        </p:nvSpPr>
        <p:spPr>
          <a:xfrm>
            <a:off x="6172200" y="5998464"/>
            <a:ext cx="292608" cy="1828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100">
                <a:solidFill>
                  <a:srgbClr val="5B6577"/>
                </a:solidFill>
                <a:latin typeface="Arial"/>
                <a:ea typeface="Arial"/>
                <a:cs typeface="Arial"/>
                <a:sym typeface="Arial"/>
              </a:rPr>
              <a:t>→</a:t>
            </a:r>
            <a:endParaRPr/>
          </a:p>
        </p:txBody>
      </p:sp>
      <p:sp>
        <p:nvSpPr>
          <p:cNvPr id="325" name="Google Shape;325;p12"/>
          <p:cNvSpPr txBox="1"/>
          <p:nvPr/>
        </p:nvSpPr>
        <p:spPr>
          <a:xfrm>
            <a:off x="6419088" y="6025896"/>
            <a:ext cx="1508760"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10">
                <a:solidFill>
                  <a:srgbClr val="8066A9"/>
                </a:solidFill>
                <a:latin typeface="Arial"/>
                <a:ea typeface="Arial"/>
                <a:cs typeface="Arial"/>
                <a:sym typeface="Arial"/>
              </a:rPr>
              <a:t>compute next LR</a:t>
            </a:r>
            <a:endParaRPr/>
          </a:p>
        </p:txBody>
      </p:sp>
      <p:sp>
        <p:nvSpPr>
          <p:cNvPr id="326" name="Google Shape;326;p12"/>
          <p:cNvSpPr txBox="1"/>
          <p:nvPr/>
        </p:nvSpPr>
        <p:spPr>
          <a:xfrm>
            <a:off x="7946136" y="5998464"/>
            <a:ext cx="292608" cy="1828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100">
                <a:solidFill>
                  <a:srgbClr val="5B6577"/>
                </a:solidFill>
                <a:latin typeface="Arial"/>
                <a:ea typeface="Arial"/>
                <a:cs typeface="Arial"/>
                <a:sym typeface="Arial"/>
              </a:rPr>
              <a:t>→</a:t>
            </a:r>
            <a:endParaRPr/>
          </a:p>
        </p:txBody>
      </p:sp>
      <p:sp>
        <p:nvSpPr>
          <p:cNvPr id="327" name="Google Shape;327;p12"/>
          <p:cNvSpPr txBox="1"/>
          <p:nvPr/>
        </p:nvSpPr>
        <p:spPr>
          <a:xfrm>
            <a:off x="8394192" y="6025896"/>
            <a:ext cx="1508760" cy="16459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810">
                <a:solidFill>
                  <a:srgbClr val="315A8A"/>
                </a:solidFill>
                <a:latin typeface="Arial"/>
                <a:ea typeface="Arial"/>
                <a:cs typeface="Arial"/>
                <a:sym typeface="Arial"/>
              </a:rPr>
              <a:t>train next epoch</a:t>
            </a:r>
            <a:endParaRPr/>
          </a:p>
        </p:txBody>
      </p:sp>
      <p:sp>
        <p:nvSpPr>
          <p:cNvPr id="328" name="Google Shape;328;p12"/>
          <p:cNvSpPr txBox="1"/>
          <p:nvPr/>
        </p:nvSpPr>
        <p:spPr>
          <a:xfrm>
            <a:off x="8924544" y="6199632"/>
            <a:ext cx="2176272" cy="16459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700">
                <a:solidFill>
                  <a:srgbClr val="B84B4B"/>
                </a:solidFill>
                <a:latin typeface="Arial"/>
                <a:ea typeface="Arial"/>
                <a:cs typeface="Arial"/>
                <a:sym typeface="Arial"/>
              </a:rPr>
              <a:t>E4 coupling: use next batch — not current batch — for the next LR.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3"/>
          <p:cNvSpPr txBox="1"/>
          <p:nvPr/>
        </p:nvSpPr>
        <p:spPr>
          <a:xfrm>
            <a:off x="566928" y="347472"/>
            <a:ext cx="10789920" cy="4114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2400">
                <a:solidFill>
                  <a:srgbClr val="172033"/>
                </a:solidFill>
                <a:latin typeface="Play"/>
                <a:ea typeface="Play"/>
                <a:cs typeface="Play"/>
                <a:sym typeface="Play"/>
              </a:rPr>
              <a:t>Adaptive controller logic — same rules, different trajectories</a:t>
            </a:r>
            <a:endParaRPr/>
          </a:p>
        </p:txBody>
      </p:sp>
      <p:sp>
        <p:nvSpPr>
          <p:cNvPr id="335" name="Google Shape;335;p13"/>
          <p:cNvSpPr txBox="1"/>
          <p:nvPr/>
        </p:nvSpPr>
        <p:spPr>
          <a:xfrm>
            <a:off x="585216" y="832104"/>
            <a:ext cx="10744200" cy="30175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1050">
                <a:solidFill>
                  <a:srgbClr val="5B6577"/>
                </a:solidFill>
                <a:latin typeface="Arial"/>
                <a:ea typeface="Arial"/>
                <a:cs typeface="Arial"/>
                <a:sym typeface="Arial"/>
              </a:rPr>
              <a:t>The control policy is held constant; the dataset determines when its triggers fire.</a:t>
            </a:r>
            <a:endParaRPr/>
          </a:p>
        </p:txBody>
      </p:sp>
      <p:sp>
        <p:nvSpPr>
          <p:cNvPr id="336" name="Google Shape;336;p13"/>
          <p:cNvSpPr/>
          <p:nvPr/>
        </p:nvSpPr>
        <p:spPr>
          <a:xfrm>
            <a:off x="585216" y="1225296"/>
            <a:ext cx="1417320" cy="256032"/>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7" name="Google Shape;337;p13"/>
          <p:cNvSpPr txBox="1"/>
          <p:nvPr/>
        </p:nvSpPr>
        <p:spPr>
          <a:xfrm>
            <a:off x="667512" y="1271016"/>
            <a:ext cx="1234440" cy="12801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760">
                <a:solidFill>
                  <a:srgbClr val="0F8B8D"/>
                </a:solidFill>
                <a:latin typeface="Arial"/>
                <a:ea typeface="Arial"/>
                <a:cs typeface="Arial"/>
                <a:sym typeface="Arial"/>
              </a:rPr>
              <a:t>METHOD</a:t>
            </a:r>
            <a:endParaRPr/>
          </a:p>
        </p:txBody>
      </p:sp>
      <p:sp>
        <p:nvSpPr>
          <p:cNvPr id="338" name="Google Shape;338;p13"/>
          <p:cNvSpPr txBox="1"/>
          <p:nvPr/>
        </p:nvSpPr>
        <p:spPr>
          <a:xfrm>
            <a:off x="11384280" y="6446520"/>
            <a:ext cx="320040" cy="1828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lang="en-US" sz="800">
                <a:solidFill>
                  <a:srgbClr val="5B6577"/>
                </a:solidFill>
                <a:latin typeface="Arial"/>
                <a:ea typeface="Arial"/>
                <a:cs typeface="Arial"/>
                <a:sym typeface="Arial"/>
              </a:rPr>
              <a:t>10</a:t>
            </a:r>
            <a:endParaRPr/>
          </a:p>
        </p:txBody>
      </p:sp>
      <p:sp>
        <p:nvSpPr>
          <p:cNvPr id="339" name="Google Shape;339;p13"/>
          <p:cNvSpPr/>
          <p:nvPr/>
        </p:nvSpPr>
        <p:spPr>
          <a:xfrm>
            <a:off x="6044184" y="1527048"/>
            <a:ext cx="18288" cy="4553712"/>
          </a:xfrm>
          <a:prstGeom prst="rect">
            <a:avLst/>
          </a:prstGeom>
          <a:solidFill>
            <a:srgbClr val="D8E0E8"/>
          </a:solidFill>
          <a:ln cap="flat" cmpd="sng" w="9525">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0" name="Google Shape;340;p13"/>
          <p:cNvSpPr/>
          <p:nvPr/>
        </p:nvSpPr>
        <p:spPr>
          <a:xfrm>
            <a:off x="576072" y="1572768"/>
            <a:ext cx="5230368" cy="475488"/>
          </a:xfrm>
          <a:prstGeom prst="roundRect">
            <a:avLst>
              <a:gd fmla="val 8000" name="adj"/>
            </a:avLst>
          </a:prstGeom>
          <a:solidFill>
            <a:srgbClr val="EEF4FA"/>
          </a:solidFill>
          <a:ln cap="flat" cmpd="sng" w="12700">
            <a:solidFill>
              <a:srgbClr val="EEF4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1" name="Google Shape;341;p13"/>
          <p:cNvSpPr/>
          <p:nvPr/>
        </p:nvSpPr>
        <p:spPr>
          <a:xfrm>
            <a:off x="6300216" y="1572768"/>
            <a:ext cx="5285232" cy="475488"/>
          </a:xfrm>
          <a:prstGeom prst="roundRect">
            <a:avLst>
              <a:gd fmla="val 8000" name="adj"/>
            </a:avLst>
          </a:prstGeom>
          <a:solidFill>
            <a:srgbClr val="FCF4EB"/>
          </a:solidFill>
          <a:ln cap="flat" cmpd="sng" w="12700">
            <a:solidFill>
              <a:srgbClr val="FCF4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2" name="Google Shape;342;p13"/>
          <p:cNvSpPr txBox="1"/>
          <p:nvPr/>
        </p:nvSpPr>
        <p:spPr>
          <a:xfrm>
            <a:off x="749808" y="1664208"/>
            <a:ext cx="164592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700">
                <a:solidFill>
                  <a:srgbClr val="315A8A"/>
                </a:solidFill>
                <a:latin typeface="Arial"/>
                <a:ea typeface="Arial"/>
                <a:cs typeface="Arial"/>
                <a:sym typeface="Arial"/>
              </a:rPr>
              <a:t>CIFAR-10</a:t>
            </a:r>
            <a:endParaRPr/>
          </a:p>
        </p:txBody>
      </p:sp>
      <p:sp>
        <p:nvSpPr>
          <p:cNvPr id="343" name="Google Shape;343;p13"/>
          <p:cNvSpPr txBox="1"/>
          <p:nvPr/>
        </p:nvSpPr>
        <p:spPr>
          <a:xfrm>
            <a:off x="2176272" y="1691640"/>
            <a:ext cx="3429000" cy="227755"/>
          </a:xfrm>
          <a:prstGeom prst="rect">
            <a:avLst/>
          </a:prstGeom>
          <a:noFill/>
          <a:ln>
            <a:noFill/>
          </a:ln>
        </p:spPr>
        <p:txBody>
          <a:bodyPr anchorCtr="0" anchor="t" bIns="36575" lIns="36575" spcFirstLastPara="1" rIns="36575" wrap="square" tIns="36575">
            <a:spAutoFit/>
          </a:bodyPr>
          <a:lstStyle/>
          <a:p>
            <a:pPr indent="0" lvl="0" marL="0" marR="0" rtl="0" algn="r">
              <a:spcBef>
                <a:spcPts val="0"/>
              </a:spcBef>
              <a:spcAft>
                <a:spcPts val="0"/>
              </a:spcAft>
              <a:buNone/>
            </a:pPr>
            <a:r>
              <a:rPr b="1" lang="en-US" sz="1000">
                <a:solidFill>
                  <a:srgbClr val="5B6577"/>
                </a:solidFill>
                <a:latin typeface="Arial"/>
                <a:ea typeface="Arial"/>
                <a:cs typeface="Arial"/>
                <a:sym typeface="Arial"/>
              </a:rPr>
              <a:t>80-epoch trajectory</a:t>
            </a:r>
            <a:endParaRPr/>
          </a:p>
        </p:txBody>
      </p:sp>
      <p:sp>
        <p:nvSpPr>
          <p:cNvPr id="344" name="Google Shape;344;p13"/>
          <p:cNvSpPr txBox="1"/>
          <p:nvPr/>
        </p:nvSpPr>
        <p:spPr>
          <a:xfrm>
            <a:off x="6473952" y="1664208"/>
            <a:ext cx="182880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700">
                <a:solidFill>
                  <a:srgbClr val="D7792D"/>
                </a:solidFill>
                <a:latin typeface="Arial"/>
                <a:ea typeface="Arial"/>
                <a:cs typeface="Arial"/>
                <a:sym typeface="Arial"/>
              </a:rPr>
              <a:t>CIFAR-100</a:t>
            </a:r>
            <a:endParaRPr/>
          </a:p>
        </p:txBody>
      </p:sp>
      <p:sp>
        <p:nvSpPr>
          <p:cNvPr id="345" name="Google Shape;345;p13"/>
          <p:cNvSpPr txBox="1"/>
          <p:nvPr/>
        </p:nvSpPr>
        <p:spPr>
          <a:xfrm>
            <a:off x="8275320" y="1691640"/>
            <a:ext cx="3054096" cy="227755"/>
          </a:xfrm>
          <a:prstGeom prst="rect">
            <a:avLst/>
          </a:prstGeom>
          <a:noFill/>
          <a:ln>
            <a:noFill/>
          </a:ln>
        </p:spPr>
        <p:txBody>
          <a:bodyPr anchorCtr="0" anchor="t" bIns="36575" lIns="36575" spcFirstLastPara="1" rIns="36575" wrap="square" tIns="36575">
            <a:spAutoFit/>
          </a:bodyPr>
          <a:lstStyle/>
          <a:p>
            <a:pPr indent="0" lvl="0" marL="0" marR="0" rtl="0" algn="r">
              <a:spcBef>
                <a:spcPts val="0"/>
              </a:spcBef>
              <a:spcAft>
                <a:spcPts val="0"/>
              </a:spcAft>
              <a:buNone/>
            </a:pPr>
            <a:r>
              <a:rPr b="1" lang="en-US" sz="1000">
                <a:solidFill>
                  <a:srgbClr val="5B6577"/>
                </a:solidFill>
                <a:latin typeface="Arial"/>
                <a:ea typeface="Arial"/>
                <a:cs typeface="Arial"/>
                <a:sym typeface="Arial"/>
              </a:rPr>
              <a:t>120-epoch trajectory</a:t>
            </a:r>
            <a:endParaRPr/>
          </a:p>
        </p:txBody>
      </p:sp>
      <p:sp>
        <p:nvSpPr>
          <p:cNvPr id="346" name="Google Shape;346;p13"/>
          <p:cNvSpPr/>
          <p:nvPr/>
        </p:nvSpPr>
        <p:spPr>
          <a:xfrm>
            <a:off x="713232" y="2249424"/>
            <a:ext cx="4800600" cy="1371600"/>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7" name="Google Shape;347;p13"/>
          <p:cNvSpPr txBox="1"/>
          <p:nvPr/>
        </p:nvSpPr>
        <p:spPr>
          <a:xfrm>
            <a:off x="859536" y="2386584"/>
            <a:ext cx="182880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172033"/>
                </a:solidFill>
                <a:latin typeface="Arial"/>
                <a:ea typeface="Arial"/>
                <a:cs typeface="Arial"/>
                <a:sym typeface="Arial"/>
              </a:rPr>
              <a:t>Batch controller</a:t>
            </a:r>
            <a:endParaRPr/>
          </a:p>
        </p:txBody>
      </p:sp>
      <p:sp>
        <p:nvSpPr>
          <p:cNvPr id="348" name="Google Shape;348;p13"/>
          <p:cNvSpPr txBox="1"/>
          <p:nvPr/>
        </p:nvSpPr>
        <p:spPr>
          <a:xfrm>
            <a:off x="859536" y="2688336"/>
            <a:ext cx="164592"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70">
                <a:solidFill>
                  <a:srgbClr val="315A8A"/>
                </a:solidFill>
                <a:latin typeface="Arial"/>
                <a:ea typeface="Arial"/>
                <a:cs typeface="Arial"/>
                <a:sym typeface="Arial"/>
              </a:rPr>
              <a:t>•</a:t>
            </a:r>
            <a:endParaRPr/>
          </a:p>
        </p:txBody>
      </p:sp>
      <p:sp>
        <p:nvSpPr>
          <p:cNvPr id="349" name="Google Shape;349;p13"/>
          <p:cNvSpPr txBox="1"/>
          <p:nvPr/>
        </p:nvSpPr>
        <p:spPr>
          <a:xfrm>
            <a:off x="1042416" y="2688336"/>
            <a:ext cx="4187952" cy="31089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3-epoch rolling mean of within-epoch gradient-norm CV</a:t>
            </a:r>
            <a:endParaRPr/>
          </a:p>
        </p:txBody>
      </p:sp>
      <p:sp>
        <p:nvSpPr>
          <p:cNvPr id="350" name="Google Shape;350;p13"/>
          <p:cNvSpPr txBox="1"/>
          <p:nvPr/>
        </p:nvSpPr>
        <p:spPr>
          <a:xfrm>
            <a:off x="859536" y="3017520"/>
            <a:ext cx="164592"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70">
                <a:solidFill>
                  <a:srgbClr val="315A8A"/>
                </a:solidFill>
                <a:latin typeface="Arial"/>
                <a:ea typeface="Arial"/>
                <a:cs typeface="Arial"/>
                <a:sym typeface="Arial"/>
              </a:rPr>
              <a:t>•</a:t>
            </a:r>
            <a:endParaRPr/>
          </a:p>
        </p:txBody>
      </p:sp>
      <p:sp>
        <p:nvSpPr>
          <p:cNvPr id="351" name="Google Shape;351;p13"/>
          <p:cNvSpPr txBox="1"/>
          <p:nvPr/>
        </p:nvSpPr>
        <p:spPr>
          <a:xfrm>
            <a:off x="1042416" y="3017520"/>
            <a:ext cx="4187952" cy="31089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Grow when validation plateaus and CV ≤ 0.25; cooldown = 2</a:t>
            </a:r>
            <a:endParaRPr/>
          </a:p>
        </p:txBody>
      </p:sp>
      <p:sp>
        <p:nvSpPr>
          <p:cNvPr id="352" name="Google Shape;352;p13"/>
          <p:cNvSpPr/>
          <p:nvPr/>
        </p:nvSpPr>
        <p:spPr>
          <a:xfrm>
            <a:off x="713232" y="3776472"/>
            <a:ext cx="4800600" cy="1353312"/>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3" name="Google Shape;353;p13"/>
          <p:cNvSpPr txBox="1"/>
          <p:nvPr/>
        </p:nvSpPr>
        <p:spPr>
          <a:xfrm>
            <a:off x="859536" y="3913632"/>
            <a:ext cx="219456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172033"/>
                </a:solidFill>
                <a:latin typeface="Arial"/>
                <a:ea typeface="Arial"/>
                <a:cs typeface="Arial"/>
                <a:sym typeface="Arial"/>
              </a:rPr>
              <a:t>Learning-rate controller</a:t>
            </a:r>
            <a:endParaRPr/>
          </a:p>
        </p:txBody>
      </p:sp>
      <p:sp>
        <p:nvSpPr>
          <p:cNvPr id="354" name="Google Shape;354;p13"/>
          <p:cNvSpPr txBox="1"/>
          <p:nvPr/>
        </p:nvSpPr>
        <p:spPr>
          <a:xfrm>
            <a:off x="859536" y="4224528"/>
            <a:ext cx="164592"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70">
                <a:solidFill>
                  <a:srgbClr val="315A8A"/>
                </a:solidFill>
                <a:latin typeface="Arial"/>
                <a:ea typeface="Arial"/>
                <a:cs typeface="Arial"/>
                <a:sym typeface="Arial"/>
              </a:rPr>
              <a:t>•</a:t>
            </a:r>
            <a:endParaRPr/>
          </a:p>
        </p:txBody>
      </p:sp>
      <p:sp>
        <p:nvSpPr>
          <p:cNvPr id="355" name="Google Shape;355;p13"/>
          <p:cNvSpPr txBox="1"/>
          <p:nvPr/>
        </p:nvSpPr>
        <p:spPr>
          <a:xfrm>
            <a:off x="1042416" y="4224528"/>
            <a:ext cx="4187952" cy="31089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LR base = 0.01 × (B/32)^0.2</a:t>
            </a:r>
            <a:endParaRPr/>
          </a:p>
        </p:txBody>
      </p:sp>
      <p:sp>
        <p:nvSpPr>
          <p:cNvPr id="356" name="Google Shape;356;p13"/>
          <p:cNvSpPr txBox="1"/>
          <p:nvPr/>
        </p:nvSpPr>
        <p:spPr>
          <a:xfrm>
            <a:off x="859536" y="4553712"/>
            <a:ext cx="164592"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70">
                <a:solidFill>
                  <a:srgbClr val="315A8A"/>
                </a:solidFill>
                <a:latin typeface="Arial"/>
                <a:ea typeface="Arial"/>
                <a:cs typeface="Arial"/>
                <a:sym typeface="Arial"/>
              </a:rPr>
              <a:t>•</a:t>
            </a:r>
            <a:endParaRPr/>
          </a:p>
        </p:txBody>
      </p:sp>
      <p:sp>
        <p:nvSpPr>
          <p:cNvPr id="357" name="Google Shape;357;p13"/>
          <p:cNvSpPr txBox="1"/>
          <p:nvPr/>
        </p:nvSpPr>
        <p:spPr>
          <a:xfrm>
            <a:off x="1042416" y="4553712"/>
            <a:ext cx="4187952" cy="31089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After plateau/worsening patience triggers: decay multiplier × 0.5</a:t>
            </a:r>
            <a:endParaRPr/>
          </a:p>
        </p:txBody>
      </p:sp>
      <p:sp>
        <p:nvSpPr>
          <p:cNvPr id="358" name="Google Shape;358;p13"/>
          <p:cNvSpPr/>
          <p:nvPr/>
        </p:nvSpPr>
        <p:spPr>
          <a:xfrm>
            <a:off x="6428232" y="2249424"/>
            <a:ext cx="4800600" cy="1371600"/>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9" name="Google Shape;359;p13"/>
          <p:cNvSpPr txBox="1"/>
          <p:nvPr/>
        </p:nvSpPr>
        <p:spPr>
          <a:xfrm>
            <a:off x="6574536" y="2386584"/>
            <a:ext cx="182880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172033"/>
                </a:solidFill>
                <a:latin typeface="Arial"/>
                <a:ea typeface="Arial"/>
                <a:cs typeface="Arial"/>
                <a:sym typeface="Arial"/>
              </a:rPr>
              <a:t>Batch controller</a:t>
            </a:r>
            <a:endParaRPr/>
          </a:p>
        </p:txBody>
      </p:sp>
      <p:sp>
        <p:nvSpPr>
          <p:cNvPr id="360" name="Google Shape;360;p13"/>
          <p:cNvSpPr txBox="1"/>
          <p:nvPr/>
        </p:nvSpPr>
        <p:spPr>
          <a:xfrm>
            <a:off x="6574536" y="2688336"/>
            <a:ext cx="164592"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70">
                <a:solidFill>
                  <a:srgbClr val="D7792D"/>
                </a:solidFill>
                <a:latin typeface="Arial"/>
                <a:ea typeface="Arial"/>
                <a:cs typeface="Arial"/>
                <a:sym typeface="Arial"/>
              </a:rPr>
              <a:t>•</a:t>
            </a:r>
            <a:endParaRPr/>
          </a:p>
        </p:txBody>
      </p:sp>
      <p:sp>
        <p:nvSpPr>
          <p:cNvPr id="361" name="Google Shape;361;p13"/>
          <p:cNvSpPr txBox="1"/>
          <p:nvPr/>
        </p:nvSpPr>
        <p:spPr>
          <a:xfrm>
            <a:off x="6757416" y="2688336"/>
            <a:ext cx="4187952" cy="31089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3-epoch rolling mean of within-epoch gradient-norm CV</a:t>
            </a:r>
            <a:endParaRPr/>
          </a:p>
        </p:txBody>
      </p:sp>
      <p:sp>
        <p:nvSpPr>
          <p:cNvPr id="362" name="Google Shape;362;p13"/>
          <p:cNvSpPr txBox="1"/>
          <p:nvPr/>
        </p:nvSpPr>
        <p:spPr>
          <a:xfrm>
            <a:off x="6574536" y="3017520"/>
            <a:ext cx="164592"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70">
                <a:solidFill>
                  <a:srgbClr val="D7792D"/>
                </a:solidFill>
                <a:latin typeface="Arial"/>
                <a:ea typeface="Arial"/>
                <a:cs typeface="Arial"/>
                <a:sym typeface="Arial"/>
              </a:rPr>
              <a:t>•</a:t>
            </a:r>
            <a:endParaRPr/>
          </a:p>
        </p:txBody>
      </p:sp>
      <p:sp>
        <p:nvSpPr>
          <p:cNvPr id="363" name="Google Shape;363;p13"/>
          <p:cNvSpPr txBox="1"/>
          <p:nvPr/>
        </p:nvSpPr>
        <p:spPr>
          <a:xfrm>
            <a:off x="6757416" y="3017520"/>
            <a:ext cx="4187952" cy="31089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Grow when validation plateaus and CV ≤ 0.25; cooldown = 2</a:t>
            </a:r>
            <a:endParaRPr/>
          </a:p>
        </p:txBody>
      </p:sp>
      <p:sp>
        <p:nvSpPr>
          <p:cNvPr id="364" name="Google Shape;364;p13"/>
          <p:cNvSpPr/>
          <p:nvPr/>
        </p:nvSpPr>
        <p:spPr>
          <a:xfrm>
            <a:off x="6428232" y="3776472"/>
            <a:ext cx="4800600" cy="1353312"/>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5" name="Google Shape;365;p13"/>
          <p:cNvSpPr txBox="1"/>
          <p:nvPr/>
        </p:nvSpPr>
        <p:spPr>
          <a:xfrm>
            <a:off x="6574536" y="3913632"/>
            <a:ext cx="219456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00">
                <a:solidFill>
                  <a:srgbClr val="172033"/>
                </a:solidFill>
                <a:latin typeface="Arial"/>
                <a:ea typeface="Arial"/>
                <a:cs typeface="Arial"/>
                <a:sym typeface="Arial"/>
              </a:rPr>
              <a:t>Learning-rate controller</a:t>
            </a:r>
            <a:endParaRPr/>
          </a:p>
        </p:txBody>
      </p:sp>
      <p:sp>
        <p:nvSpPr>
          <p:cNvPr id="366" name="Google Shape;366;p13"/>
          <p:cNvSpPr txBox="1"/>
          <p:nvPr/>
        </p:nvSpPr>
        <p:spPr>
          <a:xfrm>
            <a:off x="6574536" y="4224528"/>
            <a:ext cx="164592"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70">
                <a:solidFill>
                  <a:srgbClr val="D7792D"/>
                </a:solidFill>
                <a:latin typeface="Arial"/>
                <a:ea typeface="Arial"/>
                <a:cs typeface="Arial"/>
                <a:sym typeface="Arial"/>
              </a:rPr>
              <a:t>•</a:t>
            </a:r>
            <a:endParaRPr/>
          </a:p>
        </p:txBody>
      </p:sp>
      <p:sp>
        <p:nvSpPr>
          <p:cNvPr id="367" name="Google Shape;367;p13"/>
          <p:cNvSpPr txBox="1"/>
          <p:nvPr/>
        </p:nvSpPr>
        <p:spPr>
          <a:xfrm>
            <a:off x="6757416" y="4224528"/>
            <a:ext cx="4187952" cy="31089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LR base = 0.01 × (B/32)^0.2</a:t>
            </a:r>
            <a:endParaRPr/>
          </a:p>
        </p:txBody>
      </p:sp>
      <p:sp>
        <p:nvSpPr>
          <p:cNvPr id="368" name="Google Shape;368;p13"/>
          <p:cNvSpPr txBox="1"/>
          <p:nvPr/>
        </p:nvSpPr>
        <p:spPr>
          <a:xfrm>
            <a:off x="6574536" y="4553712"/>
            <a:ext cx="164592"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170">
                <a:solidFill>
                  <a:srgbClr val="D7792D"/>
                </a:solidFill>
                <a:latin typeface="Arial"/>
                <a:ea typeface="Arial"/>
                <a:cs typeface="Arial"/>
                <a:sym typeface="Arial"/>
              </a:rPr>
              <a:t>•</a:t>
            </a:r>
            <a:endParaRPr/>
          </a:p>
        </p:txBody>
      </p:sp>
      <p:sp>
        <p:nvSpPr>
          <p:cNvPr id="369" name="Google Shape;369;p13"/>
          <p:cNvSpPr txBox="1"/>
          <p:nvPr/>
        </p:nvSpPr>
        <p:spPr>
          <a:xfrm>
            <a:off x="6757416" y="4553712"/>
            <a:ext cx="4187952" cy="31089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69">
                <a:solidFill>
                  <a:srgbClr val="172033"/>
                </a:solidFill>
                <a:latin typeface="Arial"/>
                <a:ea typeface="Arial"/>
                <a:cs typeface="Arial"/>
                <a:sym typeface="Arial"/>
              </a:rPr>
              <a:t>After plateau/worsening patience triggers: decay multiplier × 0.5</a:t>
            </a:r>
            <a:endParaRPr/>
          </a:p>
        </p:txBody>
      </p:sp>
      <p:sp>
        <p:nvSpPr>
          <p:cNvPr id="370" name="Google Shape;370;p13"/>
          <p:cNvSpPr txBox="1"/>
          <p:nvPr/>
        </p:nvSpPr>
        <p:spPr>
          <a:xfrm>
            <a:off x="868680" y="5321808"/>
            <a:ext cx="1051560" cy="17373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00">
                <a:solidFill>
                  <a:srgbClr val="315A8A"/>
                </a:solidFill>
                <a:latin typeface="Arial"/>
                <a:ea typeface="Arial"/>
                <a:cs typeface="Arial"/>
                <a:sym typeface="Arial"/>
              </a:rPr>
              <a:t>Observed E4</a:t>
            </a:r>
            <a:endParaRPr/>
          </a:p>
        </p:txBody>
      </p:sp>
      <p:sp>
        <p:nvSpPr>
          <p:cNvPr id="371" name="Google Shape;371;p13"/>
          <p:cNvSpPr txBox="1"/>
          <p:nvPr/>
        </p:nvSpPr>
        <p:spPr>
          <a:xfrm>
            <a:off x="1828800" y="5285232"/>
            <a:ext cx="3474720" cy="43891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919">
                <a:solidFill>
                  <a:srgbClr val="172033"/>
                </a:solidFill>
                <a:latin typeface="Arial"/>
                <a:ea typeface="Arial"/>
                <a:cs typeface="Arial"/>
                <a:sym typeface="Arial"/>
              </a:rPr>
              <a:t>B: 32 → 64 → 128 → 256</a:t>
            </a:r>
            <a:br>
              <a:rPr b="1" lang="en-US" sz="919">
                <a:solidFill>
                  <a:srgbClr val="172033"/>
                </a:solidFill>
                <a:latin typeface="Arial"/>
                <a:ea typeface="Arial"/>
                <a:cs typeface="Arial"/>
                <a:sym typeface="Arial"/>
              </a:rPr>
            </a:br>
            <a:r>
              <a:rPr b="1" lang="en-US" sz="919">
                <a:solidFill>
                  <a:srgbClr val="172033"/>
                </a:solidFill>
                <a:latin typeface="Arial"/>
                <a:ea typeface="Arial"/>
                <a:cs typeface="Arial"/>
                <a:sym typeface="Arial"/>
              </a:rPr>
              <a:t>first growth after epoch 37</a:t>
            </a:r>
            <a:endParaRPr/>
          </a:p>
        </p:txBody>
      </p:sp>
      <p:sp>
        <p:nvSpPr>
          <p:cNvPr id="372" name="Google Shape;372;p13"/>
          <p:cNvSpPr txBox="1"/>
          <p:nvPr/>
        </p:nvSpPr>
        <p:spPr>
          <a:xfrm>
            <a:off x="6583680" y="5321808"/>
            <a:ext cx="1051560" cy="17373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00">
                <a:solidFill>
                  <a:srgbClr val="D7792D"/>
                </a:solidFill>
                <a:latin typeface="Arial"/>
                <a:ea typeface="Arial"/>
                <a:cs typeface="Arial"/>
                <a:sym typeface="Arial"/>
              </a:rPr>
              <a:t>Observed E4</a:t>
            </a:r>
            <a:endParaRPr/>
          </a:p>
        </p:txBody>
      </p:sp>
      <p:sp>
        <p:nvSpPr>
          <p:cNvPr id="373" name="Google Shape;373;p13"/>
          <p:cNvSpPr txBox="1"/>
          <p:nvPr/>
        </p:nvSpPr>
        <p:spPr>
          <a:xfrm>
            <a:off x="7543800" y="5285232"/>
            <a:ext cx="3474720" cy="43891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919">
                <a:solidFill>
                  <a:srgbClr val="172033"/>
                </a:solidFill>
                <a:latin typeface="Arial"/>
                <a:ea typeface="Arial"/>
                <a:cs typeface="Arial"/>
                <a:sym typeface="Arial"/>
              </a:rPr>
              <a:t>B: 32 → 64 → 128 → 256</a:t>
            </a:r>
            <a:br>
              <a:rPr b="1" lang="en-US" sz="919">
                <a:solidFill>
                  <a:srgbClr val="172033"/>
                </a:solidFill>
                <a:latin typeface="Arial"/>
                <a:ea typeface="Arial"/>
                <a:cs typeface="Arial"/>
                <a:sym typeface="Arial"/>
              </a:rPr>
            </a:br>
            <a:r>
              <a:rPr b="1" lang="en-US" sz="919">
                <a:solidFill>
                  <a:srgbClr val="172033"/>
                </a:solidFill>
                <a:latin typeface="Arial"/>
                <a:ea typeface="Arial"/>
                <a:cs typeface="Arial"/>
                <a:sym typeface="Arial"/>
              </a:rPr>
              <a:t>first growth after epoch 27</a:t>
            </a:r>
            <a:endParaRPr/>
          </a:p>
        </p:txBody>
      </p:sp>
      <p:sp>
        <p:nvSpPr>
          <p:cNvPr id="374" name="Google Shape;374;p13"/>
          <p:cNvSpPr/>
          <p:nvPr/>
        </p:nvSpPr>
        <p:spPr>
          <a:xfrm>
            <a:off x="740664" y="5806440"/>
            <a:ext cx="10625328" cy="274320"/>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5" name="Google Shape;375;p13"/>
          <p:cNvSpPr txBox="1"/>
          <p:nvPr/>
        </p:nvSpPr>
        <p:spPr>
          <a:xfrm>
            <a:off x="960120" y="5861304"/>
            <a:ext cx="10195560" cy="146304"/>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840">
                <a:solidFill>
                  <a:srgbClr val="0F8B8D"/>
                </a:solidFill>
                <a:latin typeface="Arial"/>
                <a:ea typeface="Arial"/>
                <a:cs typeface="Arial"/>
                <a:sym typeface="Arial"/>
              </a:rPr>
              <a:t>E4 coupling is identical on both datasets: choose B_next first, then compute the LR using that next batch size.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14"/>
          <p:cNvSpPr txBox="1"/>
          <p:nvPr/>
        </p:nvSpPr>
        <p:spPr>
          <a:xfrm>
            <a:off x="566928" y="347472"/>
            <a:ext cx="10789920" cy="4114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2400">
                <a:solidFill>
                  <a:srgbClr val="172033"/>
                </a:solidFill>
                <a:latin typeface="Play"/>
                <a:ea typeface="Play"/>
                <a:cs typeface="Play"/>
                <a:sym typeface="Play"/>
              </a:rPr>
              <a:t>Validation-selected results — side-by-side</a:t>
            </a:r>
            <a:endParaRPr/>
          </a:p>
        </p:txBody>
      </p:sp>
      <p:sp>
        <p:nvSpPr>
          <p:cNvPr id="382" name="Google Shape;382;p14"/>
          <p:cNvSpPr txBox="1"/>
          <p:nvPr/>
        </p:nvSpPr>
        <p:spPr>
          <a:xfrm>
            <a:off x="585216" y="832104"/>
            <a:ext cx="10744200" cy="30175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1050">
                <a:solidFill>
                  <a:srgbClr val="5B6577"/>
                </a:solidFill>
                <a:latin typeface="Arial"/>
                <a:ea typeface="Arial"/>
                <a:cs typeface="Arial"/>
                <a:sym typeface="Arial"/>
              </a:rPr>
              <a:t>Both suites use the same E1–E4 definitions; best checkpoint = lowest validation loss.</a:t>
            </a:r>
            <a:endParaRPr/>
          </a:p>
        </p:txBody>
      </p:sp>
      <p:sp>
        <p:nvSpPr>
          <p:cNvPr id="383" name="Google Shape;383;p14"/>
          <p:cNvSpPr/>
          <p:nvPr/>
        </p:nvSpPr>
        <p:spPr>
          <a:xfrm>
            <a:off x="585216" y="1225296"/>
            <a:ext cx="1417320" cy="256032"/>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4" name="Google Shape;384;p14"/>
          <p:cNvSpPr txBox="1"/>
          <p:nvPr/>
        </p:nvSpPr>
        <p:spPr>
          <a:xfrm>
            <a:off x="667512" y="1271016"/>
            <a:ext cx="1234440" cy="12801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760">
                <a:solidFill>
                  <a:srgbClr val="0F8B8D"/>
                </a:solidFill>
                <a:latin typeface="Arial"/>
                <a:ea typeface="Arial"/>
                <a:cs typeface="Arial"/>
                <a:sym typeface="Arial"/>
              </a:rPr>
              <a:t>RESULTS</a:t>
            </a:r>
            <a:endParaRPr/>
          </a:p>
        </p:txBody>
      </p:sp>
      <p:sp>
        <p:nvSpPr>
          <p:cNvPr id="385" name="Google Shape;385;p14"/>
          <p:cNvSpPr txBox="1"/>
          <p:nvPr/>
        </p:nvSpPr>
        <p:spPr>
          <a:xfrm>
            <a:off x="11384280" y="6446520"/>
            <a:ext cx="320040" cy="1828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lang="en-US" sz="800">
                <a:solidFill>
                  <a:srgbClr val="5B6577"/>
                </a:solidFill>
                <a:latin typeface="Arial"/>
                <a:ea typeface="Arial"/>
                <a:cs typeface="Arial"/>
                <a:sym typeface="Arial"/>
              </a:rPr>
              <a:t>11</a:t>
            </a:r>
            <a:endParaRPr/>
          </a:p>
        </p:txBody>
      </p:sp>
      <p:sp>
        <p:nvSpPr>
          <p:cNvPr id="386" name="Google Shape;386;p14"/>
          <p:cNvSpPr/>
          <p:nvPr/>
        </p:nvSpPr>
        <p:spPr>
          <a:xfrm>
            <a:off x="6044184" y="1527048"/>
            <a:ext cx="18288" cy="4553712"/>
          </a:xfrm>
          <a:prstGeom prst="rect">
            <a:avLst/>
          </a:prstGeom>
          <a:solidFill>
            <a:srgbClr val="D8E0E8"/>
          </a:solidFill>
          <a:ln cap="flat" cmpd="sng" w="9525">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7" name="Google Shape;387;p14"/>
          <p:cNvSpPr/>
          <p:nvPr/>
        </p:nvSpPr>
        <p:spPr>
          <a:xfrm>
            <a:off x="576072" y="1572768"/>
            <a:ext cx="5230368" cy="475488"/>
          </a:xfrm>
          <a:prstGeom prst="roundRect">
            <a:avLst>
              <a:gd fmla="val 8000" name="adj"/>
            </a:avLst>
          </a:prstGeom>
          <a:solidFill>
            <a:srgbClr val="EEF4FA"/>
          </a:solidFill>
          <a:ln cap="flat" cmpd="sng" w="12700">
            <a:solidFill>
              <a:srgbClr val="EEF4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8" name="Google Shape;388;p14"/>
          <p:cNvSpPr/>
          <p:nvPr/>
        </p:nvSpPr>
        <p:spPr>
          <a:xfrm>
            <a:off x="6300216" y="1572768"/>
            <a:ext cx="5285232" cy="475488"/>
          </a:xfrm>
          <a:prstGeom prst="roundRect">
            <a:avLst>
              <a:gd fmla="val 8000" name="adj"/>
            </a:avLst>
          </a:prstGeom>
          <a:solidFill>
            <a:srgbClr val="FCF4EB"/>
          </a:solidFill>
          <a:ln cap="flat" cmpd="sng" w="12700">
            <a:solidFill>
              <a:srgbClr val="FCF4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9" name="Google Shape;389;p14"/>
          <p:cNvSpPr txBox="1"/>
          <p:nvPr/>
        </p:nvSpPr>
        <p:spPr>
          <a:xfrm>
            <a:off x="749808" y="1664208"/>
            <a:ext cx="164592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700">
                <a:solidFill>
                  <a:srgbClr val="315A8A"/>
                </a:solidFill>
                <a:latin typeface="Arial"/>
                <a:ea typeface="Arial"/>
                <a:cs typeface="Arial"/>
                <a:sym typeface="Arial"/>
              </a:rPr>
              <a:t>CIFAR-10</a:t>
            </a:r>
            <a:endParaRPr/>
          </a:p>
        </p:txBody>
      </p:sp>
      <p:sp>
        <p:nvSpPr>
          <p:cNvPr id="390" name="Google Shape;390;p14"/>
          <p:cNvSpPr txBox="1"/>
          <p:nvPr/>
        </p:nvSpPr>
        <p:spPr>
          <a:xfrm>
            <a:off x="2176272" y="1691640"/>
            <a:ext cx="3429000" cy="164592"/>
          </a:xfrm>
          <a:prstGeom prst="rect">
            <a:avLst/>
          </a:prstGeom>
          <a:noFill/>
          <a:ln>
            <a:noFill/>
          </a:ln>
        </p:spPr>
        <p:txBody>
          <a:bodyPr anchorCtr="0" anchor="t" bIns="36575" lIns="36575" spcFirstLastPara="1" rIns="36575" wrap="square" tIns="36575">
            <a:spAutoFit/>
          </a:bodyPr>
          <a:lstStyle/>
          <a:p>
            <a:pPr indent="0" lvl="0" marL="0" marR="0" rtl="0" algn="r">
              <a:spcBef>
                <a:spcPts val="0"/>
              </a:spcBef>
              <a:spcAft>
                <a:spcPts val="0"/>
              </a:spcAft>
              <a:buNone/>
            </a:pPr>
            <a:r>
              <a:rPr b="0" lang="en-US" sz="869">
                <a:solidFill>
                  <a:srgbClr val="5B6577"/>
                </a:solidFill>
                <a:latin typeface="Arial"/>
                <a:ea typeface="Arial"/>
                <a:cs typeface="Arial"/>
                <a:sym typeface="Arial"/>
              </a:rPr>
              <a:t>80 epochs</a:t>
            </a:r>
            <a:endParaRPr/>
          </a:p>
        </p:txBody>
      </p:sp>
      <p:sp>
        <p:nvSpPr>
          <p:cNvPr id="391" name="Google Shape;391;p14"/>
          <p:cNvSpPr txBox="1"/>
          <p:nvPr/>
        </p:nvSpPr>
        <p:spPr>
          <a:xfrm>
            <a:off x="6473952" y="1664208"/>
            <a:ext cx="182880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700">
                <a:solidFill>
                  <a:srgbClr val="D7792D"/>
                </a:solidFill>
                <a:latin typeface="Arial"/>
                <a:ea typeface="Arial"/>
                <a:cs typeface="Arial"/>
                <a:sym typeface="Arial"/>
              </a:rPr>
              <a:t>CIFAR-100</a:t>
            </a:r>
            <a:endParaRPr/>
          </a:p>
        </p:txBody>
      </p:sp>
      <p:sp>
        <p:nvSpPr>
          <p:cNvPr id="392" name="Google Shape;392;p14"/>
          <p:cNvSpPr txBox="1"/>
          <p:nvPr/>
        </p:nvSpPr>
        <p:spPr>
          <a:xfrm>
            <a:off x="8275320" y="1691640"/>
            <a:ext cx="3054096" cy="164592"/>
          </a:xfrm>
          <a:prstGeom prst="rect">
            <a:avLst/>
          </a:prstGeom>
          <a:noFill/>
          <a:ln>
            <a:noFill/>
          </a:ln>
        </p:spPr>
        <p:txBody>
          <a:bodyPr anchorCtr="0" anchor="t" bIns="36575" lIns="36575" spcFirstLastPara="1" rIns="36575" wrap="square" tIns="36575">
            <a:spAutoFit/>
          </a:bodyPr>
          <a:lstStyle/>
          <a:p>
            <a:pPr indent="0" lvl="0" marL="0" marR="0" rtl="0" algn="r">
              <a:spcBef>
                <a:spcPts val="0"/>
              </a:spcBef>
              <a:spcAft>
                <a:spcPts val="0"/>
              </a:spcAft>
              <a:buNone/>
            </a:pPr>
            <a:r>
              <a:rPr b="0" lang="en-US" sz="869">
                <a:solidFill>
                  <a:srgbClr val="5B6577"/>
                </a:solidFill>
                <a:latin typeface="Arial"/>
                <a:ea typeface="Arial"/>
                <a:cs typeface="Arial"/>
                <a:sym typeface="Arial"/>
              </a:rPr>
              <a:t>120 epochs</a:t>
            </a:r>
            <a:endParaRPr/>
          </a:p>
        </p:txBody>
      </p:sp>
      <p:sp>
        <p:nvSpPr>
          <p:cNvPr id="393" name="Google Shape;393;p14"/>
          <p:cNvSpPr/>
          <p:nvPr/>
        </p:nvSpPr>
        <p:spPr>
          <a:xfrm>
            <a:off x="841248" y="3886200"/>
            <a:ext cx="4526280" cy="18288"/>
          </a:xfrm>
          <a:prstGeom prst="rect">
            <a:avLst/>
          </a:prstGeom>
          <a:solidFill>
            <a:srgbClr val="D8E0E8"/>
          </a:solidFill>
          <a:ln cap="flat" cmpd="sng" w="9525">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4" name="Google Shape;394;p14"/>
          <p:cNvSpPr/>
          <p:nvPr/>
        </p:nvSpPr>
        <p:spPr>
          <a:xfrm>
            <a:off x="841248" y="2791520"/>
            <a:ext cx="1049274" cy="1094679"/>
          </a:xfrm>
          <a:prstGeom prst="rect">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5" name="Google Shape;395;p14"/>
          <p:cNvSpPr txBox="1"/>
          <p:nvPr/>
        </p:nvSpPr>
        <p:spPr>
          <a:xfrm>
            <a:off x="822960" y="2553776"/>
            <a:ext cx="108585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82.88%</a:t>
            </a:r>
            <a:endParaRPr/>
          </a:p>
        </p:txBody>
      </p:sp>
      <p:sp>
        <p:nvSpPr>
          <p:cNvPr id="396" name="Google Shape;396;p14"/>
          <p:cNvSpPr txBox="1"/>
          <p:nvPr/>
        </p:nvSpPr>
        <p:spPr>
          <a:xfrm>
            <a:off x="841248" y="3950207"/>
            <a:ext cx="104927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E1</a:t>
            </a:r>
            <a:endParaRPr/>
          </a:p>
        </p:txBody>
      </p:sp>
      <p:sp>
        <p:nvSpPr>
          <p:cNvPr id="397" name="Google Shape;397;p14"/>
          <p:cNvSpPr/>
          <p:nvPr/>
        </p:nvSpPr>
        <p:spPr>
          <a:xfrm>
            <a:off x="2000250" y="2763255"/>
            <a:ext cx="1049274" cy="1122944"/>
          </a:xfrm>
          <a:prstGeom prst="rect">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8" name="Google Shape;398;p14"/>
          <p:cNvSpPr txBox="1"/>
          <p:nvPr/>
        </p:nvSpPr>
        <p:spPr>
          <a:xfrm>
            <a:off x="1981962" y="2525511"/>
            <a:ext cx="108585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85.02%</a:t>
            </a:r>
            <a:endParaRPr/>
          </a:p>
        </p:txBody>
      </p:sp>
      <p:sp>
        <p:nvSpPr>
          <p:cNvPr id="399" name="Google Shape;399;p14"/>
          <p:cNvSpPr txBox="1"/>
          <p:nvPr/>
        </p:nvSpPr>
        <p:spPr>
          <a:xfrm>
            <a:off x="2000250" y="3950207"/>
            <a:ext cx="104927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E2</a:t>
            </a:r>
            <a:endParaRPr/>
          </a:p>
        </p:txBody>
      </p:sp>
      <p:sp>
        <p:nvSpPr>
          <p:cNvPr id="400" name="Google Shape;400;p14"/>
          <p:cNvSpPr/>
          <p:nvPr/>
        </p:nvSpPr>
        <p:spPr>
          <a:xfrm>
            <a:off x="3159252" y="2745821"/>
            <a:ext cx="1049274" cy="1140378"/>
          </a:xfrm>
          <a:prstGeom prst="rect">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1" name="Google Shape;401;p14"/>
          <p:cNvSpPr txBox="1"/>
          <p:nvPr/>
        </p:nvSpPr>
        <p:spPr>
          <a:xfrm>
            <a:off x="3140964" y="2508077"/>
            <a:ext cx="108585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86.34%</a:t>
            </a:r>
            <a:endParaRPr/>
          </a:p>
        </p:txBody>
      </p:sp>
      <p:sp>
        <p:nvSpPr>
          <p:cNvPr id="402" name="Google Shape;402;p14"/>
          <p:cNvSpPr txBox="1"/>
          <p:nvPr/>
        </p:nvSpPr>
        <p:spPr>
          <a:xfrm>
            <a:off x="3159252" y="3950207"/>
            <a:ext cx="104927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E3</a:t>
            </a:r>
            <a:endParaRPr/>
          </a:p>
        </p:txBody>
      </p:sp>
      <p:sp>
        <p:nvSpPr>
          <p:cNvPr id="403" name="Google Shape;403;p14"/>
          <p:cNvSpPr/>
          <p:nvPr/>
        </p:nvSpPr>
        <p:spPr>
          <a:xfrm>
            <a:off x="4318254" y="2777256"/>
            <a:ext cx="1049274" cy="1108943"/>
          </a:xfrm>
          <a:prstGeom prst="rect">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4" name="Google Shape;404;p14"/>
          <p:cNvSpPr txBox="1"/>
          <p:nvPr/>
        </p:nvSpPr>
        <p:spPr>
          <a:xfrm>
            <a:off x="4299966" y="2539512"/>
            <a:ext cx="108585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83.96%</a:t>
            </a:r>
            <a:endParaRPr/>
          </a:p>
        </p:txBody>
      </p:sp>
      <p:sp>
        <p:nvSpPr>
          <p:cNvPr id="405" name="Google Shape;405;p14"/>
          <p:cNvSpPr txBox="1"/>
          <p:nvPr/>
        </p:nvSpPr>
        <p:spPr>
          <a:xfrm>
            <a:off x="4318254" y="3950207"/>
            <a:ext cx="104927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E4</a:t>
            </a:r>
            <a:endParaRPr/>
          </a:p>
        </p:txBody>
      </p:sp>
      <p:sp>
        <p:nvSpPr>
          <p:cNvPr id="406" name="Google Shape;406;p14"/>
          <p:cNvSpPr/>
          <p:nvPr/>
        </p:nvSpPr>
        <p:spPr>
          <a:xfrm>
            <a:off x="6547104" y="3886200"/>
            <a:ext cx="4526280" cy="18288"/>
          </a:xfrm>
          <a:prstGeom prst="rect">
            <a:avLst/>
          </a:prstGeom>
          <a:solidFill>
            <a:srgbClr val="D8E0E8"/>
          </a:solidFill>
          <a:ln cap="flat" cmpd="sng" w="9525">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7" name="Google Shape;407;p14"/>
          <p:cNvSpPr/>
          <p:nvPr/>
        </p:nvSpPr>
        <p:spPr>
          <a:xfrm>
            <a:off x="6547104" y="2877146"/>
            <a:ext cx="1049274" cy="1009053"/>
          </a:xfrm>
          <a:prstGeom prst="rect">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8" name="Google Shape;408;p14"/>
          <p:cNvSpPr txBox="1"/>
          <p:nvPr/>
        </p:nvSpPr>
        <p:spPr>
          <a:xfrm>
            <a:off x="6528816" y="2639402"/>
            <a:ext cx="108585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59.42%</a:t>
            </a:r>
            <a:endParaRPr/>
          </a:p>
        </p:txBody>
      </p:sp>
      <p:sp>
        <p:nvSpPr>
          <p:cNvPr id="409" name="Google Shape;409;p14"/>
          <p:cNvSpPr txBox="1"/>
          <p:nvPr/>
        </p:nvSpPr>
        <p:spPr>
          <a:xfrm>
            <a:off x="6547104" y="3950207"/>
            <a:ext cx="104927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E1</a:t>
            </a:r>
            <a:endParaRPr/>
          </a:p>
        </p:txBody>
      </p:sp>
      <p:sp>
        <p:nvSpPr>
          <p:cNvPr id="410" name="Google Shape;410;p14"/>
          <p:cNvSpPr/>
          <p:nvPr/>
        </p:nvSpPr>
        <p:spPr>
          <a:xfrm>
            <a:off x="7706106" y="2785105"/>
            <a:ext cx="1049274" cy="1101094"/>
          </a:xfrm>
          <a:prstGeom prst="rect">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1" name="Google Shape;411;p14"/>
          <p:cNvSpPr txBox="1"/>
          <p:nvPr/>
        </p:nvSpPr>
        <p:spPr>
          <a:xfrm>
            <a:off x="7687818" y="2547361"/>
            <a:ext cx="108585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64.84%</a:t>
            </a:r>
            <a:endParaRPr/>
          </a:p>
        </p:txBody>
      </p:sp>
      <p:sp>
        <p:nvSpPr>
          <p:cNvPr id="412" name="Google Shape;412;p14"/>
          <p:cNvSpPr txBox="1"/>
          <p:nvPr/>
        </p:nvSpPr>
        <p:spPr>
          <a:xfrm>
            <a:off x="7706106" y="3950207"/>
            <a:ext cx="104927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E2</a:t>
            </a:r>
            <a:endParaRPr/>
          </a:p>
        </p:txBody>
      </p:sp>
      <p:sp>
        <p:nvSpPr>
          <p:cNvPr id="413" name="Google Shape;413;p14"/>
          <p:cNvSpPr/>
          <p:nvPr/>
        </p:nvSpPr>
        <p:spPr>
          <a:xfrm>
            <a:off x="8865108" y="2784426"/>
            <a:ext cx="1049274" cy="1101773"/>
          </a:xfrm>
          <a:prstGeom prst="rect">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4" name="Google Shape;414;p14"/>
          <p:cNvSpPr txBox="1"/>
          <p:nvPr/>
        </p:nvSpPr>
        <p:spPr>
          <a:xfrm>
            <a:off x="8846820" y="2546682"/>
            <a:ext cx="108585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64.88%</a:t>
            </a:r>
            <a:endParaRPr/>
          </a:p>
        </p:txBody>
      </p:sp>
      <p:sp>
        <p:nvSpPr>
          <p:cNvPr id="415" name="Google Shape;415;p14"/>
          <p:cNvSpPr txBox="1"/>
          <p:nvPr/>
        </p:nvSpPr>
        <p:spPr>
          <a:xfrm>
            <a:off x="8865108" y="3950207"/>
            <a:ext cx="104927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E3</a:t>
            </a:r>
            <a:endParaRPr/>
          </a:p>
        </p:txBody>
      </p:sp>
      <p:sp>
        <p:nvSpPr>
          <p:cNvPr id="416" name="Google Shape;416;p14"/>
          <p:cNvSpPr/>
          <p:nvPr/>
        </p:nvSpPr>
        <p:spPr>
          <a:xfrm>
            <a:off x="10024110" y="2782048"/>
            <a:ext cx="1049274" cy="1104151"/>
          </a:xfrm>
          <a:prstGeom prst="rect">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7" name="Google Shape;417;p14"/>
          <p:cNvSpPr txBox="1"/>
          <p:nvPr/>
        </p:nvSpPr>
        <p:spPr>
          <a:xfrm>
            <a:off x="10005822" y="2544304"/>
            <a:ext cx="108585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65.02%</a:t>
            </a:r>
            <a:endParaRPr/>
          </a:p>
        </p:txBody>
      </p:sp>
      <p:sp>
        <p:nvSpPr>
          <p:cNvPr id="418" name="Google Shape;418;p14"/>
          <p:cNvSpPr txBox="1"/>
          <p:nvPr/>
        </p:nvSpPr>
        <p:spPr>
          <a:xfrm>
            <a:off x="10024110" y="3950207"/>
            <a:ext cx="104927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E4</a:t>
            </a:r>
            <a:endParaRPr/>
          </a:p>
        </p:txBody>
      </p:sp>
      <p:sp>
        <p:nvSpPr>
          <p:cNvPr id="419" name="Google Shape;419;p14"/>
          <p:cNvSpPr txBox="1"/>
          <p:nvPr/>
        </p:nvSpPr>
        <p:spPr>
          <a:xfrm>
            <a:off x="868680" y="2130552"/>
            <a:ext cx="2011680"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50">
                <a:solidFill>
                  <a:srgbClr val="5B6577"/>
                </a:solidFill>
                <a:latin typeface="Arial"/>
                <a:ea typeface="Arial"/>
                <a:cs typeface="Arial"/>
                <a:sym typeface="Arial"/>
              </a:rPr>
              <a:t>Validation accuracy</a:t>
            </a:r>
            <a:endParaRPr/>
          </a:p>
        </p:txBody>
      </p:sp>
      <p:sp>
        <p:nvSpPr>
          <p:cNvPr id="420" name="Google Shape;420;p14"/>
          <p:cNvSpPr txBox="1"/>
          <p:nvPr/>
        </p:nvSpPr>
        <p:spPr>
          <a:xfrm>
            <a:off x="6565392" y="2130552"/>
            <a:ext cx="2011680"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50">
                <a:solidFill>
                  <a:srgbClr val="5B6577"/>
                </a:solidFill>
                <a:latin typeface="Arial"/>
                <a:ea typeface="Arial"/>
                <a:cs typeface="Arial"/>
                <a:sym typeface="Arial"/>
              </a:rPr>
              <a:t>Validation accuracy</a:t>
            </a:r>
            <a:endParaRPr/>
          </a:p>
        </p:txBody>
      </p:sp>
      <p:sp>
        <p:nvSpPr>
          <p:cNvPr id="421" name="Google Shape;421;p14"/>
          <p:cNvSpPr/>
          <p:nvPr/>
        </p:nvSpPr>
        <p:spPr>
          <a:xfrm>
            <a:off x="722376" y="4270248"/>
            <a:ext cx="4818888" cy="1417320"/>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2" name="Google Shape;422;p14"/>
          <p:cNvSpPr txBox="1"/>
          <p:nvPr/>
        </p:nvSpPr>
        <p:spPr>
          <a:xfrm>
            <a:off x="832104" y="4407408"/>
            <a:ext cx="566928"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30">
                <a:solidFill>
                  <a:srgbClr val="5B6577"/>
                </a:solidFill>
                <a:latin typeface="Arial"/>
                <a:ea typeface="Arial"/>
                <a:cs typeface="Arial"/>
                <a:sym typeface="Arial"/>
              </a:rPr>
              <a:t>Exp</a:t>
            </a:r>
            <a:endParaRPr/>
          </a:p>
        </p:txBody>
      </p:sp>
      <p:sp>
        <p:nvSpPr>
          <p:cNvPr id="423" name="Google Shape;423;p14"/>
          <p:cNvSpPr txBox="1"/>
          <p:nvPr/>
        </p:nvSpPr>
        <p:spPr>
          <a:xfrm>
            <a:off x="1508760" y="4407408"/>
            <a:ext cx="950976"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30">
                <a:solidFill>
                  <a:srgbClr val="5B6577"/>
                </a:solidFill>
                <a:latin typeface="Arial"/>
                <a:ea typeface="Arial"/>
                <a:cs typeface="Arial"/>
                <a:sym typeface="Arial"/>
              </a:rPr>
              <a:t>Loss</a:t>
            </a:r>
            <a:endParaRPr/>
          </a:p>
        </p:txBody>
      </p:sp>
      <p:sp>
        <p:nvSpPr>
          <p:cNvPr id="424" name="Google Shape;424;p14"/>
          <p:cNvSpPr txBox="1"/>
          <p:nvPr/>
        </p:nvSpPr>
        <p:spPr>
          <a:xfrm>
            <a:off x="2551176" y="4407408"/>
            <a:ext cx="114300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30">
                <a:solidFill>
                  <a:srgbClr val="5B6577"/>
                </a:solidFill>
                <a:latin typeface="Arial"/>
                <a:ea typeface="Arial"/>
                <a:cs typeface="Arial"/>
                <a:sym typeface="Arial"/>
              </a:rPr>
              <a:t>Macro F1</a:t>
            </a:r>
            <a:endParaRPr/>
          </a:p>
        </p:txBody>
      </p:sp>
      <p:sp>
        <p:nvSpPr>
          <p:cNvPr id="425" name="Google Shape;425;p14"/>
          <p:cNvSpPr txBox="1"/>
          <p:nvPr/>
        </p:nvSpPr>
        <p:spPr>
          <a:xfrm>
            <a:off x="3849624" y="4407408"/>
            <a:ext cx="100584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30">
                <a:solidFill>
                  <a:srgbClr val="5B6577"/>
                </a:solidFill>
                <a:latin typeface="Arial"/>
                <a:ea typeface="Arial"/>
                <a:cs typeface="Arial"/>
                <a:sym typeface="Arial"/>
              </a:rPr>
              <a:t>Best ep.</a:t>
            </a:r>
            <a:endParaRPr/>
          </a:p>
        </p:txBody>
      </p:sp>
      <p:sp>
        <p:nvSpPr>
          <p:cNvPr id="426" name="Google Shape;426;p14"/>
          <p:cNvSpPr txBox="1"/>
          <p:nvPr/>
        </p:nvSpPr>
        <p:spPr>
          <a:xfrm>
            <a:off x="832104" y="4663440"/>
            <a:ext cx="566928"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70">
                <a:solidFill>
                  <a:srgbClr val="315A8A"/>
                </a:solidFill>
                <a:latin typeface="Arial"/>
                <a:ea typeface="Arial"/>
                <a:cs typeface="Arial"/>
                <a:sym typeface="Arial"/>
              </a:rPr>
              <a:t>E1</a:t>
            </a:r>
            <a:endParaRPr/>
          </a:p>
        </p:txBody>
      </p:sp>
      <p:sp>
        <p:nvSpPr>
          <p:cNvPr id="427" name="Google Shape;427;p14"/>
          <p:cNvSpPr txBox="1"/>
          <p:nvPr/>
        </p:nvSpPr>
        <p:spPr>
          <a:xfrm>
            <a:off x="1508760" y="4663440"/>
            <a:ext cx="950976"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0.524</a:t>
            </a:r>
            <a:endParaRPr/>
          </a:p>
        </p:txBody>
      </p:sp>
      <p:sp>
        <p:nvSpPr>
          <p:cNvPr id="428" name="Google Shape;428;p14"/>
          <p:cNvSpPr txBox="1"/>
          <p:nvPr/>
        </p:nvSpPr>
        <p:spPr>
          <a:xfrm>
            <a:off x="2551176" y="4663440"/>
            <a:ext cx="114300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0.829</a:t>
            </a:r>
            <a:endParaRPr/>
          </a:p>
        </p:txBody>
      </p:sp>
      <p:sp>
        <p:nvSpPr>
          <p:cNvPr id="429" name="Google Shape;429;p14"/>
          <p:cNvSpPr txBox="1"/>
          <p:nvPr/>
        </p:nvSpPr>
        <p:spPr>
          <a:xfrm>
            <a:off x="3849624" y="4663440"/>
            <a:ext cx="100584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74</a:t>
            </a:r>
            <a:endParaRPr/>
          </a:p>
        </p:txBody>
      </p:sp>
      <p:sp>
        <p:nvSpPr>
          <p:cNvPr id="430" name="Google Shape;430;p14"/>
          <p:cNvSpPr txBox="1"/>
          <p:nvPr/>
        </p:nvSpPr>
        <p:spPr>
          <a:xfrm>
            <a:off x="832104" y="4892040"/>
            <a:ext cx="566928"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70">
                <a:solidFill>
                  <a:srgbClr val="315A8A"/>
                </a:solidFill>
                <a:latin typeface="Arial"/>
                <a:ea typeface="Arial"/>
                <a:cs typeface="Arial"/>
                <a:sym typeface="Arial"/>
              </a:rPr>
              <a:t>E2</a:t>
            </a:r>
            <a:endParaRPr/>
          </a:p>
        </p:txBody>
      </p:sp>
      <p:sp>
        <p:nvSpPr>
          <p:cNvPr id="431" name="Google Shape;431;p14"/>
          <p:cNvSpPr txBox="1"/>
          <p:nvPr/>
        </p:nvSpPr>
        <p:spPr>
          <a:xfrm>
            <a:off x="1508760" y="4892040"/>
            <a:ext cx="950976"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0.472</a:t>
            </a:r>
            <a:endParaRPr/>
          </a:p>
        </p:txBody>
      </p:sp>
      <p:sp>
        <p:nvSpPr>
          <p:cNvPr id="432" name="Google Shape;432;p14"/>
          <p:cNvSpPr txBox="1"/>
          <p:nvPr/>
        </p:nvSpPr>
        <p:spPr>
          <a:xfrm>
            <a:off x="2551176" y="4892040"/>
            <a:ext cx="114300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0.851</a:t>
            </a:r>
            <a:endParaRPr/>
          </a:p>
        </p:txBody>
      </p:sp>
      <p:sp>
        <p:nvSpPr>
          <p:cNvPr id="433" name="Google Shape;433;p14"/>
          <p:cNvSpPr txBox="1"/>
          <p:nvPr/>
        </p:nvSpPr>
        <p:spPr>
          <a:xfrm>
            <a:off x="3849624" y="4892040"/>
            <a:ext cx="100584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51</a:t>
            </a:r>
            <a:endParaRPr/>
          </a:p>
        </p:txBody>
      </p:sp>
      <p:sp>
        <p:nvSpPr>
          <p:cNvPr id="434" name="Google Shape;434;p14"/>
          <p:cNvSpPr txBox="1"/>
          <p:nvPr/>
        </p:nvSpPr>
        <p:spPr>
          <a:xfrm>
            <a:off x="832104" y="5120640"/>
            <a:ext cx="566928"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70">
                <a:solidFill>
                  <a:srgbClr val="315A8A"/>
                </a:solidFill>
                <a:latin typeface="Arial"/>
                <a:ea typeface="Arial"/>
                <a:cs typeface="Arial"/>
                <a:sym typeface="Arial"/>
              </a:rPr>
              <a:t>E3</a:t>
            </a:r>
            <a:endParaRPr/>
          </a:p>
        </p:txBody>
      </p:sp>
      <p:sp>
        <p:nvSpPr>
          <p:cNvPr id="435" name="Google Shape;435;p14"/>
          <p:cNvSpPr txBox="1"/>
          <p:nvPr/>
        </p:nvSpPr>
        <p:spPr>
          <a:xfrm>
            <a:off x="1508760" y="5120640"/>
            <a:ext cx="950976"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0.450</a:t>
            </a:r>
            <a:endParaRPr/>
          </a:p>
        </p:txBody>
      </p:sp>
      <p:sp>
        <p:nvSpPr>
          <p:cNvPr id="436" name="Google Shape;436;p14"/>
          <p:cNvSpPr txBox="1"/>
          <p:nvPr/>
        </p:nvSpPr>
        <p:spPr>
          <a:xfrm>
            <a:off x="2551176" y="5120640"/>
            <a:ext cx="114300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0.864</a:t>
            </a:r>
            <a:endParaRPr/>
          </a:p>
        </p:txBody>
      </p:sp>
      <p:sp>
        <p:nvSpPr>
          <p:cNvPr id="437" name="Google Shape;437;p14"/>
          <p:cNvSpPr txBox="1"/>
          <p:nvPr/>
        </p:nvSpPr>
        <p:spPr>
          <a:xfrm>
            <a:off x="3849624" y="5120640"/>
            <a:ext cx="100584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60</a:t>
            </a:r>
            <a:endParaRPr/>
          </a:p>
        </p:txBody>
      </p:sp>
      <p:sp>
        <p:nvSpPr>
          <p:cNvPr id="438" name="Google Shape;438;p14"/>
          <p:cNvSpPr txBox="1"/>
          <p:nvPr/>
        </p:nvSpPr>
        <p:spPr>
          <a:xfrm>
            <a:off x="832104" y="5349240"/>
            <a:ext cx="566928"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70">
                <a:solidFill>
                  <a:srgbClr val="315A8A"/>
                </a:solidFill>
                <a:latin typeface="Arial"/>
                <a:ea typeface="Arial"/>
                <a:cs typeface="Arial"/>
                <a:sym typeface="Arial"/>
              </a:rPr>
              <a:t>E4</a:t>
            </a:r>
            <a:endParaRPr/>
          </a:p>
        </p:txBody>
      </p:sp>
      <p:sp>
        <p:nvSpPr>
          <p:cNvPr id="439" name="Google Shape;439;p14"/>
          <p:cNvSpPr txBox="1"/>
          <p:nvPr/>
        </p:nvSpPr>
        <p:spPr>
          <a:xfrm>
            <a:off x="1508760" y="5349240"/>
            <a:ext cx="950976"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0.487</a:t>
            </a:r>
            <a:endParaRPr/>
          </a:p>
        </p:txBody>
      </p:sp>
      <p:sp>
        <p:nvSpPr>
          <p:cNvPr id="440" name="Google Shape;440;p14"/>
          <p:cNvSpPr txBox="1"/>
          <p:nvPr/>
        </p:nvSpPr>
        <p:spPr>
          <a:xfrm>
            <a:off x="2551176" y="5349240"/>
            <a:ext cx="114300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0.839</a:t>
            </a:r>
            <a:endParaRPr/>
          </a:p>
        </p:txBody>
      </p:sp>
      <p:sp>
        <p:nvSpPr>
          <p:cNvPr id="441" name="Google Shape;441;p14"/>
          <p:cNvSpPr txBox="1"/>
          <p:nvPr/>
        </p:nvSpPr>
        <p:spPr>
          <a:xfrm>
            <a:off x="3849624" y="5349240"/>
            <a:ext cx="100584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50</a:t>
            </a:r>
            <a:endParaRPr/>
          </a:p>
        </p:txBody>
      </p:sp>
      <p:sp>
        <p:nvSpPr>
          <p:cNvPr id="442" name="Google Shape;442;p14"/>
          <p:cNvSpPr/>
          <p:nvPr/>
        </p:nvSpPr>
        <p:spPr>
          <a:xfrm>
            <a:off x="6428232" y="4270248"/>
            <a:ext cx="4818888" cy="1417320"/>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3" name="Google Shape;443;p14"/>
          <p:cNvSpPr txBox="1"/>
          <p:nvPr/>
        </p:nvSpPr>
        <p:spPr>
          <a:xfrm>
            <a:off x="6537960" y="4407408"/>
            <a:ext cx="566928"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30">
                <a:solidFill>
                  <a:srgbClr val="5B6577"/>
                </a:solidFill>
                <a:latin typeface="Arial"/>
                <a:ea typeface="Arial"/>
                <a:cs typeface="Arial"/>
                <a:sym typeface="Arial"/>
              </a:rPr>
              <a:t>Exp</a:t>
            </a:r>
            <a:endParaRPr/>
          </a:p>
        </p:txBody>
      </p:sp>
      <p:sp>
        <p:nvSpPr>
          <p:cNvPr id="444" name="Google Shape;444;p14"/>
          <p:cNvSpPr txBox="1"/>
          <p:nvPr/>
        </p:nvSpPr>
        <p:spPr>
          <a:xfrm>
            <a:off x="7214616" y="4407408"/>
            <a:ext cx="950976"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30">
                <a:solidFill>
                  <a:srgbClr val="5B6577"/>
                </a:solidFill>
                <a:latin typeface="Arial"/>
                <a:ea typeface="Arial"/>
                <a:cs typeface="Arial"/>
                <a:sym typeface="Arial"/>
              </a:rPr>
              <a:t>Loss</a:t>
            </a:r>
            <a:endParaRPr/>
          </a:p>
        </p:txBody>
      </p:sp>
      <p:sp>
        <p:nvSpPr>
          <p:cNvPr id="445" name="Google Shape;445;p14"/>
          <p:cNvSpPr txBox="1"/>
          <p:nvPr/>
        </p:nvSpPr>
        <p:spPr>
          <a:xfrm>
            <a:off x="8257032" y="4407408"/>
            <a:ext cx="114300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30">
                <a:solidFill>
                  <a:srgbClr val="5B6577"/>
                </a:solidFill>
                <a:latin typeface="Arial"/>
                <a:ea typeface="Arial"/>
                <a:cs typeface="Arial"/>
                <a:sym typeface="Arial"/>
              </a:rPr>
              <a:t>Macro F1</a:t>
            </a:r>
            <a:endParaRPr/>
          </a:p>
        </p:txBody>
      </p:sp>
      <p:sp>
        <p:nvSpPr>
          <p:cNvPr id="446" name="Google Shape;446;p14"/>
          <p:cNvSpPr txBox="1"/>
          <p:nvPr/>
        </p:nvSpPr>
        <p:spPr>
          <a:xfrm>
            <a:off x="9555480" y="4407408"/>
            <a:ext cx="100584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30">
                <a:solidFill>
                  <a:srgbClr val="5B6577"/>
                </a:solidFill>
                <a:latin typeface="Arial"/>
                <a:ea typeface="Arial"/>
                <a:cs typeface="Arial"/>
                <a:sym typeface="Arial"/>
              </a:rPr>
              <a:t>Best ep.</a:t>
            </a:r>
            <a:endParaRPr/>
          </a:p>
        </p:txBody>
      </p:sp>
      <p:sp>
        <p:nvSpPr>
          <p:cNvPr id="447" name="Google Shape;447;p14"/>
          <p:cNvSpPr txBox="1"/>
          <p:nvPr/>
        </p:nvSpPr>
        <p:spPr>
          <a:xfrm>
            <a:off x="6537960" y="4663440"/>
            <a:ext cx="566928"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70">
                <a:solidFill>
                  <a:srgbClr val="D7792D"/>
                </a:solidFill>
                <a:latin typeface="Arial"/>
                <a:ea typeface="Arial"/>
                <a:cs typeface="Arial"/>
                <a:sym typeface="Arial"/>
              </a:rPr>
              <a:t>E1</a:t>
            </a:r>
            <a:endParaRPr/>
          </a:p>
        </p:txBody>
      </p:sp>
      <p:sp>
        <p:nvSpPr>
          <p:cNvPr id="448" name="Google Shape;448;p14"/>
          <p:cNvSpPr txBox="1"/>
          <p:nvPr/>
        </p:nvSpPr>
        <p:spPr>
          <a:xfrm>
            <a:off x="7214616" y="4663440"/>
            <a:ext cx="950976"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1.495</a:t>
            </a:r>
            <a:endParaRPr/>
          </a:p>
        </p:txBody>
      </p:sp>
      <p:sp>
        <p:nvSpPr>
          <p:cNvPr id="449" name="Google Shape;449;p14"/>
          <p:cNvSpPr txBox="1"/>
          <p:nvPr/>
        </p:nvSpPr>
        <p:spPr>
          <a:xfrm>
            <a:off x="8257032" y="4663440"/>
            <a:ext cx="114300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0.593</a:t>
            </a:r>
            <a:endParaRPr/>
          </a:p>
        </p:txBody>
      </p:sp>
      <p:sp>
        <p:nvSpPr>
          <p:cNvPr id="450" name="Google Shape;450;p14"/>
          <p:cNvSpPr txBox="1"/>
          <p:nvPr/>
        </p:nvSpPr>
        <p:spPr>
          <a:xfrm>
            <a:off x="9555480" y="4663440"/>
            <a:ext cx="100584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120</a:t>
            </a:r>
            <a:endParaRPr/>
          </a:p>
        </p:txBody>
      </p:sp>
      <p:sp>
        <p:nvSpPr>
          <p:cNvPr id="451" name="Google Shape;451;p14"/>
          <p:cNvSpPr txBox="1"/>
          <p:nvPr/>
        </p:nvSpPr>
        <p:spPr>
          <a:xfrm>
            <a:off x="6537960" y="4892040"/>
            <a:ext cx="566928"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70">
                <a:solidFill>
                  <a:srgbClr val="D7792D"/>
                </a:solidFill>
                <a:latin typeface="Arial"/>
                <a:ea typeface="Arial"/>
                <a:cs typeface="Arial"/>
                <a:sym typeface="Arial"/>
              </a:rPr>
              <a:t>E2</a:t>
            </a:r>
            <a:endParaRPr/>
          </a:p>
        </p:txBody>
      </p:sp>
      <p:sp>
        <p:nvSpPr>
          <p:cNvPr id="452" name="Google Shape;452;p14"/>
          <p:cNvSpPr txBox="1"/>
          <p:nvPr/>
        </p:nvSpPr>
        <p:spPr>
          <a:xfrm>
            <a:off x="7214616" y="4892040"/>
            <a:ext cx="950976"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1.312</a:t>
            </a:r>
            <a:endParaRPr/>
          </a:p>
        </p:txBody>
      </p:sp>
      <p:sp>
        <p:nvSpPr>
          <p:cNvPr id="453" name="Google Shape;453;p14"/>
          <p:cNvSpPr txBox="1"/>
          <p:nvPr/>
        </p:nvSpPr>
        <p:spPr>
          <a:xfrm>
            <a:off x="8257032" y="4892040"/>
            <a:ext cx="114300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0.645</a:t>
            </a:r>
            <a:endParaRPr/>
          </a:p>
        </p:txBody>
      </p:sp>
      <p:sp>
        <p:nvSpPr>
          <p:cNvPr id="454" name="Google Shape;454;p14"/>
          <p:cNvSpPr txBox="1"/>
          <p:nvPr/>
        </p:nvSpPr>
        <p:spPr>
          <a:xfrm>
            <a:off x="9555480" y="4892040"/>
            <a:ext cx="100584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40</a:t>
            </a:r>
            <a:endParaRPr/>
          </a:p>
        </p:txBody>
      </p:sp>
      <p:sp>
        <p:nvSpPr>
          <p:cNvPr id="455" name="Google Shape;455;p14"/>
          <p:cNvSpPr txBox="1"/>
          <p:nvPr/>
        </p:nvSpPr>
        <p:spPr>
          <a:xfrm>
            <a:off x="6537960" y="5120640"/>
            <a:ext cx="566928"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70">
                <a:solidFill>
                  <a:srgbClr val="D7792D"/>
                </a:solidFill>
                <a:latin typeface="Arial"/>
                <a:ea typeface="Arial"/>
                <a:cs typeface="Arial"/>
                <a:sym typeface="Arial"/>
              </a:rPr>
              <a:t>E3</a:t>
            </a:r>
            <a:endParaRPr/>
          </a:p>
        </p:txBody>
      </p:sp>
      <p:sp>
        <p:nvSpPr>
          <p:cNvPr id="456" name="Google Shape;456;p14"/>
          <p:cNvSpPr txBox="1"/>
          <p:nvPr/>
        </p:nvSpPr>
        <p:spPr>
          <a:xfrm>
            <a:off x="7214616" y="5120640"/>
            <a:ext cx="950976"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1.297</a:t>
            </a:r>
            <a:endParaRPr/>
          </a:p>
        </p:txBody>
      </p:sp>
      <p:sp>
        <p:nvSpPr>
          <p:cNvPr id="457" name="Google Shape;457;p14"/>
          <p:cNvSpPr txBox="1"/>
          <p:nvPr/>
        </p:nvSpPr>
        <p:spPr>
          <a:xfrm>
            <a:off x="8257032" y="5120640"/>
            <a:ext cx="114300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0.648</a:t>
            </a:r>
            <a:endParaRPr/>
          </a:p>
        </p:txBody>
      </p:sp>
      <p:sp>
        <p:nvSpPr>
          <p:cNvPr id="458" name="Google Shape;458;p14"/>
          <p:cNvSpPr txBox="1"/>
          <p:nvPr/>
        </p:nvSpPr>
        <p:spPr>
          <a:xfrm>
            <a:off x="9555480" y="5120640"/>
            <a:ext cx="100584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48</a:t>
            </a:r>
            <a:endParaRPr/>
          </a:p>
        </p:txBody>
      </p:sp>
      <p:sp>
        <p:nvSpPr>
          <p:cNvPr id="459" name="Google Shape;459;p14"/>
          <p:cNvSpPr txBox="1"/>
          <p:nvPr/>
        </p:nvSpPr>
        <p:spPr>
          <a:xfrm>
            <a:off x="6537960" y="5349240"/>
            <a:ext cx="566928"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70">
                <a:solidFill>
                  <a:srgbClr val="D7792D"/>
                </a:solidFill>
                <a:latin typeface="Arial"/>
                <a:ea typeface="Arial"/>
                <a:cs typeface="Arial"/>
                <a:sym typeface="Arial"/>
              </a:rPr>
              <a:t>E4</a:t>
            </a:r>
            <a:endParaRPr/>
          </a:p>
        </p:txBody>
      </p:sp>
      <p:sp>
        <p:nvSpPr>
          <p:cNvPr id="460" name="Google Shape;460;p14"/>
          <p:cNvSpPr txBox="1"/>
          <p:nvPr/>
        </p:nvSpPr>
        <p:spPr>
          <a:xfrm>
            <a:off x="7214616" y="5349240"/>
            <a:ext cx="950976"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1.291</a:t>
            </a:r>
            <a:endParaRPr/>
          </a:p>
        </p:txBody>
      </p:sp>
      <p:sp>
        <p:nvSpPr>
          <p:cNvPr id="461" name="Google Shape;461;p14"/>
          <p:cNvSpPr txBox="1"/>
          <p:nvPr/>
        </p:nvSpPr>
        <p:spPr>
          <a:xfrm>
            <a:off x="8257032" y="5349240"/>
            <a:ext cx="114300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0.650</a:t>
            </a:r>
            <a:endParaRPr/>
          </a:p>
        </p:txBody>
      </p:sp>
      <p:sp>
        <p:nvSpPr>
          <p:cNvPr id="462" name="Google Shape;462;p14"/>
          <p:cNvSpPr txBox="1"/>
          <p:nvPr/>
        </p:nvSpPr>
        <p:spPr>
          <a:xfrm>
            <a:off x="9555480" y="5349240"/>
            <a:ext cx="1005840" cy="14630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70">
                <a:solidFill>
                  <a:srgbClr val="172033"/>
                </a:solidFill>
                <a:latin typeface="Arial"/>
                <a:ea typeface="Arial"/>
                <a:cs typeface="Arial"/>
                <a:sym typeface="Arial"/>
              </a:rPr>
              <a:t>43</a:t>
            </a:r>
            <a:endParaRPr/>
          </a:p>
        </p:txBody>
      </p:sp>
      <p:sp>
        <p:nvSpPr>
          <p:cNvPr id="463" name="Google Shape;463;p14"/>
          <p:cNvSpPr txBox="1"/>
          <p:nvPr/>
        </p:nvSpPr>
        <p:spPr>
          <a:xfrm>
            <a:off x="868680" y="5797296"/>
            <a:ext cx="4297680" cy="201168"/>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1019">
                <a:solidFill>
                  <a:srgbClr val="315A8A"/>
                </a:solidFill>
                <a:latin typeface="Arial"/>
                <a:ea typeface="Arial"/>
                <a:cs typeface="Arial"/>
                <a:sym typeface="Arial"/>
              </a:rPr>
              <a:t>Leader: E3 — 86.34%</a:t>
            </a:r>
            <a:endParaRPr/>
          </a:p>
        </p:txBody>
      </p:sp>
      <p:sp>
        <p:nvSpPr>
          <p:cNvPr id="464" name="Google Shape;464;p14"/>
          <p:cNvSpPr txBox="1"/>
          <p:nvPr/>
        </p:nvSpPr>
        <p:spPr>
          <a:xfrm>
            <a:off x="6565392" y="5797296"/>
            <a:ext cx="4297680" cy="201168"/>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1019">
                <a:solidFill>
                  <a:srgbClr val="D7792D"/>
                </a:solidFill>
                <a:latin typeface="Arial"/>
                <a:ea typeface="Arial"/>
                <a:cs typeface="Arial"/>
                <a:sym typeface="Arial"/>
              </a:rPr>
              <a:t>Leader: E4 — 65.02%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5"/>
          <p:cNvSpPr txBox="1"/>
          <p:nvPr/>
        </p:nvSpPr>
        <p:spPr>
          <a:xfrm>
            <a:off x="566928" y="347472"/>
            <a:ext cx="10789920" cy="4114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2400">
                <a:solidFill>
                  <a:srgbClr val="172033"/>
                </a:solidFill>
                <a:latin typeface="Play"/>
                <a:ea typeface="Play"/>
                <a:cs typeface="Play"/>
                <a:sym typeface="Play"/>
              </a:rPr>
              <a:t>Efficiency — adaptive batch reduces optimizer updates</a:t>
            </a:r>
            <a:endParaRPr/>
          </a:p>
        </p:txBody>
      </p:sp>
      <p:sp>
        <p:nvSpPr>
          <p:cNvPr id="471" name="Google Shape;471;p15"/>
          <p:cNvSpPr txBox="1"/>
          <p:nvPr/>
        </p:nvSpPr>
        <p:spPr>
          <a:xfrm>
            <a:off x="585216" y="832104"/>
            <a:ext cx="10744200" cy="30175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1050">
                <a:solidFill>
                  <a:srgbClr val="5B6577"/>
                </a:solidFill>
                <a:latin typeface="Arial"/>
                <a:ea typeface="Arial"/>
                <a:cs typeface="Arial"/>
                <a:sym typeface="Arial"/>
              </a:rPr>
              <a:t>Update count is hardware-agnostic; wall-clock time is reported separately.</a:t>
            </a:r>
            <a:endParaRPr/>
          </a:p>
        </p:txBody>
      </p:sp>
      <p:sp>
        <p:nvSpPr>
          <p:cNvPr id="472" name="Google Shape;472;p15"/>
          <p:cNvSpPr/>
          <p:nvPr/>
        </p:nvSpPr>
        <p:spPr>
          <a:xfrm>
            <a:off x="585216" y="1225296"/>
            <a:ext cx="1417320" cy="256032"/>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3" name="Google Shape;473;p15"/>
          <p:cNvSpPr txBox="1"/>
          <p:nvPr/>
        </p:nvSpPr>
        <p:spPr>
          <a:xfrm>
            <a:off x="667512" y="1271016"/>
            <a:ext cx="1234440" cy="12801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760">
                <a:solidFill>
                  <a:srgbClr val="0F8B8D"/>
                </a:solidFill>
                <a:latin typeface="Arial"/>
                <a:ea typeface="Arial"/>
                <a:cs typeface="Arial"/>
                <a:sym typeface="Arial"/>
              </a:rPr>
              <a:t>EFFICIENCY</a:t>
            </a:r>
            <a:endParaRPr/>
          </a:p>
        </p:txBody>
      </p:sp>
      <p:sp>
        <p:nvSpPr>
          <p:cNvPr id="474" name="Google Shape;474;p15"/>
          <p:cNvSpPr txBox="1"/>
          <p:nvPr/>
        </p:nvSpPr>
        <p:spPr>
          <a:xfrm>
            <a:off x="11384280" y="6446520"/>
            <a:ext cx="320040" cy="1828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lang="en-US" sz="800">
                <a:solidFill>
                  <a:srgbClr val="5B6577"/>
                </a:solidFill>
                <a:latin typeface="Arial"/>
                <a:ea typeface="Arial"/>
                <a:cs typeface="Arial"/>
                <a:sym typeface="Arial"/>
              </a:rPr>
              <a:t>12</a:t>
            </a:r>
            <a:endParaRPr/>
          </a:p>
        </p:txBody>
      </p:sp>
      <p:sp>
        <p:nvSpPr>
          <p:cNvPr id="475" name="Google Shape;475;p15"/>
          <p:cNvSpPr/>
          <p:nvPr/>
        </p:nvSpPr>
        <p:spPr>
          <a:xfrm>
            <a:off x="6044183" y="1527048"/>
            <a:ext cx="45719" cy="4453128"/>
          </a:xfrm>
          <a:prstGeom prst="rect">
            <a:avLst/>
          </a:prstGeom>
          <a:solidFill>
            <a:srgbClr val="D8E0E8"/>
          </a:solidFill>
          <a:ln cap="flat" cmpd="sng" w="9525">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6" name="Google Shape;476;p15"/>
          <p:cNvSpPr/>
          <p:nvPr/>
        </p:nvSpPr>
        <p:spPr>
          <a:xfrm>
            <a:off x="576072" y="1572768"/>
            <a:ext cx="5230368" cy="475488"/>
          </a:xfrm>
          <a:prstGeom prst="roundRect">
            <a:avLst>
              <a:gd fmla="val 8000" name="adj"/>
            </a:avLst>
          </a:prstGeom>
          <a:solidFill>
            <a:srgbClr val="EEF4FA"/>
          </a:solidFill>
          <a:ln cap="flat" cmpd="sng" w="12700">
            <a:solidFill>
              <a:srgbClr val="EEF4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7" name="Google Shape;477;p15"/>
          <p:cNvSpPr/>
          <p:nvPr/>
        </p:nvSpPr>
        <p:spPr>
          <a:xfrm>
            <a:off x="6300216" y="1572768"/>
            <a:ext cx="5285232" cy="475488"/>
          </a:xfrm>
          <a:prstGeom prst="roundRect">
            <a:avLst>
              <a:gd fmla="val 8000" name="adj"/>
            </a:avLst>
          </a:prstGeom>
          <a:solidFill>
            <a:srgbClr val="FCF4EB"/>
          </a:solidFill>
          <a:ln cap="flat" cmpd="sng" w="12700">
            <a:solidFill>
              <a:srgbClr val="FCF4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8" name="Google Shape;478;p15"/>
          <p:cNvSpPr txBox="1"/>
          <p:nvPr/>
        </p:nvSpPr>
        <p:spPr>
          <a:xfrm>
            <a:off x="749808" y="1664208"/>
            <a:ext cx="164592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700">
                <a:solidFill>
                  <a:srgbClr val="315A8A"/>
                </a:solidFill>
                <a:latin typeface="Arial"/>
                <a:ea typeface="Arial"/>
                <a:cs typeface="Arial"/>
                <a:sym typeface="Arial"/>
              </a:rPr>
              <a:t>CIFAR-10</a:t>
            </a:r>
            <a:endParaRPr/>
          </a:p>
        </p:txBody>
      </p:sp>
      <p:sp>
        <p:nvSpPr>
          <p:cNvPr id="479" name="Google Shape;479;p15"/>
          <p:cNvSpPr txBox="1"/>
          <p:nvPr/>
        </p:nvSpPr>
        <p:spPr>
          <a:xfrm>
            <a:off x="2176272" y="1691640"/>
            <a:ext cx="3429000" cy="164592"/>
          </a:xfrm>
          <a:prstGeom prst="rect">
            <a:avLst/>
          </a:prstGeom>
          <a:noFill/>
          <a:ln>
            <a:noFill/>
          </a:ln>
        </p:spPr>
        <p:txBody>
          <a:bodyPr anchorCtr="0" anchor="t" bIns="36575" lIns="36575" spcFirstLastPara="1" rIns="36575" wrap="square" tIns="36575">
            <a:spAutoFit/>
          </a:bodyPr>
          <a:lstStyle/>
          <a:p>
            <a:pPr indent="0" lvl="0" marL="0" marR="0" rtl="0" algn="r">
              <a:spcBef>
                <a:spcPts val="0"/>
              </a:spcBef>
              <a:spcAft>
                <a:spcPts val="0"/>
              </a:spcAft>
              <a:buNone/>
            </a:pPr>
            <a:r>
              <a:rPr b="0" lang="en-US" sz="869">
                <a:solidFill>
                  <a:srgbClr val="5B6577"/>
                </a:solidFill>
                <a:latin typeface="Arial"/>
                <a:ea typeface="Arial"/>
                <a:cs typeface="Arial"/>
                <a:sym typeface="Arial"/>
              </a:rPr>
              <a:t>80 epochs</a:t>
            </a:r>
            <a:endParaRPr/>
          </a:p>
        </p:txBody>
      </p:sp>
      <p:sp>
        <p:nvSpPr>
          <p:cNvPr id="480" name="Google Shape;480;p15"/>
          <p:cNvSpPr txBox="1"/>
          <p:nvPr/>
        </p:nvSpPr>
        <p:spPr>
          <a:xfrm>
            <a:off x="6473952" y="1664208"/>
            <a:ext cx="182880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700">
                <a:solidFill>
                  <a:srgbClr val="D7792D"/>
                </a:solidFill>
                <a:latin typeface="Arial"/>
                <a:ea typeface="Arial"/>
                <a:cs typeface="Arial"/>
                <a:sym typeface="Arial"/>
              </a:rPr>
              <a:t>CIFAR-100</a:t>
            </a:r>
            <a:endParaRPr/>
          </a:p>
        </p:txBody>
      </p:sp>
      <p:sp>
        <p:nvSpPr>
          <p:cNvPr id="481" name="Google Shape;481;p15"/>
          <p:cNvSpPr txBox="1"/>
          <p:nvPr/>
        </p:nvSpPr>
        <p:spPr>
          <a:xfrm>
            <a:off x="8275320" y="1691640"/>
            <a:ext cx="3054096" cy="164592"/>
          </a:xfrm>
          <a:prstGeom prst="rect">
            <a:avLst/>
          </a:prstGeom>
          <a:noFill/>
          <a:ln>
            <a:noFill/>
          </a:ln>
        </p:spPr>
        <p:txBody>
          <a:bodyPr anchorCtr="0" anchor="t" bIns="36575" lIns="36575" spcFirstLastPara="1" rIns="36575" wrap="square" tIns="36575">
            <a:spAutoFit/>
          </a:bodyPr>
          <a:lstStyle/>
          <a:p>
            <a:pPr indent="0" lvl="0" marL="0" marR="0" rtl="0" algn="r">
              <a:spcBef>
                <a:spcPts val="0"/>
              </a:spcBef>
              <a:spcAft>
                <a:spcPts val="0"/>
              </a:spcAft>
              <a:buNone/>
            </a:pPr>
            <a:r>
              <a:rPr b="0" lang="en-US" sz="869">
                <a:solidFill>
                  <a:srgbClr val="5B6577"/>
                </a:solidFill>
                <a:latin typeface="Arial"/>
                <a:ea typeface="Arial"/>
                <a:cs typeface="Arial"/>
                <a:sym typeface="Arial"/>
              </a:rPr>
              <a:t>120 epochs</a:t>
            </a:r>
            <a:endParaRPr/>
          </a:p>
        </p:txBody>
      </p:sp>
      <p:sp>
        <p:nvSpPr>
          <p:cNvPr id="482" name="Google Shape;482;p15"/>
          <p:cNvSpPr/>
          <p:nvPr/>
        </p:nvSpPr>
        <p:spPr>
          <a:xfrm>
            <a:off x="868680" y="3959352"/>
            <a:ext cx="4480560" cy="18288"/>
          </a:xfrm>
          <a:prstGeom prst="rect">
            <a:avLst/>
          </a:prstGeom>
          <a:solidFill>
            <a:srgbClr val="D8E0E8"/>
          </a:solidFill>
          <a:ln cap="flat" cmpd="sng" w="9525">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3" name="Google Shape;483;p15"/>
          <p:cNvSpPr/>
          <p:nvPr/>
        </p:nvSpPr>
        <p:spPr>
          <a:xfrm>
            <a:off x="868680" y="2853759"/>
            <a:ext cx="1037844" cy="1105592"/>
          </a:xfrm>
          <a:prstGeom prst="rect">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4" name="Google Shape;484;p15"/>
          <p:cNvSpPr txBox="1"/>
          <p:nvPr/>
        </p:nvSpPr>
        <p:spPr>
          <a:xfrm>
            <a:off x="850392" y="2616015"/>
            <a:ext cx="107442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50.0k</a:t>
            </a:r>
            <a:endParaRPr/>
          </a:p>
        </p:txBody>
      </p:sp>
      <p:sp>
        <p:nvSpPr>
          <p:cNvPr id="485" name="Google Shape;485;p15"/>
          <p:cNvSpPr txBox="1"/>
          <p:nvPr/>
        </p:nvSpPr>
        <p:spPr>
          <a:xfrm>
            <a:off x="868680" y="4023359"/>
            <a:ext cx="103784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E1</a:t>
            </a:r>
            <a:endParaRPr/>
          </a:p>
        </p:txBody>
      </p:sp>
      <p:sp>
        <p:nvSpPr>
          <p:cNvPr id="486" name="Google Shape;486;p15"/>
          <p:cNvSpPr/>
          <p:nvPr/>
        </p:nvSpPr>
        <p:spPr>
          <a:xfrm>
            <a:off x="2016252" y="3326333"/>
            <a:ext cx="1037844" cy="633018"/>
          </a:xfrm>
          <a:prstGeom prst="rect">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7" name="Google Shape;487;p15"/>
          <p:cNvSpPr txBox="1"/>
          <p:nvPr/>
        </p:nvSpPr>
        <p:spPr>
          <a:xfrm>
            <a:off x="1997964" y="3088589"/>
            <a:ext cx="107442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28.6k</a:t>
            </a:r>
            <a:endParaRPr/>
          </a:p>
        </p:txBody>
      </p:sp>
      <p:sp>
        <p:nvSpPr>
          <p:cNvPr id="488" name="Google Shape;488;p15"/>
          <p:cNvSpPr txBox="1"/>
          <p:nvPr/>
        </p:nvSpPr>
        <p:spPr>
          <a:xfrm>
            <a:off x="2016252" y="4023359"/>
            <a:ext cx="103784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E2</a:t>
            </a:r>
            <a:endParaRPr/>
          </a:p>
        </p:txBody>
      </p:sp>
      <p:sp>
        <p:nvSpPr>
          <p:cNvPr id="489" name="Google Shape;489;p15"/>
          <p:cNvSpPr/>
          <p:nvPr/>
        </p:nvSpPr>
        <p:spPr>
          <a:xfrm>
            <a:off x="3163824" y="2853759"/>
            <a:ext cx="1037844" cy="1105592"/>
          </a:xfrm>
          <a:prstGeom prst="rect">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0" name="Google Shape;490;p15"/>
          <p:cNvSpPr txBox="1"/>
          <p:nvPr/>
        </p:nvSpPr>
        <p:spPr>
          <a:xfrm>
            <a:off x="3145536" y="2616015"/>
            <a:ext cx="107442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50.0k</a:t>
            </a:r>
            <a:endParaRPr/>
          </a:p>
        </p:txBody>
      </p:sp>
      <p:sp>
        <p:nvSpPr>
          <p:cNvPr id="491" name="Google Shape;491;p15"/>
          <p:cNvSpPr txBox="1"/>
          <p:nvPr/>
        </p:nvSpPr>
        <p:spPr>
          <a:xfrm>
            <a:off x="3163824" y="4023359"/>
            <a:ext cx="103784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E3</a:t>
            </a:r>
            <a:endParaRPr/>
          </a:p>
        </p:txBody>
      </p:sp>
      <p:sp>
        <p:nvSpPr>
          <p:cNvPr id="492" name="Google Shape;492;p15"/>
          <p:cNvSpPr/>
          <p:nvPr/>
        </p:nvSpPr>
        <p:spPr>
          <a:xfrm>
            <a:off x="4311396" y="3329783"/>
            <a:ext cx="1037844" cy="629568"/>
          </a:xfrm>
          <a:prstGeom prst="rect">
            <a:avLst/>
          </a:prstGeom>
          <a:solidFill>
            <a:srgbClr val="315A8A"/>
          </a:solidFill>
          <a:ln cap="flat" cmpd="sng" w="9525">
            <a:solidFill>
              <a:srgbClr val="315A8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3" name="Google Shape;493;p15"/>
          <p:cNvSpPr txBox="1"/>
          <p:nvPr/>
        </p:nvSpPr>
        <p:spPr>
          <a:xfrm>
            <a:off x="4293108" y="3092039"/>
            <a:ext cx="107442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28.5k</a:t>
            </a:r>
            <a:endParaRPr/>
          </a:p>
        </p:txBody>
      </p:sp>
      <p:sp>
        <p:nvSpPr>
          <p:cNvPr id="494" name="Google Shape;494;p15"/>
          <p:cNvSpPr txBox="1"/>
          <p:nvPr/>
        </p:nvSpPr>
        <p:spPr>
          <a:xfrm>
            <a:off x="4311396" y="4023359"/>
            <a:ext cx="103784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E4</a:t>
            </a:r>
            <a:endParaRPr/>
          </a:p>
        </p:txBody>
      </p:sp>
      <p:sp>
        <p:nvSpPr>
          <p:cNvPr id="495" name="Google Shape;495;p15"/>
          <p:cNvSpPr/>
          <p:nvPr/>
        </p:nvSpPr>
        <p:spPr>
          <a:xfrm>
            <a:off x="6565392" y="3959352"/>
            <a:ext cx="4480560" cy="18288"/>
          </a:xfrm>
          <a:prstGeom prst="rect">
            <a:avLst/>
          </a:prstGeom>
          <a:solidFill>
            <a:srgbClr val="D8E0E8"/>
          </a:solidFill>
          <a:ln cap="flat" cmpd="sng" w="9525">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6" name="Google Shape;496;p15"/>
          <p:cNvSpPr/>
          <p:nvPr/>
        </p:nvSpPr>
        <p:spPr>
          <a:xfrm>
            <a:off x="6565392" y="2818601"/>
            <a:ext cx="1037844" cy="1140750"/>
          </a:xfrm>
          <a:prstGeom prst="rect">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7" name="Google Shape;497;p15"/>
          <p:cNvSpPr txBox="1"/>
          <p:nvPr/>
        </p:nvSpPr>
        <p:spPr>
          <a:xfrm>
            <a:off x="6547104" y="2580857"/>
            <a:ext cx="107442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168.8k</a:t>
            </a:r>
            <a:endParaRPr/>
          </a:p>
        </p:txBody>
      </p:sp>
      <p:sp>
        <p:nvSpPr>
          <p:cNvPr id="498" name="Google Shape;498;p15"/>
          <p:cNvSpPr txBox="1"/>
          <p:nvPr/>
        </p:nvSpPr>
        <p:spPr>
          <a:xfrm>
            <a:off x="6565392" y="4023359"/>
            <a:ext cx="103784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E1</a:t>
            </a:r>
            <a:endParaRPr/>
          </a:p>
        </p:txBody>
      </p:sp>
      <p:sp>
        <p:nvSpPr>
          <p:cNvPr id="499" name="Google Shape;499;p15"/>
          <p:cNvSpPr/>
          <p:nvPr/>
        </p:nvSpPr>
        <p:spPr>
          <a:xfrm>
            <a:off x="7712963" y="3558798"/>
            <a:ext cx="1037844" cy="400553"/>
          </a:xfrm>
          <a:prstGeom prst="rect">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0" name="Google Shape;500;p15"/>
          <p:cNvSpPr txBox="1"/>
          <p:nvPr/>
        </p:nvSpPr>
        <p:spPr>
          <a:xfrm>
            <a:off x="7694675" y="3321054"/>
            <a:ext cx="107442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59.3k</a:t>
            </a:r>
            <a:endParaRPr/>
          </a:p>
        </p:txBody>
      </p:sp>
      <p:sp>
        <p:nvSpPr>
          <p:cNvPr id="501" name="Google Shape;501;p15"/>
          <p:cNvSpPr txBox="1"/>
          <p:nvPr/>
        </p:nvSpPr>
        <p:spPr>
          <a:xfrm>
            <a:off x="7712963" y="4023359"/>
            <a:ext cx="103784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E2</a:t>
            </a:r>
            <a:endParaRPr/>
          </a:p>
        </p:txBody>
      </p:sp>
      <p:sp>
        <p:nvSpPr>
          <p:cNvPr id="502" name="Google Shape;502;p15"/>
          <p:cNvSpPr/>
          <p:nvPr/>
        </p:nvSpPr>
        <p:spPr>
          <a:xfrm>
            <a:off x="8860536" y="2818601"/>
            <a:ext cx="1037844" cy="1140750"/>
          </a:xfrm>
          <a:prstGeom prst="rect">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3" name="Google Shape;503;p15"/>
          <p:cNvSpPr txBox="1"/>
          <p:nvPr/>
        </p:nvSpPr>
        <p:spPr>
          <a:xfrm>
            <a:off x="8842248" y="2580857"/>
            <a:ext cx="107442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168.8k</a:t>
            </a:r>
            <a:endParaRPr/>
          </a:p>
        </p:txBody>
      </p:sp>
      <p:sp>
        <p:nvSpPr>
          <p:cNvPr id="504" name="Google Shape;504;p15"/>
          <p:cNvSpPr txBox="1"/>
          <p:nvPr/>
        </p:nvSpPr>
        <p:spPr>
          <a:xfrm>
            <a:off x="8860536" y="4023359"/>
            <a:ext cx="103784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E3</a:t>
            </a:r>
            <a:endParaRPr/>
          </a:p>
        </p:txBody>
      </p:sp>
      <p:sp>
        <p:nvSpPr>
          <p:cNvPr id="505" name="Google Shape;505;p15"/>
          <p:cNvSpPr/>
          <p:nvPr/>
        </p:nvSpPr>
        <p:spPr>
          <a:xfrm>
            <a:off x="10008108" y="3555231"/>
            <a:ext cx="1037844" cy="404120"/>
          </a:xfrm>
          <a:prstGeom prst="rect">
            <a:avLst/>
          </a:prstGeom>
          <a:solidFill>
            <a:srgbClr val="D7792D"/>
          </a:solidFill>
          <a:ln cap="flat" cmpd="sng" w="9525">
            <a:solidFill>
              <a:srgbClr val="D7792D"/>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6" name="Google Shape;506;p15"/>
          <p:cNvSpPr txBox="1"/>
          <p:nvPr/>
        </p:nvSpPr>
        <p:spPr>
          <a:xfrm>
            <a:off x="9989820" y="3317487"/>
            <a:ext cx="107442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60">
                <a:solidFill>
                  <a:srgbClr val="172033"/>
                </a:solidFill>
                <a:latin typeface="Arial"/>
                <a:ea typeface="Arial"/>
                <a:cs typeface="Arial"/>
                <a:sym typeface="Arial"/>
              </a:rPr>
              <a:t>59.8k</a:t>
            </a:r>
            <a:endParaRPr/>
          </a:p>
        </p:txBody>
      </p:sp>
      <p:sp>
        <p:nvSpPr>
          <p:cNvPr id="507" name="Google Shape;507;p15"/>
          <p:cNvSpPr txBox="1"/>
          <p:nvPr/>
        </p:nvSpPr>
        <p:spPr>
          <a:xfrm>
            <a:off x="10008108" y="4023359"/>
            <a:ext cx="1037844"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740">
                <a:solidFill>
                  <a:srgbClr val="5B6577"/>
                </a:solidFill>
                <a:latin typeface="Arial"/>
                <a:ea typeface="Arial"/>
                <a:cs typeface="Arial"/>
                <a:sym typeface="Arial"/>
              </a:rPr>
              <a:t>E4</a:t>
            </a:r>
            <a:endParaRPr/>
          </a:p>
        </p:txBody>
      </p:sp>
      <p:sp>
        <p:nvSpPr>
          <p:cNvPr id="508" name="Google Shape;508;p15"/>
          <p:cNvSpPr txBox="1"/>
          <p:nvPr/>
        </p:nvSpPr>
        <p:spPr>
          <a:xfrm>
            <a:off x="886968" y="2148840"/>
            <a:ext cx="1828800"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50">
                <a:solidFill>
                  <a:srgbClr val="5B6577"/>
                </a:solidFill>
                <a:latin typeface="Arial"/>
                <a:ea typeface="Arial"/>
                <a:cs typeface="Arial"/>
                <a:sym typeface="Arial"/>
              </a:rPr>
              <a:t>Optimizer updates</a:t>
            </a:r>
            <a:endParaRPr/>
          </a:p>
        </p:txBody>
      </p:sp>
      <p:sp>
        <p:nvSpPr>
          <p:cNvPr id="509" name="Google Shape;509;p15"/>
          <p:cNvSpPr txBox="1"/>
          <p:nvPr/>
        </p:nvSpPr>
        <p:spPr>
          <a:xfrm>
            <a:off x="6583680" y="2148840"/>
            <a:ext cx="1828800"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850">
                <a:solidFill>
                  <a:srgbClr val="5B6577"/>
                </a:solidFill>
                <a:latin typeface="Arial"/>
                <a:ea typeface="Arial"/>
                <a:cs typeface="Arial"/>
                <a:sym typeface="Arial"/>
              </a:rPr>
              <a:t>Optimizer updates</a:t>
            </a:r>
            <a:endParaRPr/>
          </a:p>
        </p:txBody>
      </p:sp>
      <p:sp>
        <p:nvSpPr>
          <p:cNvPr id="510" name="Google Shape;510;p15"/>
          <p:cNvSpPr/>
          <p:nvPr/>
        </p:nvSpPr>
        <p:spPr>
          <a:xfrm>
            <a:off x="804672" y="4325112"/>
            <a:ext cx="2084831" cy="822960"/>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1" name="Google Shape;511;p15"/>
          <p:cNvSpPr txBox="1"/>
          <p:nvPr/>
        </p:nvSpPr>
        <p:spPr>
          <a:xfrm>
            <a:off x="932688" y="4434840"/>
            <a:ext cx="1828799" cy="13716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40">
                <a:solidFill>
                  <a:srgbClr val="5B6577"/>
                </a:solidFill>
                <a:latin typeface="Arial"/>
                <a:ea typeface="Arial"/>
                <a:cs typeface="Arial"/>
                <a:sym typeface="Arial"/>
              </a:rPr>
              <a:t>E2 UPDATE REDUCTION</a:t>
            </a:r>
            <a:endParaRPr/>
          </a:p>
        </p:txBody>
      </p:sp>
      <p:sp>
        <p:nvSpPr>
          <p:cNvPr id="512" name="Google Shape;512;p15"/>
          <p:cNvSpPr txBox="1"/>
          <p:nvPr/>
        </p:nvSpPr>
        <p:spPr>
          <a:xfrm>
            <a:off x="932688" y="4599432"/>
            <a:ext cx="1828799" cy="28346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800">
                <a:solidFill>
                  <a:srgbClr val="315A8A"/>
                </a:solidFill>
                <a:latin typeface="Play"/>
                <a:ea typeface="Play"/>
                <a:cs typeface="Play"/>
                <a:sym typeface="Play"/>
              </a:rPr>
              <a:t>42.7%</a:t>
            </a:r>
            <a:endParaRPr/>
          </a:p>
        </p:txBody>
      </p:sp>
      <p:sp>
        <p:nvSpPr>
          <p:cNvPr id="513" name="Google Shape;513;p15"/>
          <p:cNvSpPr txBox="1"/>
          <p:nvPr/>
        </p:nvSpPr>
        <p:spPr>
          <a:xfrm>
            <a:off x="932688" y="4919472"/>
            <a:ext cx="1828799" cy="12801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10">
                <a:solidFill>
                  <a:srgbClr val="5B6577"/>
                </a:solidFill>
                <a:latin typeface="Arial"/>
                <a:ea typeface="Arial"/>
                <a:cs typeface="Arial"/>
                <a:sym typeface="Arial"/>
              </a:rPr>
              <a:t>vs E1</a:t>
            </a:r>
            <a:endParaRPr/>
          </a:p>
        </p:txBody>
      </p:sp>
      <p:sp>
        <p:nvSpPr>
          <p:cNvPr id="514" name="Google Shape;514;p15"/>
          <p:cNvSpPr/>
          <p:nvPr/>
        </p:nvSpPr>
        <p:spPr>
          <a:xfrm>
            <a:off x="3127248" y="4325112"/>
            <a:ext cx="2084831" cy="822960"/>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5" name="Google Shape;515;p15"/>
          <p:cNvSpPr txBox="1"/>
          <p:nvPr/>
        </p:nvSpPr>
        <p:spPr>
          <a:xfrm>
            <a:off x="3255264" y="4434840"/>
            <a:ext cx="1828799" cy="13716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40">
                <a:solidFill>
                  <a:srgbClr val="5B6577"/>
                </a:solidFill>
                <a:latin typeface="Arial"/>
                <a:ea typeface="Arial"/>
                <a:cs typeface="Arial"/>
                <a:sym typeface="Arial"/>
              </a:rPr>
              <a:t>E4 UPDATE REDUCTION</a:t>
            </a:r>
            <a:endParaRPr/>
          </a:p>
        </p:txBody>
      </p:sp>
      <p:sp>
        <p:nvSpPr>
          <p:cNvPr id="516" name="Google Shape;516;p15"/>
          <p:cNvSpPr txBox="1"/>
          <p:nvPr/>
        </p:nvSpPr>
        <p:spPr>
          <a:xfrm>
            <a:off x="3255264" y="4599432"/>
            <a:ext cx="1828799" cy="28346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800">
                <a:solidFill>
                  <a:srgbClr val="315A8A"/>
                </a:solidFill>
                <a:latin typeface="Play"/>
                <a:ea typeface="Play"/>
                <a:cs typeface="Play"/>
                <a:sym typeface="Play"/>
              </a:rPr>
              <a:t>43.1%</a:t>
            </a:r>
            <a:endParaRPr/>
          </a:p>
        </p:txBody>
      </p:sp>
      <p:sp>
        <p:nvSpPr>
          <p:cNvPr id="517" name="Google Shape;517;p15"/>
          <p:cNvSpPr txBox="1"/>
          <p:nvPr/>
        </p:nvSpPr>
        <p:spPr>
          <a:xfrm>
            <a:off x="3255264" y="4919472"/>
            <a:ext cx="1828799" cy="12801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10">
                <a:solidFill>
                  <a:srgbClr val="5B6577"/>
                </a:solidFill>
                <a:latin typeface="Arial"/>
                <a:ea typeface="Arial"/>
                <a:cs typeface="Arial"/>
                <a:sym typeface="Arial"/>
              </a:rPr>
              <a:t>vs E1</a:t>
            </a:r>
            <a:endParaRPr/>
          </a:p>
        </p:txBody>
      </p:sp>
      <p:sp>
        <p:nvSpPr>
          <p:cNvPr id="518" name="Google Shape;518;p15"/>
          <p:cNvSpPr/>
          <p:nvPr/>
        </p:nvSpPr>
        <p:spPr>
          <a:xfrm>
            <a:off x="6510528" y="4325112"/>
            <a:ext cx="2084831" cy="822960"/>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9" name="Google Shape;519;p15"/>
          <p:cNvSpPr txBox="1"/>
          <p:nvPr/>
        </p:nvSpPr>
        <p:spPr>
          <a:xfrm>
            <a:off x="6638544" y="4434840"/>
            <a:ext cx="1828799" cy="13716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40">
                <a:solidFill>
                  <a:srgbClr val="5B6577"/>
                </a:solidFill>
                <a:latin typeface="Arial"/>
                <a:ea typeface="Arial"/>
                <a:cs typeface="Arial"/>
                <a:sym typeface="Arial"/>
              </a:rPr>
              <a:t>E2 UPDATE REDUCTION</a:t>
            </a:r>
            <a:endParaRPr/>
          </a:p>
        </p:txBody>
      </p:sp>
      <p:sp>
        <p:nvSpPr>
          <p:cNvPr id="520" name="Google Shape;520;p15"/>
          <p:cNvSpPr txBox="1"/>
          <p:nvPr/>
        </p:nvSpPr>
        <p:spPr>
          <a:xfrm>
            <a:off x="6638544" y="4599432"/>
            <a:ext cx="1828799" cy="28346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800">
                <a:solidFill>
                  <a:srgbClr val="D7792D"/>
                </a:solidFill>
                <a:latin typeface="Play"/>
                <a:ea typeface="Play"/>
                <a:cs typeface="Play"/>
                <a:sym typeface="Play"/>
              </a:rPr>
              <a:t>64.9%</a:t>
            </a:r>
            <a:endParaRPr/>
          </a:p>
        </p:txBody>
      </p:sp>
      <p:sp>
        <p:nvSpPr>
          <p:cNvPr id="521" name="Google Shape;521;p15"/>
          <p:cNvSpPr txBox="1"/>
          <p:nvPr/>
        </p:nvSpPr>
        <p:spPr>
          <a:xfrm>
            <a:off x="6638544" y="4919472"/>
            <a:ext cx="1828799" cy="12801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10">
                <a:solidFill>
                  <a:srgbClr val="5B6577"/>
                </a:solidFill>
                <a:latin typeface="Arial"/>
                <a:ea typeface="Arial"/>
                <a:cs typeface="Arial"/>
                <a:sym typeface="Arial"/>
              </a:rPr>
              <a:t>vs E1</a:t>
            </a:r>
            <a:endParaRPr/>
          </a:p>
        </p:txBody>
      </p:sp>
      <p:sp>
        <p:nvSpPr>
          <p:cNvPr id="522" name="Google Shape;522;p15"/>
          <p:cNvSpPr/>
          <p:nvPr/>
        </p:nvSpPr>
        <p:spPr>
          <a:xfrm>
            <a:off x="8833104" y="4325112"/>
            <a:ext cx="2084831" cy="822960"/>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3" name="Google Shape;523;p15"/>
          <p:cNvSpPr txBox="1"/>
          <p:nvPr/>
        </p:nvSpPr>
        <p:spPr>
          <a:xfrm>
            <a:off x="8961120" y="4434840"/>
            <a:ext cx="1828799" cy="13716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40">
                <a:solidFill>
                  <a:srgbClr val="5B6577"/>
                </a:solidFill>
                <a:latin typeface="Arial"/>
                <a:ea typeface="Arial"/>
                <a:cs typeface="Arial"/>
                <a:sym typeface="Arial"/>
              </a:rPr>
              <a:t>E4 UPDATE REDUCTION</a:t>
            </a:r>
            <a:endParaRPr/>
          </a:p>
        </p:txBody>
      </p:sp>
      <p:sp>
        <p:nvSpPr>
          <p:cNvPr id="524" name="Google Shape;524;p15"/>
          <p:cNvSpPr txBox="1"/>
          <p:nvPr/>
        </p:nvSpPr>
        <p:spPr>
          <a:xfrm>
            <a:off x="8961120" y="4599432"/>
            <a:ext cx="1828799" cy="283464"/>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800">
                <a:solidFill>
                  <a:srgbClr val="D7792D"/>
                </a:solidFill>
                <a:latin typeface="Play"/>
                <a:ea typeface="Play"/>
                <a:cs typeface="Play"/>
                <a:sym typeface="Play"/>
              </a:rPr>
              <a:t>64.6%</a:t>
            </a:r>
            <a:endParaRPr/>
          </a:p>
        </p:txBody>
      </p:sp>
      <p:sp>
        <p:nvSpPr>
          <p:cNvPr id="525" name="Google Shape;525;p15"/>
          <p:cNvSpPr txBox="1"/>
          <p:nvPr/>
        </p:nvSpPr>
        <p:spPr>
          <a:xfrm>
            <a:off x="8961120" y="4919472"/>
            <a:ext cx="1828799" cy="12801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10">
                <a:solidFill>
                  <a:srgbClr val="5B6577"/>
                </a:solidFill>
                <a:latin typeface="Arial"/>
                <a:ea typeface="Arial"/>
                <a:cs typeface="Arial"/>
                <a:sym typeface="Arial"/>
              </a:rPr>
              <a:t>vs E1</a:t>
            </a:r>
            <a:endParaRPr/>
          </a:p>
        </p:txBody>
      </p:sp>
      <p:sp>
        <p:nvSpPr>
          <p:cNvPr id="526" name="Google Shape;526;p15"/>
          <p:cNvSpPr txBox="1"/>
          <p:nvPr/>
        </p:nvSpPr>
        <p:spPr>
          <a:xfrm>
            <a:off x="868680" y="5376672"/>
            <a:ext cx="4480560"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80">
                <a:solidFill>
                  <a:srgbClr val="5B6577"/>
                </a:solidFill>
                <a:latin typeface="Arial"/>
                <a:ea typeface="Arial"/>
                <a:cs typeface="Arial"/>
                <a:sym typeface="Arial"/>
              </a:rPr>
              <a:t>Total training time (E1 / E2 / E3 / E4)</a:t>
            </a:r>
            <a:endParaRPr/>
          </a:p>
        </p:txBody>
      </p:sp>
      <p:sp>
        <p:nvSpPr>
          <p:cNvPr id="527" name="Google Shape;527;p15"/>
          <p:cNvSpPr txBox="1"/>
          <p:nvPr/>
        </p:nvSpPr>
        <p:spPr>
          <a:xfrm>
            <a:off x="868680" y="5596128"/>
            <a:ext cx="4480560" cy="192024"/>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30">
                <a:solidFill>
                  <a:srgbClr val="172033"/>
                </a:solidFill>
                <a:latin typeface="Arial"/>
                <a:ea typeface="Arial"/>
                <a:cs typeface="Arial"/>
                <a:sym typeface="Arial"/>
              </a:rPr>
              <a:t>432.8 / 398.7 / 432.1 / 401.1 s</a:t>
            </a:r>
            <a:endParaRPr/>
          </a:p>
        </p:txBody>
      </p:sp>
      <p:sp>
        <p:nvSpPr>
          <p:cNvPr id="528" name="Google Shape;528;p15"/>
          <p:cNvSpPr txBox="1"/>
          <p:nvPr/>
        </p:nvSpPr>
        <p:spPr>
          <a:xfrm>
            <a:off x="6565392" y="5376672"/>
            <a:ext cx="4480560"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780">
                <a:solidFill>
                  <a:srgbClr val="5B6577"/>
                </a:solidFill>
                <a:latin typeface="Arial"/>
                <a:ea typeface="Arial"/>
                <a:cs typeface="Arial"/>
                <a:sym typeface="Arial"/>
              </a:rPr>
              <a:t>Total training time (E1 / E2 / E3 / E4)</a:t>
            </a:r>
            <a:endParaRPr/>
          </a:p>
        </p:txBody>
      </p:sp>
      <p:sp>
        <p:nvSpPr>
          <p:cNvPr id="529" name="Google Shape;529;p15"/>
          <p:cNvSpPr txBox="1"/>
          <p:nvPr/>
        </p:nvSpPr>
        <p:spPr>
          <a:xfrm>
            <a:off x="6565392" y="5596128"/>
            <a:ext cx="4480560" cy="192024"/>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30">
                <a:solidFill>
                  <a:srgbClr val="172033"/>
                </a:solidFill>
                <a:latin typeface="Arial"/>
                <a:ea typeface="Arial"/>
                <a:cs typeface="Arial"/>
                <a:sym typeface="Arial"/>
              </a:rPr>
              <a:t>1407.5 / 1179.8 / 1343.5 / 1185.5 s</a:t>
            </a:r>
            <a:endParaRPr/>
          </a:p>
        </p:txBody>
      </p:sp>
      <p:sp>
        <p:nvSpPr>
          <p:cNvPr id="530" name="Google Shape;530;p15"/>
          <p:cNvSpPr txBox="1"/>
          <p:nvPr/>
        </p:nvSpPr>
        <p:spPr>
          <a:xfrm>
            <a:off x="914400" y="5980176"/>
            <a:ext cx="10241280" cy="16459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850">
                <a:solidFill>
                  <a:srgbClr val="0F8B8D"/>
                </a:solidFill>
                <a:latin typeface="Arial"/>
                <a:ea typeface="Arial"/>
                <a:cs typeface="Arial"/>
                <a:sym typeface="Arial"/>
              </a:rPr>
              <a:t>Adaptive batch lowers updates on both datasets — much more strongly in the longer CIFAR-100 run.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16"/>
          <p:cNvSpPr txBox="1"/>
          <p:nvPr/>
        </p:nvSpPr>
        <p:spPr>
          <a:xfrm>
            <a:off x="566928" y="347472"/>
            <a:ext cx="10789920" cy="4114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2400">
                <a:solidFill>
                  <a:srgbClr val="172033"/>
                </a:solidFill>
                <a:latin typeface="Play"/>
                <a:ea typeface="Play"/>
                <a:cs typeface="Play"/>
                <a:sym typeface="Play"/>
              </a:rPr>
              <a:t>Results summary — what the figures tell us</a:t>
            </a:r>
            <a:endParaRPr/>
          </a:p>
        </p:txBody>
      </p:sp>
      <p:sp>
        <p:nvSpPr>
          <p:cNvPr id="537" name="Google Shape;537;p16"/>
          <p:cNvSpPr txBox="1"/>
          <p:nvPr/>
        </p:nvSpPr>
        <p:spPr>
          <a:xfrm>
            <a:off x="585216" y="832104"/>
            <a:ext cx="10744200" cy="30175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1050">
                <a:solidFill>
                  <a:srgbClr val="5B6577"/>
                </a:solidFill>
                <a:latin typeface="Arial"/>
                <a:ea typeface="Arial"/>
                <a:cs typeface="Arial"/>
                <a:sym typeface="Arial"/>
              </a:rPr>
              <a:t>The main findings, before exploring the controller behavior and performance figures in the live demo.</a:t>
            </a:r>
            <a:endParaRPr/>
          </a:p>
        </p:txBody>
      </p:sp>
      <p:sp>
        <p:nvSpPr>
          <p:cNvPr id="538" name="Google Shape;538;p16"/>
          <p:cNvSpPr/>
          <p:nvPr/>
        </p:nvSpPr>
        <p:spPr>
          <a:xfrm>
            <a:off x="585216" y="1225296"/>
            <a:ext cx="1417320" cy="256032"/>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9" name="Google Shape;539;p16"/>
          <p:cNvSpPr txBox="1"/>
          <p:nvPr/>
        </p:nvSpPr>
        <p:spPr>
          <a:xfrm>
            <a:off x="667512" y="1271016"/>
            <a:ext cx="1234440" cy="12801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760">
                <a:solidFill>
                  <a:srgbClr val="0F8B8D"/>
                </a:solidFill>
                <a:latin typeface="Arial"/>
                <a:ea typeface="Arial"/>
                <a:cs typeface="Arial"/>
                <a:sym typeface="Arial"/>
              </a:rPr>
              <a:t>KEY TAKEAWAYS</a:t>
            </a:r>
            <a:endParaRPr/>
          </a:p>
        </p:txBody>
      </p:sp>
      <p:sp>
        <p:nvSpPr>
          <p:cNvPr id="540" name="Google Shape;540;p16"/>
          <p:cNvSpPr txBox="1"/>
          <p:nvPr/>
        </p:nvSpPr>
        <p:spPr>
          <a:xfrm>
            <a:off x="11384280" y="6446520"/>
            <a:ext cx="320040" cy="1828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lang="en-US" sz="800">
                <a:solidFill>
                  <a:srgbClr val="5B6577"/>
                </a:solidFill>
                <a:latin typeface="Arial"/>
                <a:ea typeface="Arial"/>
                <a:cs typeface="Arial"/>
                <a:sym typeface="Arial"/>
              </a:rPr>
              <a:t>13</a:t>
            </a:r>
            <a:endParaRPr/>
          </a:p>
        </p:txBody>
      </p:sp>
      <p:sp>
        <p:nvSpPr>
          <p:cNvPr id="541" name="Google Shape;541;p16"/>
          <p:cNvSpPr/>
          <p:nvPr/>
        </p:nvSpPr>
        <p:spPr>
          <a:xfrm>
            <a:off x="6044184" y="1527048"/>
            <a:ext cx="18288" cy="4553712"/>
          </a:xfrm>
          <a:prstGeom prst="rect">
            <a:avLst/>
          </a:prstGeom>
          <a:solidFill>
            <a:srgbClr val="D8E0E8"/>
          </a:solidFill>
          <a:ln cap="flat" cmpd="sng" w="9525">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2" name="Google Shape;542;p16"/>
          <p:cNvSpPr/>
          <p:nvPr/>
        </p:nvSpPr>
        <p:spPr>
          <a:xfrm>
            <a:off x="576072" y="1572768"/>
            <a:ext cx="5230368" cy="475488"/>
          </a:xfrm>
          <a:prstGeom prst="roundRect">
            <a:avLst>
              <a:gd fmla="val 8000" name="adj"/>
            </a:avLst>
          </a:prstGeom>
          <a:solidFill>
            <a:srgbClr val="EEF4FA"/>
          </a:solidFill>
          <a:ln cap="flat" cmpd="sng" w="12700">
            <a:solidFill>
              <a:srgbClr val="EEF4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3" name="Google Shape;543;p16"/>
          <p:cNvSpPr/>
          <p:nvPr/>
        </p:nvSpPr>
        <p:spPr>
          <a:xfrm>
            <a:off x="6300216" y="1572768"/>
            <a:ext cx="5285232" cy="475488"/>
          </a:xfrm>
          <a:prstGeom prst="roundRect">
            <a:avLst>
              <a:gd fmla="val 8000" name="adj"/>
            </a:avLst>
          </a:prstGeom>
          <a:solidFill>
            <a:srgbClr val="FCF4EB"/>
          </a:solidFill>
          <a:ln cap="flat" cmpd="sng" w="12700">
            <a:solidFill>
              <a:srgbClr val="FCF4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4" name="Google Shape;544;p16"/>
          <p:cNvSpPr txBox="1"/>
          <p:nvPr/>
        </p:nvSpPr>
        <p:spPr>
          <a:xfrm>
            <a:off x="749808" y="1664208"/>
            <a:ext cx="164592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700">
                <a:solidFill>
                  <a:srgbClr val="315A8A"/>
                </a:solidFill>
                <a:latin typeface="Arial"/>
                <a:ea typeface="Arial"/>
                <a:cs typeface="Arial"/>
                <a:sym typeface="Arial"/>
              </a:rPr>
              <a:t>CIFAR-10</a:t>
            </a:r>
            <a:endParaRPr/>
          </a:p>
        </p:txBody>
      </p:sp>
      <p:sp>
        <p:nvSpPr>
          <p:cNvPr id="545" name="Google Shape;545;p16"/>
          <p:cNvSpPr txBox="1"/>
          <p:nvPr/>
        </p:nvSpPr>
        <p:spPr>
          <a:xfrm>
            <a:off x="2176272" y="1691640"/>
            <a:ext cx="3429000" cy="164592"/>
          </a:xfrm>
          <a:prstGeom prst="rect">
            <a:avLst/>
          </a:prstGeom>
          <a:noFill/>
          <a:ln>
            <a:noFill/>
          </a:ln>
        </p:spPr>
        <p:txBody>
          <a:bodyPr anchorCtr="0" anchor="t" bIns="36575" lIns="36575" spcFirstLastPara="1" rIns="36575" wrap="square" tIns="36575">
            <a:spAutoFit/>
          </a:bodyPr>
          <a:lstStyle/>
          <a:p>
            <a:pPr indent="0" lvl="0" marL="0" marR="0" rtl="0" algn="r">
              <a:spcBef>
                <a:spcPts val="0"/>
              </a:spcBef>
              <a:spcAft>
                <a:spcPts val="0"/>
              </a:spcAft>
              <a:buNone/>
            </a:pPr>
            <a:r>
              <a:rPr b="0" lang="en-US" sz="869">
                <a:solidFill>
                  <a:srgbClr val="5B6577"/>
                </a:solidFill>
                <a:latin typeface="Arial"/>
                <a:ea typeface="Arial"/>
                <a:cs typeface="Arial"/>
                <a:sym typeface="Arial"/>
              </a:rPr>
              <a:t>80 epochs</a:t>
            </a:r>
            <a:endParaRPr/>
          </a:p>
        </p:txBody>
      </p:sp>
      <p:sp>
        <p:nvSpPr>
          <p:cNvPr id="546" name="Google Shape;546;p16"/>
          <p:cNvSpPr txBox="1"/>
          <p:nvPr/>
        </p:nvSpPr>
        <p:spPr>
          <a:xfrm>
            <a:off x="6473952" y="1664208"/>
            <a:ext cx="1828800"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700">
                <a:solidFill>
                  <a:srgbClr val="D7792D"/>
                </a:solidFill>
                <a:latin typeface="Arial"/>
                <a:ea typeface="Arial"/>
                <a:cs typeface="Arial"/>
                <a:sym typeface="Arial"/>
              </a:rPr>
              <a:t>CIFAR-100</a:t>
            </a:r>
            <a:endParaRPr/>
          </a:p>
        </p:txBody>
      </p:sp>
      <p:sp>
        <p:nvSpPr>
          <p:cNvPr id="547" name="Google Shape;547;p16"/>
          <p:cNvSpPr txBox="1"/>
          <p:nvPr/>
        </p:nvSpPr>
        <p:spPr>
          <a:xfrm>
            <a:off x="8275320" y="1691640"/>
            <a:ext cx="3054096" cy="164592"/>
          </a:xfrm>
          <a:prstGeom prst="rect">
            <a:avLst/>
          </a:prstGeom>
          <a:noFill/>
          <a:ln>
            <a:noFill/>
          </a:ln>
        </p:spPr>
        <p:txBody>
          <a:bodyPr anchorCtr="0" anchor="t" bIns="36575" lIns="36575" spcFirstLastPara="1" rIns="36575" wrap="square" tIns="36575">
            <a:spAutoFit/>
          </a:bodyPr>
          <a:lstStyle/>
          <a:p>
            <a:pPr indent="0" lvl="0" marL="0" marR="0" rtl="0" algn="r">
              <a:spcBef>
                <a:spcPts val="0"/>
              </a:spcBef>
              <a:spcAft>
                <a:spcPts val="0"/>
              </a:spcAft>
              <a:buNone/>
            </a:pPr>
            <a:r>
              <a:rPr b="0" lang="en-US" sz="869">
                <a:solidFill>
                  <a:srgbClr val="5B6577"/>
                </a:solidFill>
                <a:latin typeface="Arial"/>
                <a:ea typeface="Arial"/>
                <a:cs typeface="Arial"/>
                <a:sym typeface="Arial"/>
              </a:rPr>
              <a:t>120 epochs</a:t>
            </a:r>
            <a:endParaRPr/>
          </a:p>
        </p:txBody>
      </p:sp>
      <p:sp>
        <p:nvSpPr>
          <p:cNvPr id="548" name="Google Shape;548;p16"/>
          <p:cNvSpPr/>
          <p:nvPr/>
        </p:nvSpPr>
        <p:spPr>
          <a:xfrm>
            <a:off x="749808" y="2249424"/>
            <a:ext cx="4736592" cy="987552"/>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9" name="Google Shape;549;p16"/>
          <p:cNvSpPr txBox="1"/>
          <p:nvPr/>
        </p:nvSpPr>
        <p:spPr>
          <a:xfrm>
            <a:off x="896112" y="2377440"/>
            <a:ext cx="4407408" cy="17373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969">
                <a:solidFill>
                  <a:srgbClr val="315A8A"/>
                </a:solidFill>
                <a:latin typeface="Arial"/>
                <a:ea typeface="Arial"/>
                <a:cs typeface="Arial"/>
                <a:sym typeface="Arial"/>
              </a:rPr>
              <a:t>Highest accuracy: E3 (adaptive LR)</a:t>
            </a:r>
            <a:endParaRPr/>
          </a:p>
        </p:txBody>
      </p:sp>
      <p:sp>
        <p:nvSpPr>
          <p:cNvPr id="550" name="Google Shape;550;p16"/>
          <p:cNvSpPr txBox="1"/>
          <p:nvPr/>
        </p:nvSpPr>
        <p:spPr>
          <a:xfrm>
            <a:off x="896112" y="2633472"/>
            <a:ext cx="4407408"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40">
                <a:solidFill>
                  <a:srgbClr val="172033"/>
                </a:solidFill>
                <a:latin typeface="Arial"/>
                <a:ea typeface="Arial"/>
                <a:cs typeface="Arial"/>
                <a:sym typeface="Arial"/>
              </a:rPr>
              <a:t>86.34% selected validation accuracy.</a:t>
            </a:r>
            <a:endParaRPr/>
          </a:p>
        </p:txBody>
      </p:sp>
      <p:sp>
        <p:nvSpPr>
          <p:cNvPr id="551" name="Google Shape;551;p16"/>
          <p:cNvSpPr txBox="1"/>
          <p:nvPr/>
        </p:nvSpPr>
        <p:spPr>
          <a:xfrm>
            <a:off x="896112" y="2907791"/>
            <a:ext cx="4407408"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15">
                <a:solidFill>
                  <a:srgbClr val="5B6577"/>
                </a:solidFill>
                <a:latin typeface="Arial"/>
                <a:ea typeface="Arial"/>
                <a:cs typeface="Arial"/>
                <a:sym typeface="Arial"/>
              </a:rPr>
              <a:t>Accuracy leader, but no update reduction vs E1.</a:t>
            </a:r>
            <a:endParaRPr/>
          </a:p>
        </p:txBody>
      </p:sp>
      <p:sp>
        <p:nvSpPr>
          <p:cNvPr id="552" name="Google Shape;552;p16"/>
          <p:cNvSpPr/>
          <p:nvPr/>
        </p:nvSpPr>
        <p:spPr>
          <a:xfrm>
            <a:off x="749808" y="3429000"/>
            <a:ext cx="4736592" cy="987552"/>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3" name="Google Shape;553;p16"/>
          <p:cNvSpPr txBox="1"/>
          <p:nvPr/>
        </p:nvSpPr>
        <p:spPr>
          <a:xfrm>
            <a:off x="896112" y="3557016"/>
            <a:ext cx="4407408" cy="17373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969">
                <a:solidFill>
                  <a:srgbClr val="315A8A"/>
                </a:solidFill>
                <a:latin typeface="Arial"/>
                <a:ea typeface="Arial"/>
                <a:cs typeface="Arial"/>
                <a:sym typeface="Arial"/>
              </a:rPr>
              <a:t>Best efficiency tradeoff: E2</a:t>
            </a:r>
            <a:endParaRPr/>
          </a:p>
        </p:txBody>
      </p:sp>
      <p:sp>
        <p:nvSpPr>
          <p:cNvPr id="554" name="Google Shape;554;p16"/>
          <p:cNvSpPr txBox="1"/>
          <p:nvPr/>
        </p:nvSpPr>
        <p:spPr>
          <a:xfrm>
            <a:off x="896112" y="3813048"/>
            <a:ext cx="4407408"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10">
                <a:solidFill>
                  <a:srgbClr val="172033"/>
                </a:solidFill>
                <a:latin typeface="Arial"/>
                <a:ea typeface="Arial"/>
                <a:cs typeface="Arial"/>
                <a:sym typeface="Arial"/>
              </a:rPr>
              <a:t>85.02% accuracy with 42.7% fewer updates vs E1.</a:t>
            </a:r>
            <a:endParaRPr/>
          </a:p>
        </p:txBody>
      </p:sp>
      <p:sp>
        <p:nvSpPr>
          <p:cNvPr id="555" name="Google Shape;555;p16"/>
          <p:cNvSpPr txBox="1"/>
          <p:nvPr/>
        </p:nvSpPr>
        <p:spPr>
          <a:xfrm>
            <a:off x="896112" y="4087368"/>
            <a:ext cx="4407408"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15">
                <a:solidFill>
                  <a:srgbClr val="5B6577"/>
                </a:solidFill>
                <a:latin typeface="Arial"/>
                <a:ea typeface="Arial"/>
                <a:cs typeface="Arial"/>
                <a:sym typeface="Arial"/>
              </a:rPr>
              <a:t>Adaptive batch saves optimizer work.</a:t>
            </a:r>
            <a:endParaRPr/>
          </a:p>
        </p:txBody>
      </p:sp>
      <p:sp>
        <p:nvSpPr>
          <p:cNvPr id="556" name="Google Shape;556;p16"/>
          <p:cNvSpPr/>
          <p:nvPr/>
        </p:nvSpPr>
        <p:spPr>
          <a:xfrm>
            <a:off x="749808" y="4608576"/>
            <a:ext cx="4736592" cy="987552"/>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7" name="Google Shape;557;p16"/>
          <p:cNvSpPr txBox="1"/>
          <p:nvPr/>
        </p:nvSpPr>
        <p:spPr>
          <a:xfrm>
            <a:off x="896112" y="4736592"/>
            <a:ext cx="4407408" cy="17373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969">
                <a:solidFill>
                  <a:srgbClr val="315A8A"/>
                </a:solidFill>
                <a:latin typeface="Arial"/>
                <a:ea typeface="Arial"/>
                <a:cs typeface="Arial"/>
                <a:sym typeface="Arial"/>
              </a:rPr>
              <a:t>Joint adaptation is not always best</a:t>
            </a:r>
            <a:endParaRPr/>
          </a:p>
        </p:txBody>
      </p:sp>
      <p:sp>
        <p:nvSpPr>
          <p:cNvPr id="558" name="Google Shape;558;p16"/>
          <p:cNvSpPr txBox="1"/>
          <p:nvPr/>
        </p:nvSpPr>
        <p:spPr>
          <a:xfrm>
            <a:off x="896112" y="4992624"/>
            <a:ext cx="4407408"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10">
                <a:solidFill>
                  <a:srgbClr val="172033"/>
                </a:solidFill>
                <a:latin typeface="Arial"/>
                <a:ea typeface="Arial"/>
                <a:cs typeface="Arial"/>
                <a:sym typeface="Arial"/>
              </a:rPr>
              <a:t>E4: 83.96% accuracy and 43.1% fewer updates.</a:t>
            </a:r>
            <a:endParaRPr/>
          </a:p>
        </p:txBody>
      </p:sp>
      <p:sp>
        <p:nvSpPr>
          <p:cNvPr id="559" name="Google Shape;559;p16"/>
          <p:cNvSpPr txBox="1"/>
          <p:nvPr/>
        </p:nvSpPr>
        <p:spPr>
          <a:xfrm>
            <a:off x="896112" y="5266944"/>
            <a:ext cx="4407408"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15">
                <a:solidFill>
                  <a:srgbClr val="5B6577"/>
                </a:solidFill>
                <a:latin typeface="Arial"/>
                <a:ea typeface="Arial"/>
                <a:cs typeface="Arial"/>
                <a:sym typeface="Arial"/>
              </a:rPr>
              <a:t>E4 trails E2 and E3 in selected accuracy.</a:t>
            </a:r>
            <a:endParaRPr/>
          </a:p>
        </p:txBody>
      </p:sp>
      <p:sp>
        <p:nvSpPr>
          <p:cNvPr id="560" name="Google Shape;560;p16"/>
          <p:cNvSpPr/>
          <p:nvPr/>
        </p:nvSpPr>
        <p:spPr>
          <a:xfrm>
            <a:off x="6455664" y="2249424"/>
            <a:ext cx="4736592" cy="987552"/>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1" name="Google Shape;561;p16"/>
          <p:cNvSpPr txBox="1"/>
          <p:nvPr/>
        </p:nvSpPr>
        <p:spPr>
          <a:xfrm>
            <a:off x="6601968" y="2377440"/>
            <a:ext cx="4407408" cy="17373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969">
                <a:solidFill>
                  <a:srgbClr val="D7792D"/>
                </a:solidFill>
                <a:latin typeface="Arial"/>
                <a:ea typeface="Arial"/>
                <a:cs typeface="Arial"/>
                <a:sym typeface="Arial"/>
              </a:rPr>
              <a:t>Highest accuracy: E4 (joint control)</a:t>
            </a:r>
            <a:endParaRPr/>
          </a:p>
        </p:txBody>
      </p:sp>
      <p:sp>
        <p:nvSpPr>
          <p:cNvPr id="562" name="Google Shape;562;p16"/>
          <p:cNvSpPr txBox="1"/>
          <p:nvPr/>
        </p:nvSpPr>
        <p:spPr>
          <a:xfrm>
            <a:off x="6601968" y="2633472"/>
            <a:ext cx="4407408"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40">
                <a:solidFill>
                  <a:srgbClr val="172033"/>
                </a:solidFill>
                <a:latin typeface="Arial"/>
                <a:ea typeface="Arial"/>
                <a:cs typeface="Arial"/>
                <a:sym typeface="Arial"/>
              </a:rPr>
              <a:t>65.02% selected validation accuracy.</a:t>
            </a:r>
            <a:endParaRPr/>
          </a:p>
        </p:txBody>
      </p:sp>
      <p:sp>
        <p:nvSpPr>
          <p:cNvPr id="563" name="Google Shape;563;p16"/>
          <p:cNvSpPr txBox="1"/>
          <p:nvPr/>
        </p:nvSpPr>
        <p:spPr>
          <a:xfrm>
            <a:off x="6601968" y="2907791"/>
            <a:ext cx="4407408"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15">
                <a:solidFill>
                  <a:srgbClr val="5B6577"/>
                </a:solidFill>
                <a:latin typeface="Arial"/>
                <a:ea typeface="Arial"/>
                <a:cs typeface="Arial"/>
                <a:sym typeface="Arial"/>
              </a:rPr>
              <a:t>Just 0.14–0.18 pp above E3 / E2.</a:t>
            </a:r>
            <a:endParaRPr/>
          </a:p>
        </p:txBody>
      </p:sp>
      <p:sp>
        <p:nvSpPr>
          <p:cNvPr id="564" name="Google Shape;564;p16"/>
          <p:cNvSpPr/>
          <p:nvPr/>
        </p:nvSpPr>
        <p:spPr>
          <a:xfrm>
            <a:off x="6455664" y="3429000"/>
            <a:ext cx="4736592" cy="987552"/>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5" name="Google Shape;565;p16"/>
          <p:cNvSpPr txBox="1"/>
          <p:nvPr/>
        </p:nvSpPr>
        <p:spPr>
          <a:xfrm>
            <a:off x="6601968" y="3557016"/>
            <a:ext cx="4407408" cy="17373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969">
                <a:solidFill>
                  <a:srgbClr val="D7792D"/>
                </a:solidFill>
                <a:latin typeface="Arial"/>
                <a:ea typeface="Arial"/>
                <a:cs typeface="Arial"/>
                <a:sym typeface="Arial"/>
              </a:rPr>
              <a:t>Adaptive batch saves more updates</a:t>
            </a:r>
            <a:endParaRPr/>
          </a:p>
        </p:txBody>
      </p:sp>
      <p:sp>
        <p:nvSpPr>
          <p:cNvPr id="566" name="Google Shape;566;p16"/>
          <p:cNvSpPr txBox="1"/>
          <p:nvPr/>
        </p:nvSpPr>
        <p:spPr>
          <a:xfrm>
            <a:off x="6601968" y="3813048"/>
            <a:ext cx="4407408"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10">
                <a:solidFill>
                  <a:srgbClr val="172033"/>
                </a:solidFill>
                <a:latin typeface="Arial"/>
                <a:ea typeface="Arial"/>
                <a:cs typeface="Arial"/>
                <a:sym typeface="Arial"/>
              </a:rPr>
              <a:t>E2 and E4 reduce updates by about 65% vs E1.</a:t>
            </a:r>
            <a:endParaRPr/>
          </a:p>
        </p:txBody>
      </p:sp>
      <p:sp>
        <p:nvSpPr>
          <p:cNvPr id="567" name="Google Shape;567;p16"/>
          <p:cNvSpPr txBox="1"/>
          <p:nvPr/>
        </p:nvSpPr>
        <p:spPr>
          <a:xfrm>
            <a:off x="6601968" y="4087368"/>
            <a:ext cx="4407408"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15">
                <a:solidFill>
                  <a:srgbClr val="5B6577"/>
                </a:solidFill>
                <a:latin typeface="Arial"/>
                <a:ea typeface="Arial"/>
                <a:cs typeface="Arial"/>
                <a:sym typeface="Arial"/>
              </a:rPr>
              <a:t>Both use roughly 60k vs 169k updates.</a:t>
            </a:r>
            <a:endParaRPr/>
          </a:p>
        </p:txBody>
      </p:sp>
      <p:sp>
        <p:nvSpPr>
          <p:cNvPr id="568" name="Google Shape;568;p16"/>
          <p:cNvSpPr/>
          <p:nvPr/>
        </p:nvSpPr>
        <p:spPr>
          <a:xfrm>
            <a:off x="6455664" y="4608576"/>
            <a:ext cx="4736592" cy="987552"/>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9" name="Google Shape;569;p16"/>
          <p:cNvSpPr txBox="1"/>
          <p:nvPr/>
        </p:nvSpPr>
        <p:spPr>
          <a:xfrm>
            <a:off x="6601968" y="4736592"/>
            <a:ext cx="4407408" cy="17373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969">
                <a:solidFill>
                  <a:srgbClr val="D7792D"/>
                </a:solidFill>
                <a:latin typeface="Arial"/>
                <a:ea typeface="Arial"/>
                <a:cs typeface="Arial"/>
                <a:sym typeface="Arial"/>
              </a:rPr>
              <a:t>Controller response depends on dataset</a:t>
            </a:r>
            <a:endParaRPr/>
          </a:p>
        </p:txBody>
      </p:sp>
      <p:sp>
        <p:nvSpPr>
          <p:cNvPr id="570" name="Google Shape;570;p16"/>
          <p:cNvSpPr txBox="1"/>
          <p:nvPr/>
        </p:nvSpPr>
        <p:spPr>
          <a:xfrm>
            <a:off x="6601968" y="4992624"/>
            <a:ext cx="4407408" cy="20116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810">
                <a:solidFill>
                  <a:srgbClr val="172033"/>
                </a:solidFill>
                <a:latin typeface="Arial"/>
                <a:ea typeface="Arial"/>
                <a:cs typeface="Arial"/>
                <a:sym typeface="Arial"/>
              </a:rPr>
              <a:t>E4 starts batch growth after epoch 27 (vs 37).</a:t>
            </a:r>
            <a:endParaRPr/>
          </a:p>
        </p:txBody>
      </p:sp>
      <p:sp>
        <p:nvSpPr>
          <p:cNvPr id="571" name="Google Shape;571;p16"/>
          <p:cNvSpPr txBox="1"/>
          <p:nvPr/>
        </p:nvSpPr>
        <p:spPr>
          <a:xfrm>
            <a:off x="6601968" y="5266944"/>
            <a:ext cx="4407408"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15">
                <a:solidFill>
                  <a:srgbClr val="5B6577"/>
                </a:solidFill>
                <a:latin typeface="Arial"/>
                <a:ea typeface="Arial"/>
                <a:cs typeface="Arial"/>
                <a:sym typeface="Arial"/>
              </a:rPr>
              <a:t>Batch/LR timelines appear in the live demo.</a:t>
            </a:r>
            <a:endParaRPr/>
          </a:p>
        </p:txBody>
      </p:sp>
      <p:sp>
        <p:nvSpPr>
          <p:cNvPr id="572" name="Google Shape;572;p16"/>
          <p:cNvSpPr/>
          <p:nvPr/>
        </p:nvSpPr>
        <p:spPr>
          <a:xfrm>
            <a:off x="758952" y="5650992"/>
            <a:ext cx="10442448" cy="566928"/>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3" name="Google Shape;573;p16"/>
          <p:cNvSpPr txBox="1"/>
          <p:nvPr/>
        </p:nvSpPr>
        <p:spPr>
          <a:xfrm>
            <a:off x="905256" y="5769864"/>
            <a:ext cx="987552" cy="2011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919">
                <a:solidFill>
                  <a:srgbClr val="0F8B8D"/>
                </a:solidFill>
                <a:latin typeface="Arial"/>
                <a:ea typeface="Arial"/>
                <a:cs typeface="Arial"/>
                <a:sym typeface="Arial"/>
              </a:rPr>
              <a:t>LIMITATIONS</a:t>
            </a:r>
            <a:endParaRPr/>
          </a:p>
        </p:txBody>
      </p:sp>
      <p:sp>
        <p:nvSpPr>
          <p:cNvPr id="574" name="Google Shape;574;p16"/>
          <p:cNvSpPr txBox="1"/>
          <p:nvPr/>
        </p:nvSpPr>
        <p:spPr>
          <a:xfrm>
            <a:off x="1965960" y="5751576"/>
            <a:ext cx="8915400" cy="30175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919">
                <a:solidFill>
                  <a:srgbClr val="263145"/>
                </a:solidFill>
                <a:latin typeface="Arial"/>
                <a:ea typeface="Arial"/>
                <a:cs typeface="Arial"/>
                <a:sym typeface="Arial"/>
              </a:rPr>
              <a:t>Single seed (42)  •  Validation-selected  •  Different budgets (80/120 epochs)  •  Test set held out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17"/>
          <p:cNvSpPr txBox="1"/>
          <p:nvPr/>
        </p:nvSpPr>
        <p:spPr>
          <a:xfrm>
            <a:off x="566928" y="347472"/>
            <a:ext cx="10789800" cy="44340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2400">
                <a:solidFill>
                  <a:srgbClr val="172033"/>
                </a:solidFill>
                <a:latin typeface="Play"/>
                <a:ea typeface="Play"/>
                <a:cs typeface="Play"/>
                <a:sym typeface="Play"/>
              </a:rPr>
              <a:t>Future Work</a:t>
            </a:r>
            <a:endParaRPr/>
          </a:p>
        </p:txBody>
      </p:sp>
      <p:sp>
        <p:nvSpPr>
          <p:cNvPr id="581" name="Google Shape;581;p17"/>
          <p:cNvSpPr txBox="1"/>
          <p:nvPr/>
        </p:nvSpPr>
        <p:spPr>
          <a:xfrm>
            <a:off x="566924" y="1355398"/>
            <a:ext cx="10059000" cy="3139800"/>
          </a:xfrm>
          <a:prstGeom prst="rect">
            <a:avLst/>
          </a:prstGeom>
          <a:noFill/>
          <a:ln>
            <a:noFill/>
          </a:ln>
        </p:spPr>
        <p:txBody>
          <a:bodyPr anchorCtr="0" anchor="t" bIns="36575" lIns="36575" spcFirstLastPara="1" rIns="36575" wrap="square" tIns="36575">
            <a:spAutoFit/>
          </a:bodyPr>
          <a:lstStyle/>
          <a:p>
            <a:pPr indent="0" lvl="0" marL="0" rtl="0" algn="l">
              <a:lnSpc>
                <a:spcPct val="115000"/>
              </a:lnSpc>
              <a:spcBef>
                <a:spcPts val="1200"/>
              </a:spcBef>
              <a:spcAft>
                <a:spcPts val="0"/>
              </a:spcAft>
              <a:buClr>
                <a:schemeClr val="dk1"/>
              </a:buClr>
              <a:buSzPts val="1100"/>
              <a:buFont typeface="Arial"/>
              <a:buNone/>
            </a:pPr>
            <a:r>
              <a:rPr lang="en-US" sz="1050">
                <a:solidFill>
                  <a:srgbClr val="5B6577"/>
                </a:solidFill>
              </a:rPr>
              <a:t>1. Optimize Batch-Growth Thresholds</a:t>
            </a:r>
            <a:endParaRPr sz="1050">
              <a:solidFill>
                <a:srgbClr val="5B6577"/>
              </a:solidFill>
            </a:endParaRPr>
          </a:p>
          <a:p>
            <a:pPr indent="0" lvl="0" marL="0" rtl="0" algn="l">
              <a:lnSpc>
                <a:spcPct val="115000"/>
              </a:lnSpc>
              <a:spcBef>
                <a:spcPts val="1200"/>
              </a:spcBef>
              <a:spcAft>
                <a:spcPts val="0"/>
              </a:spcAft>
              <a:buClr>
                <a:schemeClr val="dk1"/>
              </a:buClr>
              <a:buSzPts val="1100"/>
              <a:buFont typeface="Arial"/>
              <a:buNone/>
            </a:pPr>
            <a:r>
              <a:rPr lang="en-US" sz="1050">
                <a:solidFill>
                  <a:srgbClr val="5B6577"/>
                </a:solidFill>
              </a:rPr>
              <a:t>Test different gradient-stability thresholds around the current 0.25 value to identify better batch-growth timing.</a:t>
            </a:r>
            <a:endParaRPr sz="1050">
              <a:solidFill>
                <a:srgbClr val="5B6577"/>
              </a:solidFill>
            </a:endParaRPr>
          </a:p>
          <a:p>
            <a:pPr indent="0" lvl="0" marL="0" rtl="0" algn="l">
              <a:lnSpc>
                <a:spcPct val="115000"/>
              </a:lnSpc>
              <a:spcBef>
                <a:spcPts val="1200"/>
              </a:spcBef>
              <a:spcAft>
                <a:spcPts val="0"/>
              </a:spcAft>
              <a:buClr>
                <a:schemeClr val="dk1"/>
              </a:buClr>
              <a:buSzPts val="1100"/>
              <a:buFont typeface="Arial"/>
              <a:buNone/>
            </a:pPr>
            <a:r>
              <a:rPr lang="en-US" sz="1050">
                <a:solidFill>
                  <a:srgbClr val="5B6577"/>
                </a:solidFill>
              </a:rPr>
              <a:t>2. Improve Joint Controller Coordination</a:t>
            </a:r>
            <a:endParaRPr sz="1050">
              <a:solidFill>
                <a:srgbClr val="5B6577"/>
              </a:solidFill>
            </a:endParaRPr>
          </a:p>
          <a:p>
            <a:pPr indent="0" lvl="0" marL="0" rtl="0" algn="l">
              <a:lnSpc>
                <a:spcPct val="115000"/>
              </a:lnSpc>
              <a:spcBef>
                <a:spcPts val="1200"/>
              </a:spcBef>
              <a:spcAft>
                <a:spcPts val="0"/>
              </a:spcAft>
              <a:buClr>
                <a:schemeClr val="dk1"/>
              </a:buClr>
              <a:buSzPts val="1100"/>
              <a:buFont typeface="Arial"/>
              <a:buNone/>
            </a:pPr>
            <a:r>
              <a:rPr lang="en-US" sz="1050">
                <a:solidFill>
                  <a:srgbClr val="5B6577"/>
                </a:solidFill>
              </a:rPr>
              <a:t>Separate batch-growth and learning-rate cooldowns to investigate why E4 underperformed E2 and E3 on CIFAR-10.</a:t>
            </a:r>
            <a:endParaRPr sz="1050">
              <a:solidFill>
                <a:srgbClr val="5B6577"/>
              </a:solidFill>
            </a:endParaRPr>
          </a:p>
          <a:p>
            <a:pPr indent="0" lvl="0" marL="0" rtl="0" algn="l">
              <a:lnSpc>
                <a:spcPct val="115000"/>
              </a:lnSpc>
              <a:spcBef>
                <a:spcPts val="1200"/>
              </a:spcBef>
              <a:spcAft>
                <a:spcPts val="0"/>
              </a:spcAft>
              <a:buClr>
                <a:schemeClr val="dk1"/>
              </a:buClr>
              <a:buSzPts val="1100"/>
              <a:buFont typeface="Arial"/>
              <a:buNone/>
            </a:pPr>
            <a:r>
              <a:rPr lang="en-US" sz="1050">
                <a:solidFill>
                  <a:srgbClr val="5B6577"/>
                </a:solidFill>
              </a:rPr>
              <a:t>3. Controlled Architecture Comparison</a:t>
            </a:r>
            <a:endParaRPr sz="1050">
              <a:solidFill>
                <a:srgbClr val="5B6577"/>
              </a:solidFill>
            </a:endParaRPr>
          </a:p>
          <a:p>
            <a:pPr indent="0" lvl="0" marL="0" rtl="0" algn="l">
              <a:lnSpc>
                <a:spcPct val="115000"/>
              </a:lnSpc>
              <a:spcBef>
                <a:spcPts val="1200"/>
              </a:spcBef>
              <a:spcAft>
                <a:spcPts val="0"/>
              </a:spcAft>
              <a:buClr>
                <a:schemeClr val="dk1"/>
              </a:buClr>
              <a:buSzPts val="1100"/>
              <a:buFont typeface="Arial"/>
              <a:buNone/>
            </a:pPr>
            <a:r>
              <a:rPr lang="en-US" sz="1050">
                <a:solidFill>
                  <a:srgbClr val="5B6577"/>
                </a:solidFill>
              </a:rPr>
              <a:t>Compare the earlier smaller CNN with the current 12-convolution model using matched training budgets and E1–E4 configurations.</a:t>
            </a:r>
            <a:endParaRPr sz="1050">
              <a:solidFill>
                <a:srgbClr val="5B6577"/>
              </a:solidFill>
            </a:endParaRPr>
          </a:p>
          <a:p>
            <a:pPr indent="0" lvl="0" marL="0" rtl="0" algn="l">
              <a:lnSpc>
                <a:spcPct val="115000"/>
              </a:lnSpc>
              <a:spcBef>
                <a:spcPts val="1200"/>
              </a:spcBef>
              <a:spcAft>
                <a:spcPts val="0"/>
              </a:spcAft>
              <a:buClr>
                <a:schemeClr val="dk1"/>
              </a:buClr>
              <a:buSzPts val="1100"/>
              <a:buFont typeface="Arial"/>
              <a:buNone/>
            </a:pPr>
            <a:r>
              <a:rPr lang="en-US" sz="1050">
                <a:solidFill>
                  <a:srgbClr val="5B6577"/>
                </a:solidFill>
              </a:rPr>
              <a:t>4. Statistical Validation</a:t>
            </a:r>
            <a:endParaRPr sz="1050">
              <a:solidFill>
                <a:srgbClr val="5B6577"/>
              </a:solidFill>
            </a:endParaRPr>
          </a:p>
          <a:p>
            <a:pPr indent="0" lvl="0" marL="0" rtl="0" algn="l">
              <a:lnSpc>
                <a:spcPct val="115000"/>
              </a:lnSpc>
              <a:spcBef>
                <a:spcPts val="1200"/>
              </a:spcBef>
              <a:spcAft>
                <a:spcPts val="0"/>
              </a:spcAft>
              <a:buClr>
                <a:schemeClr val="dk1"/>
              </a:buClr>
              <a:buSzPts val="1100"/>
              <a:buFont typeface="Arial"/>
              <a:buNone/>
            </a:pPr>
            <a:r>
              <a:rPr lang="en-US" sz="1050">
                <a:solidFill>
                  <a:srgbClr val="5B6577"/>
                </a:solidFill>
              </a:rPr>
              <a:t>Repeat experiments across multiple random seeds, report mean ± standard deviation and confidence intervals, and evaluate the final selected models on held-out test data.</a:t>
            </a:r>
            <a:endParaRPr sz="1050">
              <a:solidFill>
                <a:srgbClr val="5B6577"/>
              </a:solidFill>
            </a:endParaRPr>
          </a:p>
          <a:p>
            <a:pPr indent="0" lvl="0" marL="0" marR="0" rtl="0" algn="l">
              <a:spcBef>
                <a:spcPts val="1200"/>
              </a:spcBef>
              <a:spcAft>
                <a:spcPts val="0"/>
              </a:spcAft>
              <a:buNone/>
            </a:pPr>
            <a:r>
              <a:t/>
            </a:r>
            <a:endParaRPr sz="1050">
              <a:solidFill>
                <a:srgbClr val="5B6577"/>
              </a:solidFill>
            </a:endParaRPr>
          </a:p>
        </p:txBody>
      </p:sp>
      <p:sp>
        <p:nvSpPr>
          <p:cNvPr id="582" name="Google Shape;582;p17"/>
          <p:cNvSpPr txBox="1"/>
          <p:nvPr/>
        </p:nvSpPr>
        <p:spPr>
          <a:xfrm>
            <a:off x="11384280" y="6446520"/>
            <a:ext cx="320100" cy="19710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lang="en-US" sz="800">
                <a:solidFill>
                  <a:srgbClr val="5B6577"/>
                </a:solidFill>
                <a:latin typeface="Arial"/>
                <a:ea typeface="Arial"/>
                <a:cs typeface="Arial"/>
                <a:sym typeface="Arial"/>
              </a:rPr>
              <a:t>13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8"/>
          <p:cNvSpPr/>
          <p:nvPr/>
        </p:nvSpPr>
        <p:spPr>
          <a:xfrm>
            <a:off x="0" y="0"/>
            <a:ext cx="12192000" cy="109728"/>
          </a:xfrm>
          <a:prstGeom prst="rect">
            <a:avLst/>
          </a:prstGeom>
          <a:solidFill>
            <a:srgbClr val="0F8B8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9" name="Google Shape;589;p18"/>
          <p:cNvSpPr txBox="1"/>
          <p:nvPr/>
        </p:nvSpPr>
        <p:spPr>
          <a:xfrm>
            <a:off x="566928" y="347472"/>
            <a:ext cx="10789920" cy="4114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2400">
                <a:solidFill>
                  <a:srgbClr val="172033"/>
                </a:solidFill>
                <a:latin typeface="Play"/>
                <a:ea typeface="Play"/>
                <a:cs typeface="Play"/>
                <a:sym typeface="Play"/>
              </a:rPr>
              <a:t>Deployed midterm demo</a:t>
            </a:r>
            <a:endParaRPr/>
          </a:p>
        </p:txBody>
      </p:sp>
      <p:sp>
        <p:nvSpPr>
          <p:cNvPr id="590" name="Google Shape;590;p18"/>
          <p:cNvSpPr txBox="1"/>
          <p:nvPr/>
        </p:nvSpPr>
        <p:spPr>
          <a:xfrm>
            <a:off x="585216" y="832104"/>
            <a:ext cx="10744200" cy="30175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1050">
                <a:solidFill>
                  <a:srgbClr val="5B6577"/>
                </a:solidFill>
                <a:latin typeface="Arial"/>
                <a:ea typeface="Arial"/>
                <a:cs typeface="Arial"/>
                <a:sym typeface="Arial"/>
              </a:rPr>
              <a:t>Public GitHub Pages deployment for the project presentation and Q&amp;A.</a:t>
            </a:r>
            <a:endParaRPr/>
          </a:p>
        </p:txBody>
      </p:sp>
      <p:sp>
        <p:nvSpPr>
          <p:cNvPr id="591" name="Google Shape;591;p18"/>
          <p:cNvSpPr/>
          <p:nvPr/>
        </p:nvSpPr>
        <p:spPr>
          <a:xfrm>
            <a:off x="585216" y="1225296"/>
            <a:ext cx="1508760" cy="256032"/>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2" name="Google Shape;592;p18"/>
          <p:cNvSpPr txBox="1"/>
          <p:nvPr/>
        </p:nvSpPr>
        <p:spPr>
          <a:xfrm>
            <a:off x="667512" y="1271016"/>
            <a:ext cx="1335024" cy="12801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750">
                <a:solidFill>
                  <a:srgbClr val="0F8B8D"/>
                </a:solidFill>
                <a:latin typeface="Arial"/>
                <a:ea typeface="Arial"/>
                <a:cs typeface="Arial"/>
                <a:sym typeface="Arial"/>
              </a:rPr>
              <a:t>LIVE DEMO</a:t>
            </a:r>
            <a:endParaRPr/>
          </a:p>
        </p:txBody>
      </p:sp>
      <p:sp>
        <p:nvSpPr>
          <p:cNvPr id="593" name="Google Shape;593;p18"/>
          <p:cNvSpPr txBox="1"/>
          <p:nvPr/>
        </p:nvSpPr>
        <p:spPr>
          <a:xfrm>
            <a:off x="11384280" y="6446520"/>
            <a:ext cx="320040" cy="1828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lang="en-US" sz="800">
                <a:solidFill>
                  <a:srgbClr val="5B6577"/>
                </a:solidFill>
                <a:latin typeface="Arial"/>
                <a:ea typeface="Arial"/>
                <a:cs typeface="Arial"/>
                <a:sym typeface="Arial"/>
              </a:rPr>
              <a:t>14</a:t>
            </a:r>
            <a:endParaRPr/>
          </a:p>
        </p:txBody>
      </p:sp>
      <p:sp>
        <p:nvSpPr>
          <p:cNvPr id="594" name="Google Shape;594;p18"/>
          <p:cNvSpPr txBox="1"/>
          <p:nvPr/>
        </p:nvSpPr>
        <p:spPr>
          <a:xfrm>
            <a:off x="502920" y="6446520"/>
            <a:ext cx="3108960" cy="16459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720">
                <a:solidFill>
                  <a:srgbClr val="7B8698"/>
                </a:solidFill>
                <a:latin typeface="Arial"/>
                <a:ea typeface="Arial"/>
                <a:cs typeface="Arial"/>
                <a:sym typeface="Arial"/>
              </a:rPr>
              <a:t>Adaptive Batch Size + Learning Rate • Midterm</a:t>
            </a:r>
            <a:endParaRPr/>
          </a:p>
        </p:txBody>
      </p:sp>
      <p:sp>
        <p:nvSpPr>
          <p:cNvPr id="595" name="Google Shape;595;p18"/>
          <p:cNvSpPr/>
          <p:nvPr/>
        </p:nvSpPr>
        <p:spPr>
          <a:xfrm>
            <a:off x="758952" y="1682496"/>
            <a:ext cx="6537960" cy="4407408"/>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6" name="Google Shape;596;p18"/>
          <p:cNvSpPr/>
          <p:nvPr/>
        </p:nvSpPr>
        <p:spPr>
          <a:xfrm>
            <a:off x="987552" y="1938528"/>
            <a:ext cx="6080760" cy="411480"/>
          </a:xfrm>
          <a:prstGeom prst="roundRect">
            <a:avLst>
              <a:gd fmla="val 8000" name="adj"/>
            </a:avLst>
          </a:prstGeom>
          <a:solidFill>
            <a:srgbClr val="F4F7FA"/>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7" name="Google Shape;597;p18"/>
          <p:cNvSpPr txBox="1"/>
          <p:nvPr/>
        </p:nvSpPr>
        <p:spPr>
          <a:xfrm>
            <a:off x="1115568" y="2039112"/>
            <a:ext cx="685800" cy="14630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860">
                <a:solidFill>
                  <a:srgbClr val="9BA5B5"/>
                </a:solidFill>
                <a:latin typeface="Arial"/>
                <a:ea typeface="Arial"/>
                <a:cs typeface="Arial"/>
                <a:sym typeface="Arial"/>
              </a:rPr>
              <a:t>●   ●   ●</a:t>
            </a:r>
            <a:endParaRPr/>
          </a:p>
        </p:txBody>
      </p:sp>
      <p:sp>
        <p:nvSpPr>
          <p:cNvPr id="598" name="Google Shape;598;p18"/>
          <p:cNvSpPr/>
          <p:nvPr/>
        </p:nvSpPr>
        <p:spPr>
          <a:xfrm>
            <a:off x="1874519" y="2002536"/>
            <a:ext cx="4919472" cy="256032"/>
          </a:xfrm>
          <a:prstGeom prst="roundRect">
            <a:avLst>
              <a:gd fmla="val 8000" name="adj"/>
            </a:avLst>
          </a:prstGeom>
          <a:solidFill>
            <a:srgbClr val="FFFFFF"/>
          </a:solidFill>
          <a:ln cap="flat" cmpd="sng" w="12700">
            <a:solidFill>
              <a:srgbClr val="D8E0E8"/>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9" name="Google Shape;599;p18"/>
          <p:cNvSpPr txBox="1"/>
          <p:nvPr/>
        </p:nvSpPr>
        <p:spPr>
          <a:xfrm>
            <a:off x="1984248" y="2048256"/>
            <a:ext cx="4681728" cy="137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740" u="sng">
                <a:solidFill>
                  <a:schemeClr val="hlink"/>
                </a:solidFill>
                <a:latin typeface="Arial"/>
                <a:ea typeface="Arial"/>
                <a:cs typeface="Arial"/>
                <a:sym typeface="Arial"/>
                <a:hlinkClick r:id="rId3"/>
              </a:rPr>
              <a:t>https://tharunswaminathan.github.io/adaptive-batch-lr-cifar10/</a:t>
            </a:r>
            <a:endParaRPr/>
          </a:p>
        </p:txBody>
      </p:sp>
      <p:sp>
        <p:nvSpPr>
          <p:cNvPr id="600" name="Google Shape;600;p18"/>
          <p:cNvSpPr txBox="1"/>
          <p:nvPr/>
        </p:nvSpPr>
        <p:spPr>
          <a:xfrm>
            <a:off x="1115568" y="2670048"/>
            <a:ext cx="5788152" cy="32004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1800">
                <a:solidFill>
                  <a:srgbClr val="172033"/>
                </a:solidFill>
                <a:latin typeface="Play"/>
                <a:ea typeface="Play"/>
                <a:cs typeface="Play"/>
                <a:sym typeface="Play"/>
              </a:rPr>
              <a:t>Adaptive Batch Size + Learning Rate</a:t>
            </a:r>
            <a:endParaRPr/>
          </a:p>
        </p:txBody>
      </p:sp>
      <p:sp>
        <p:nvSpPr>
          <p:cNvPr id="601" name="Google Shape;601;p18"/>
          <p:cNvSpPr txBox="1"/>
          <p:nvPr/>
        </p:nvSpPr>
        <p:spPr>
          <a:xfrm>
            <a:off x="1115568" y="3081528"/>
            <a:ext cx="5788152" cy="25603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1100">
                <a:solidFill>
                  <a:srgbClr val="0F8B8D"/>
                </a:solidFill>
                <a:latin typeface="Arial"/>
                <a:ea typeface="Arial"/>
                <a:cs typeface="Arial"/>
                <a:sym typeface="Arial"/>
              </a:rPr>
              <a:t>Midterm project demo</a:t>
            </a:r>
            <a:endParaRPr/>
          </a:p>
        </p:txBody>
      </p:sp>
      <p:sp>
        <p:nvSpPr>
          <p:cNvPr id="602" name="Google Shape;602;p18"/>
          <p:cNvSpPr/>
          <p:nvPr/>
        </p:nvSpPr>
        <p:spPr>
          <a:xfrm>
            <a:off x="1234440" y="3703320"/>
            <a:ext cx="5468112" cy="1344168"/>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3" name="Google Shape;603;p18"/>
          <p:cNvSpPr txBox="1"/>
          <p:nvPr/>
        </p:nvSpPr>
        <p:spPr>
          <a:xfrm>
            <a:off x="1508760" y="3968496"/>
            <a:ext cx="4919472" cy="585216"/>
          </a:xfrm>
          <a:prstGeom prst="rect">
            <a:avLst/>
          </a:prstGeom>
          <a:noFill/>
          <a:ln>
            <a:noFill/>
          </a:ln>
        </p:spPr>
        <p:txBody>
          <a:bodyPr anchorCtr="0" anchor="ctr" bIns="36575" lIns="36575" spcFirstLastPara="1" rIns="36575" wrap="square" tIns="36575">
            <a:spAutoFit/>
          </a:bodyPr>
          <a:lstStyle/>
          <a:p>
            <a:pPr indent="0" lvl="0" marL="0" marR="0" rtl="0" algn="ctr">
              <a:spcBef>
                <a:spcPts val="0"/>
              </a:spcBef>
              <a:spcAft>
                <a:spcPts val="0"/>
              </a:spcAft>
              <a:buNone/>
            </a:pPr>
            <a:r>
              <a:rPr b="0" lang="en-US" sz="1000">
                <a:solidFill>
                  <a:srgbClr val="172033"/>
                </a:solidFill>
                <a:latin typeface="Arial"/>
                <a:ea typeface="Arial"/>
                <a:cs typeface="Arial"/>
                <a:sym typeface="Arial"/>
              </a:rPr>
              <a:t>Open during the presentation to show the deployed project page.</a:t>
            </a:r>
            <a:br>
              <a:rPr b="0" lang="en-US" sz="1000">
                <a:solidFill>
                  <a:srgbClr val="172033"/>
                </a:solidFill>
                <a:latin typeface="Arial"/>
                <a:ea typeface="Arial"/>
                <a:cs typeface="Arial"/>
                <a:sym typeface="Arial"/>
              </a:rPr>
            </a:br>
            <a:r>
              <a:rPr b="0" lang="en-US" sz="1000">
                <a:solidFill>
                  <a:srgbClr val="172033"/>
                </a:solidFill>
                <a:latin typeface="Arial"/>
                <a:ea typeface="Arial"/>
                <a:cs typeface="Arial"/>
                <a:sym typeface="Arial"/>
              </a:rPr>
              <a:t>The link is clickable in PowerPoint and the QR code can be scanned from the screen.</a:t>
            </a:r>
            <a:endParaRPr/>
          </a:p>
        </p:txBody>
      </p:sp>
      <p:sp>
        <p:nvSpPr>
          <p:cNvPr id="604" name="Google Shape;604;p18"/>
          <p:cNvSpPr txBox="1"/>
          <p:nvPr/>
        </p:nvSpPr>
        <p:spPr>
          <a:xfrm>
            <a:off x="1920240" y="5230368"/>
            <a:ext cx="4096512" cy="201168"/>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00">
                <a:solidFill>
                  <a:srgbClr val="5B6577"/>
                </a:solidFill>
                <a:latin typeface="Arial"/>
                <a:ea typeface="Arial"/>
                <a:cs typeface="Arial"/>
                <a:sym typeface="Arial"/>
              </a:rPr>
              <a:t>GitHub Pages deployment</a:t>
            </a:r>
            <a:endParaRPr/>
          </a:p>
        </p:txBody>
      </p:sp>
      <p:sp>
        <p:nvSpPr>
          <p:cNvPr id="605" name="Google Shape;605;p18"/>
          <p:cNvSpPr/>
          <p:nvPr/>
        </p:nvSpPr>
        <p:spPr>
          <a:xfrm>
            <a:off x="7662672" y="1682496"/>
            <a:ext cx="3703320" cy="4407408"/>
          </a:xfrm>
          <a:prstGeom prst="roundRect">
            <a:avLst>
              <a:gd fmla="val 8000" name="adj"/>
            </a:avLst>
          </a:prstGeom>
          <a:solidFill>
            <a:srgbClr val="EEF4FA"/>
          </a:solidFill>
          <a:ln cap="flat" cmpd="sng" w="12700">
            <a:solidFill>
              <a:srgbClr val="EEF4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6" name="Google Shape;606;p18"/>
          <p:cNvSpPr txBox="1"/>
          <p:nvPr/>
        </p:nvSpPr>
        <p:spPr>
          <a:xfrm>
            <a:off x="8138160" y="1993392"/>
            <a:ext cx="2743200" cy="201168"/>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1100">
                <a:solidFill>
                  <a:srgbClr val="315A8A"/>
                </a:solidFill>
                <a:latin typeface="Arial"/>
                <a:ea typeface="Arial"/>
                <a:cs typeface="Arial"/>
                <a:sym typeface="Arial"/>
              </a:rPr>
              <a:t>SCAN TO OPEN</a:t>
            </a:r>
            <a:endParaRPr/>
          </a:p>
        </p:txBody>
      </p:sp>
      <p:pic>
        <p:nvPicPr>
          <p:cNvPr descr="midterm_demo_qr.png" id="607" name="Google Shape;607;p18"/>
          <p:cNvPicPr preferRelativeResize="0"/>
          <p:nvPr/>
        </p:nvPicPr>
        <p:blipFill rotWithShape="1">
          <a:blip r:embed="rId4">
            <a:alphaModFix/>
          </a:blip>
          <a:srcRect b="0" l="0" r="0" t="0"/>
          <a:stretch/>
        </p:blipFill>
        <p:spPr>
          <a:xfrm>
            <a:off x="8156448" y="2441448"/>
            <a:ext cx="2697480" cy="2697480"/>
          </a:xfrm>
          <a:prstGeom prst="rect">
            <a:avLst/>
          </a:prstGeom>
          <a:noFill/>
          <a:ln>
            <a:noFill/>
          </a:ln>
        </p:spPr>
      </p:pic>
      <p:sp>
        <p:nvSpPr>
          <p:cNvPr id="608" name="Google Shape;608;p18"/>
          <p:cNvSpPr txBox="1"/>
          <p:nvPr/>
        </p:nvSpPr>
        <p:spPr>
          <a:xfrm>
            <a:off x="7927848" y="5285232"/>
            <a:ext cx="3172968" cy="4114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800">
                <a:solidFill>
                  <a:srgbClr val="172033"/>
                </a:solidFill>
                <a:latin typeface="Arial"/>
                <a:ea typeface="Arial"/>
                <a:cs typeface="Arial"/>
                <a:sym typeface="Arial"/>
              </a:rPr>
              <a:t>tharunswaminathan.github.io</a:t>
            </a:r>
            <a:br>
              <a:rPr b="1" lang="en-US" sz="800">
                <a:solidFill>
                  <a:srgbClr val="172033"/>
                </a:solidFill>
                <a:latin typeface="Arial"/>
                <a:ea typeface="Arial"/>
                <a:cs typeface="Arial"/>
                <a:sym typeface="Arial"/>
              </a:rPr>
            </a:br>
            <a:r>
              <a:rPr b="1" lang="en-US" sz="800">
                <a:solidFill>
                  <a:srgbClr val="172033"/>
                </a:solidFill>
                <a:latin typeface="Arial"/>
                <a:ea typeface="Arial"/>
                <a:cs typeface="Arial"/>
                <a:sym typeface="Arial"/>
              </a:rPr>
              <a:t>/adaptive-batch-lr-cifar10/</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9"/>
          <p:cNvSpPr txBox="1"/>
          <p:nvPr/>
        </p:nvSpPr>
        <p:spPr>
          <a:xfrm>
            <a:off x="566928" y="347472"/>
            <a:ext cx="10789920" cy="4114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2400">
                <a:solidFill>
                  <a:srgbClr val="172033"/>
                </a:solidFill>
                <a:latin typeface="Play"/>
                <a:ea typeface="Play"/>
                <a:cs typeface="Play"/>
                <a:sym typeface="Play"/>
              </a:rPr>
              <a:t>References</a:t>
            </a:r>
            <a:endParaRPr/>
          </a:p>
        </p:txBody>
      </p:sp>
      <p:sp>
        <p:nvSpPr>
          <p:cNvPr id="615" name="Google Shape;615;p19"/>
          <p:cNvSpPr txBox="1"/>
          <p:nvPr/>
        </p:nvSpPr>
        <p:spPr>
          <a:xfrm>
            <a:off x="585216" y="832104"/>
            <a:ext cx="10744200" cy="301752"/>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1050">
                <a:solidFill>
                  <a:srgbClr val="5B6577"/>
                </a:solidFill>
                <a:latin typeface="Arial"/>
                <a:ea typeface="Arial"/>
                <a:cs typeface="Arial"/>
                <a:sym typeface="Arial"/>
              </a:rPr>
              <a:t>Core literature used to motivate batch-size, learning-rate, and adaptive-control choices.</a:t>
            </a:r>
            <a:endParaRPr/>
          </a:p>
        </p:txBody>
      </p:sp>
      <p:sp>
        <p:nvSpPr>
          <p:cNvPr id="616" name="Google Shape;616;p19"/>
          <p:cNvSpPr/>
          <p:nvPr/>
        </p:nvSpPr>
        <p:spPr>
          <a:xfrm>
            <a:off x="585216" y="1225296"/>
            <a:ext cx="1417320" cy="256032"/>
          </a:xfrm>
          <a:prstGeom prst="roundRect">
            <a:avLst>
              <a:gd fmla="val 8000" name="adj"/>
            </a:avLst>
          </a:prstGeom>
          <a:solidFill>
            <a:srgbClr val="E8F5F4"/>
          </a:solidFill>
          <a:ln cap="flat" cmpd="sng" w="12700">
            <a:solidFill>
              <a:srgbClr val="E8F5F4"/>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17" name="Google Shape;617;p19"/>
          <p:cNvSpPr txBox="1"/>
          <p:nvPr/>
        </p:nvSpPr>
        <p:spPr>
          <a:xfrm>
            <a:off x="667512" y="1271016"/>
            <a:ext cx="1234440" cy="12801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760">
                <a:solidFill>
                  <a:srgbClr val="0F8B8D"/>
                </a:solidFill>
                <a:latin typeface="Arial"/>
                <a:ea typeface="Arial"/>
                <a:cs typeface="Arial"/>
                <a:sym typeface="Arial"/>
              </a:rPr>
              <a:t>REFERENCES</a:t>
            </a:r>
            <a:endParaRPr/>
          </a:p>
        </p:txBody>
      </p:sp>
      <p:sp>
        <p:nvSpPr>
          <p:cNvPr id="618" name="Google Shape;618;p19"/>
          <p:cNvSpPr txBox="1"/>
          <p:nvPr/>
        </p:nvSpPr>
        <p:spPr>
          <a:xfrm>
            <a:off x="11384280" y="6446520"/>
            <a:ext cx="320040" cy="182880"/>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lang="en-US" sz="800">
                <a:solidFill>
                  <a:srgbClr val="5B6577"/>
                </a:solidFill>
                <a:latin typeface="Arial"/>
                <a:ea typeface="Arial"/>
                <a:cs typeface="Arial"/>
                <a:sym typeface="Arial"/>
              </a:rPr>
              <a:t>15</a:t>
            </a:r>
            <a:endParaRPr/>
          </a:p>
        </p:txBody>
      </p:sp>
      <p:sp>
        <p:nvSpPr>
          <p:cNvPr id="619" name="Google Shape;619;p19"/>
          <p:cNvSpPr/>
          <p:nvPr/>
        </p:nvSpPr>
        <p:spPr>
          <a:xfrm>
            <a:off x="685800" y="1755648"/>
            <a:ext cx="5285232" cy="4224528"/>
          </a:xfrm>
          <a:prstGeom prst="roundRect">
            <a:avLst>
              <a:gd fmla="val 8000" name="adj"/>
            </a:avLst>
          </a:prstGeom>
          <a:solidFill>
            <a:srgbClr val="EEF4FA"/>
          </a:solidFill>
          <a:ln cap="flat" cmpd="sng" w="12700">
            <a:solidFill>
              <a:srgbClr val="EEF4FA"/>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0" name="Google Shape;620;p19"/>
          <p:cNvSpPr/>
          <p:nvPr/>
        </p:nvSpPr>
        <p:spPr>
          <a:xfrm>
            <a:off x="6217920" y="1755648"/>
            <a:ext cx="5285232" cy="4224528"/>
          </a:xfrm>
          <a:prstGeom prst="roundRect">
            <a:avLst>
              <a:gd fmla="val 8000" name="adj"/>
            </a:avLst>
          </a:prstGeom>
          <a:solidFill>
            <a:srgbClr val="FCF4EB"/>
          </a:solidFill>
          <a:ln cap="flat" cmpd="sng" w="12700">
            <a:solidFill>
              <a:srgbClr val="FCF4EB"/>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1" name="Google Shape;621;p19"/>
          <p:cNvSpPr txBox="1"/>
          <p:nvPr/>
        </p:nvSpPr>
        <p:spPr>
          <a:xfrm>
            <a:off x="896112" y="1947672"/>
            <a:ext cx="4389120" cy="21945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200">
                <a:solidFill>
                  <a:srgbClr val="315A8A"/>
                </a:solidFill>
                <a:latin typeface="Arial"/>
                <a:ea typeface="Arial"/>
                <a:cs typeface="Arial"/>
                <a:sym typeface="Arial"/>
              </a:rPr>
              <a:t>Generalization &amp; scaling</a:t>
            </a:r>
            <a:endParaRPr/>
          </a:p>
        </p:txBody>
      </p:sp>
      <p:sp>
        <p:nvSpPr>
          <p:cNvPr id="622" name="Google Shape;622;p19"/>
          <p:cNvSpPr txBox="1"/>
          <p:nvPr/>
        </p:nvSpPr>
        <p:spPr>
          <a:xfrm>
            <a:off x="6437376" y="1947672"/>
            <a:ext cx="4572000" cy="219456"/>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1" lang="en-US" sz="1200">
                <a:solidFill>
                  <a:srgbClr val="D7792D"/>
                </a:solidFill>
                <a:latin typeface="Arial"/>
                <a:ea typeface="Arial"/>
                <a:cs typeface="Arial"/>
                <a:sym typeface="Arial"/>
              </a:rPr>
              <a:t>Adaptive &amp; workload-aware training</a:t>
            </a:r>
            <a:endParaRPr/>
          </a:p>
        </p:txBody>
      </p:sp>
      <p:sp>
        <p:nvSpPr>
          <p:cNvPr id="623" name="Google Shape;623;p19"/>
          <p:cNvSpPr txBox="1"/>
          <p:nvPr/>
        </p:nvSpPr>
        <p:spPr>
          <a:xfrm>
            <a:off x="914400" y="2432304"/>
            <a:ext cx="292608" cy="25603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00">
                <a:solidFill>
                  <a:srgbClr val="315A8A"/>
                </a:solidFill>
                <a:latin typeface="Arial"/>
                <a:ea typeface="Arial"/>
                <a:cs typeface="Arial"/>
                <a:sym typeface="Arial"/>
              </a:rPr>
              <a:t>1</a:t>
            </a:r>
            <a:endParaRPr/>
          </a:p>
        </p:txBody>
      </p:sp>
      <p:sp>
        <p:nvSpPr>
          <p:cNvPr id="624" name="Google Shape;624;p19"/>
          <p:cNvSpPr txBox="1"/>
          <p:nvPr/>
        </p:nvSpPr>
        <p:spPr>
          <a:xfrm>
            <a:off x="1298448" y="2377440"/>
            <a:ext cx="4279392" cy="47548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919">
                <a:solidFill>
                  <a:srgbClr val="172033"/>
                </a:solidFill>
                <a:latin typeface="Arial"/>
                <a:ea typeface="Arial"/>
                <a:cs typeface="Arial"/>
                <a:sym typeface="Arial"/>
              </a:rPr>
              <a:t>Keskar et al. (2017) — On Large-Batch Training for Deep Learning.</a:t>
            </a:r>
            <a:endParaRPr/>
          </a:p>
        </p:txBody>
      </p:sp>
      <p:sp>
        <p:nvSpPr>
          <p:cNvPr id="625" name="Google Shape;625;p19"/>
          <p:cNvSpPr txBox="1"/>
          <p:nvPr/>
        </p:nvSpPr>
        <p:spPr>
          <a:xfrm>
            <a:off x="914400" y="3172968"/>
            <a:ext cx="292608" cy="25603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00">
                <a:solidFill>
                  <a:srgbClr val="315A8A"/>
                </a:solidFill>
                <a:latin typeface="Arial"/>
                <a:ea typeface="Arial"/>
                <a:cs typeface="Arial"/>
                <a:sym typeface="Arial"/>
              </a:rPr>
              <a:t>2</a:t>
            </a:r>
            <a:endParaRPr/>
          </a:p>
        </p:txBody>
      </p:sp>
      <p:sp>
        <p:nvSpPr>
          <p:cNvPr id="626" name="Google Shape;626;p19"/>
          <p:cNvSpPr txBox="1"/>
          <p:nvPr/>
        </p:nvSpPr>
        <p:spPr>
          <a:xfrm>
            <a:off x="1298448" y="3118104"/>
            <a:ext cx="4279392" cy="47548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919">
                <a:solidFill>
                  <a:srgbClr val="172033"/>
                </a:solidFill>
                <a:latin typeface="Arial"/>
                <a:ea typeface="Arial"/>
                <a:cs typeface="Arial"/>
                <a:sym typeface="Arial"/>
              </a:rPr>
              <a:t>Hoffer, Hubara &amp; Soudry (2017) — Train Longer, Generalize Better.</a:t>
            </a:r>
            <a:endParaRPr/>
          </a:p>
        </p:txBody>
      </p:sp>
      <p:sp>
        <p:nvSpPr>
          <p:cNvPr id="627" name="Google Shape;627;p19"/>
          <p:cNvSpPr txBox="1"/>
          <p:nvPr/>
        </p:nvSpPr>
        <p:spPr>
          <a:xfrm>
            <a:off x="914400" y="3913632"/>
            <a:ext cx="292608" cy="25603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00">
                <a:solidFill>
                  <a:srgbClr val="315A8A"/>
                </a:solidFill>
                <a:latin typeface="Arial"/>
                <a:ea typeface="Arial"/>
                <a:cs typeface="Arial"/>
                <a:sym typeface="Arial"/>
              </a:rPr>
              <a:t>3</a:t>
            </a:r>
            <a:endParaRPr/>
          </a:p>
        </p:txBody>
      </p:sp>
      <p:sp>
        <p:nvSpPr>
          <p:cNvPr id="628" name="Google Shape;628;p19"/>
          <p:cNvSpPr txBox="1"/>
          <p:nvPr/>
        </p:nvSpPr>
        <p:spPr>
          <a:xfrm>
            <a:off x="1298448" y="3858768"/>
            <a:ext cx="4279392" cy="47548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919">
                <a:solidFill>
                  <a:srgbClr val="172033"/>
                </a:solidFill>
                <a:latin typeface="Arial"/>
                <a:ea typeface="Arial"/>
                <a:cs typeface="Arial"/>
                <a:sym typeface="Arial"/>
              </a:rPr>
              <a:t>Goyal et al. (2017/2018) — Accurate, Large Minibatch SGD.</a:t>
            </a:r>
            <a:endParaRPr/>
          </a:p>
        </p:txBody>
      </p:sp>
      <p:sp>
        <p:nvSpPr>
          <p:cNvPr id="629" name="Google Shape;629;p19"/>
          <p:cNvSpPr txBox="1"/>
          <p:nvPr/>
        </p:nvSpPr>
        <p:spPr>
          <a:xfrm>
            <a:off x="914400" y="4654296"/>
            <a:ext cx="292608" cy="25603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00">
                <a:solidFill>
                  <a:srgbClr val="315A8A"/>
                </a:solidFill>
                <a:latin typeface="Arial"/>
                <a:ea typeface="Arial"/>
                <a:cs typeface="Arial"/>
                <a:sym typeface="Arial"/>
              </a:rPr>
              <a:t>4</a:t>
            </a:r>
            <a:endParaRPr/>
          </a:p>
        </p:txBody>
      </p:sp>
      <p:sp>
        <p:nvSpPr>
          <p:cNvPr id="630" name="Google Shape;630;p19"/>
          <p:cNvSpPr txBox="1"/>
          <p:nvPr/>
        </p:nvSpPr>
        <p:spPr>
          <a:xfrm>
            <a:off x="1298448" y="4599432"/>
            <a:ext cx="4279392" cy="47548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919">
                <a:solidFill>
                  <a:srgbClr val="172033"/>
                </a:solidFill>
                <a:latin typeface="Arial"/>
                <a:ea typeface="Arial"/>
                <a:cs typeface="Arial"/>
                <a:sym typeface="Arial"/>
              </a:rPr>
              <a:t>Smith et al. (2018) — Don’t Decay the Learning Rate, Increase the Batch Size.</a:t>
            </a:r>
            <a:endParaRPr/>
          </a:p>
        </p:txBody>
      </p:sp>
      <p:sp>
        <p:nvSpPr>
          <p:cNvPr id="631" name="Google Shape;631;p19"/>
          <p:cNvSpPr txBox="1"/>
          <p:nvPr/>
        </p:nvSpPr>
        <p:spPr>
          <a:xfrm>
            <a:off x="6455664" y="2432304"/>
            <a:ext cx="292608" cy="25603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00">
                <a:solidFill>
                  <a:srgbClr val="D7792D"/>
                </a:solidFill>
                <a:latin typeface="Arial"/>
                <a:ea typeface="Arial"/>
                <a:cs typeface="Arial"/>
                <a:sym typeface="Arial"/>
              </a:rPr>
              <a:t>5</a:t>
            </a:r>
            <a:endParaRPr/>
          </a:p>
        </p:txBody>
      </p:sp>
      <p:sp>
        <p:nvSpPr>
          <p:cNvPr id="632" name="Google Shape;632;p19"/>
          <p:cNvSpPr txBox="1"/>
          <p:nvPr/>
        </p:nvSpPr>
        <p:spPr>
          <a:xfrm>
            <a:off x="6839712" y="2377440"/>
            <a:ext cx="4279392" cy="47548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919">
                <a:solidFill>
                  <a:srgbClr val="172033"/>
                </a:solidFill>
                <a:latin typeface="Arial"/>
                <a:ea typeface="Arial"/>
                <a:cs typeface="Arial"/>
                <a:sym typeface="Arial"/>
              </a:rPr>
              <a:t>Devarakonda, Naumov &amp; Garland (2018) — AdaBatch.</a:t>
            </a:r>
            <a:endParaRPr/>
          </a:p>
        </p:txBody>
      </p:sp>
      <p:sp>
        <p:nvSpPr>
          <p:cNvPr id="633" name="Google Shape;633;p19"/>
          <p:cNvSpPr txBox="1"/>
          <p:nvPr/>
        </p:nvSpPr>
        <p:spPr>
          <a:xfrm>
            <a:off x="6455664" y="3172968"/>
            <a:ext cx="292608" cy="25603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00">
                <a:solidFill>
                  <a:srgbClr val="D7792D"/>
                </a:solidFill>
                <a:latin typeface="Arial"/>
                <a:ea typeface="Arial"/>
                <a:cs typeface="Arial"/>
                <a:sym typeface="Arial"/>
              </a:rPr>
              <a:t>6</a:t>
            </a:r>
            <a:endParaRPr/>
          </a:p>
        </p:txBody>
      </p:sp>
      <p:sp>
        <p:nvSpPr>
          <p:cNvPr id="634" name="Google Shape;634;p19"/>
          <p:cNvSpPr txBox="1"/>
          <p:nvPr/>
        </p:nvSpPr>
        <p:spPr>
          <a:xfrm>
            <a:off x="6839712" y="3118104"/>
            <a:ext cx="4279392" cy="47548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919">
                <a:solidFill>
                  <a:srgbClr val="172033"/>
                </a:solidFill>
                <a:latin typeface="Arial"/>
                <a:ea typeface="Arial"/>
                <a:cs typeface="Arial"/>
                <a:sym typeface="Arial"/>
              </a:rPr>
              <a:t>Masters &amp; Luschi (2018) — Revisiting Small Batch Training.</a:t>
            </a:r>
            <a:endParaRPr/>
          </a:p>
        </p:txBody>
      </p:sp>
      <p:sp>
        <p:nvSpPr>
          <p:cNvPr id="635" name="Google Shape;635;p19"/>
          <p:cNvSpPr txBox="1"/>
          <p:nvPr/>
        </p:nvSpPr>
        <p:spPr>
          <a:xfrm>
            <a:off x="6455664" y="3913632"/>
            <a:ext cx="292608" cy="25603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00">
                <a:solidFill>
                  <a:srgbClr val="D7792D"/>
                </a:solidFill>
                <a:latin typeface="Arial"/>
                <a:ea typeface="Arial"/>
                <a:cs typeface="Arial"/>
                <a:sym typeface="Arial"/>
              </a:rPr>
              <a:t>7</a:t>
            </a:r>
            <a:endParaRPr/>
          </a:p>
        </p:txBody>
      </p:sp>
      <p:sp>
        <p:nvSpPr>
          <p:cNvPr id="636" name="Google Shape;636;p19"/>
          <p:cNvSpPr txBox="1"/>
          <p:nvPr/>
        </p:nvSpPr>
        <p:spPr>
          <a:xfrm>
            <a:off x="6839712" y="3858768"/>
            <a:ext cx="4279392" cy="47548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919">
                <a:solidFill>
                  <a:srgbClr val="172033"/>
                </a:solidFill>
                <a:latin typeface="Arial"/>
                <a:ea typeface="Arial"/>
                <a:cs typeface="Arial"/>
                <a:sym typeface="Arial"/>
              </a:rPr>
              <a:t>McCandlish et al. (2018) — An Empirical Model of Large-Batch Training.</a:t>
            </a:r>
            <a:endParaRPr/>
          </a:p>
        </p:txBody>
      </p:sp>
      <p:sp>
        <p:nvSpPr>
          <p:cNvPr id="637" name="Google Shape;637;p19"/>
          <p:cNvSpPr txBox="1"/>
          <p:nvPr/>
        </p:nvSpPr>
        <p:spPr>
          <a:xfrm>
            <a:off x="6455664" y="4654296"/>
            <a:ext cx="292608" cy="256032"/>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1" lang="en-US" sz="900">
                <a:solidFill>
                  <a:srgbClr val="D7792D"/>
                </a:solidFill>
                <a:latin typeface="Arial"/>
                <a:ea typeface="Arial"/>
                <a:cs typeface="Arial"/>
                <a:sym typeface="Arial"/>
              </a:rPr>
              <a:t>8</a:t>
            </a:r>
            <a:endParaRPr/>
          </a:p>
        </p:txBody>
      </p:sp>
      <p:sp>
        <p:nvSpPr>
          <p:cNvPr id="638" name="Google Shape;638;p19"/>
          <p:cNvSpPr txBox="1"/>
          <p:nvPr/>
        </p:nvSpPr>
        <p:spPr>
          <a:xfrm>
            <a:off x="6839712" y="4599432"/>
            <a:ext cx="4279392" cy="475488"/>
          </a:xfrm>
          <a:prstGeom prst="rect">
            <a:avLst/>
          </a:prstGeom>
          <a:noFill/>
          <a:ln>
            <a:noFill/>
          </a:ln>
        </p:spPr>
        <p:txBody>
          <a:bodyPr anchorCtr="0" anchor="t" bIns="36575" lIns="36575" spcFirstLastPara="1" rIns="36575" wrap="square" tIns="36575">
            <a:spAutoFit/>
          </a:bodyPr>
          <a:lstStyle/>
          <a:p>
            <a:pPr indent="0" lvl="0" marL="0" marR="0" rtl="0" algn="l">
              <a:spcBef>
                <a:spcPts val="0"/>
              </a:spcBef>
              <a:spcAft>
                <a:spcPts val="0"/>
              </a:spcAft>
              <a:buNone/>
            </a:pPr>
            <a:r>
              <a:rPr b="0" lang="en-US" sz="919">
                <a:solidFill>
                  <a:srgbClr val="172033"/>
                </a:solidFill>
                <a:latin typeface="Arial"/>
                <a:ea typeface="Arial"/>
                <a:cs typeface="Arial"/>
                <a:sym typeface="Arial"/>
              </a:rPr>
              <a:t>Shallue et al. (2019) — Measuring the Effects of Data Parallelism.</a:t>
            </a:r>
            <a:endParaRPr/>
          </a:p>
        </p:txBody>
      </p:sp>
      <p:sp>
        <p:nvSpPr>
          <p:cNvPr id="639" name="Google Shape;639;p19"/>
          <p:cNvSpPr txBox="1"/>
          <p:nvPr/>
        </p:nvSpPr>
        <p:spPr>
          <a:xfrm>
            <a:off x="914400" y="6126480"/>
            <a:ext cx="10332720" cy="182880"/>
          </a:xfrm>
          <a:prstGeom prst="rect">
            <a:avLst/>
          </a:prstGeom>
          <a:noFill/>
          <a:ln>
            <a:noFill/>
          </a:ln>
        </p:spPr>
        <p:txBody>
          <a:bodyPr anchorCtr="0" anchor="t" bIns="36575" lIns="36575" spcFirstLastPara="1" rIns="36575" wrap="square" tIns="36575">
            <a:spAutoFit/>
          </a:bodyPr>
          <a:lstStyle/>
          <a:p>
            <a:pPr indent="0" lvl="0" marL="0" marR="0" rtl="0" algn="ctr">
              <a:spcBef>
                <a:spcPts val="0"/>
              </a:spcBef>
              <a:spcAft>
                <a:spcPts val="0"/>
              </a:spcAft>
              <a:buNone/>
            </a:pPr>
            <a:r>
              <a:rPr b="0" lang="en-US" sz="840">
                <a:solidFill>
                  <a:srgbClr val="5B6577"/>
                </a:solidFill>
                <a:latin typeface="Arial"/>
                <a:ea typeface="Arial"/>
                <a:cs typeface="Arial"/>
                <a:sym typeface="Arial"/>
              </a:rPr>
              <a:t>These papers motivate both CIFAR-10 and CIFAR-100 experiments; dataset-specific results are kept separate rather than pooled.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